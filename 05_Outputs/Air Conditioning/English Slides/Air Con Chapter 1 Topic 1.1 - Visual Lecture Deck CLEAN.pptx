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1.1 | Air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Definition, Purpose,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occupied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Cooling alone is not air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Start with the misconception and correct it visually.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Air conditioning controls the indoor environment, not only air temperature.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Core idea: cooling is only one part of air conditioning.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Four parameters must be controlled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Use the 2×2 visual as the core definition.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Temperature — dry-bulb target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Humidity — relative humidity / latent load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Air circulation — air movement and distribution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Air cleanliness — filtration and contaminant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If one control fails, the whole environment can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A good temperature reading does not guarantee a good indoor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Example: 25 °C but high humidity can still feel sticky.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Example: clean temperature control but poor ventilation can allow CO₂ or VOCs to accumulate.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Purpose changes the design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Comfort AC and process AC use the same variables for different 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Comfort AC: goal = human thermal comfort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Process AC: goal = product, material, or process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Comfort AC supports the body’s heat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Use the human body as the “sensor” for comfort air conditioning.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Convection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Radiation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Conduction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Process AC may target conditions humans would not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Let the product/process define the control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Textile mill: higher humidity to reduce static and thread breakage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Paper storage: lower humidity to prevent deformation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Seed storage: low temperature and humidity to preserve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Equipment sizing is a peak-load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Capacity must match the maximum heat gain rate during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Air conditioners are sized for the maximum expected load, not the average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Office peak load often occurs after solar 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Stored heat and internal gains shift the maximum into mid-afternoon.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Solar gain + envelope thermal lag + occupants + lighting + equipment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Typical office peak: around 15:00–16:00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Nightclub peak load is driven by people and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A building with little solar gain can peak at night.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Peak may occur around 21:00–22:00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Dominant loads: occupants, lighting, latent heat, and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A building survey turns assumptions into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The survey is the first engineering step before load calculation.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Survey = measure + collect + verify project data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Good survey data reduce over-sizing, under-sizing, and design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What must be surveyed?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Organize inputs into external and internal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External data: location, orientation, solar exposure, surrounding shading, outdoor unit location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Internal data: room size, occupancy, lighting, equipment, ventilation, operating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This course focuses on cooling-mode AC in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Scope the textbook/course so students know what is included and excluded.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Thailand context: high outdoor temperature + high humidity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Main needs: cooling and dehumidification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Heating and humidification are outside the main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Pause question: which parameter controls the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3"/>
                </a:solidFill>
                <a:latin typeface="Aptos"/>
              </a:rPr>
              <a:t>Use this as an interactive slide before summarizing.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A classroom is 25 °C but students feel sticky. Which parameter is likely the problem?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Answer: humidity and/or air movement.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1374B"/>
                </a:solidFill>
                <a:latin typeface="Aptos Display"/>
              </a:rPr>
              <a:t>Topic 1.1 — what students should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AC = simultaneous control of temperature + humidity + circulation + cleanliness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Comfort AC is for humans; process AC is for materials or production.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Building survey provides the inputs for load calculation and system selection.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828C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