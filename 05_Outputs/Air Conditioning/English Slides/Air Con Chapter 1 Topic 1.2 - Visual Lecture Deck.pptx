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with the load curve. Tell students that HVAC sizing is not based on average comfort; it is based on whether the system can keep up at the worst operating hour. The red dot is the design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Explain the room as a control volume. Heat enters from several sources. The AC system must remove heat at the same or higher rate. If not, temperature rises. This is the core of peak load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Walk along the curve. Heat gain changes throughout the day. The design task is to find the highest total simultaneous load during normal operation. Explain that this is why the next chapters calculate loads hour by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Keep this slide conceptual. The total load is not one thing; it is a sum of families. External load comes through the building skin, internal load is generated by use, and ventilation/infiltration bring hot humid outdoor air into the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Tell the story of stored heat. The sun does not instantly become room load. Walls and roofs absorb energy and release it later. This explains why peak load can happen after solar 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Point to the timeline. In an office, by mid-afternoon the west-facing glass, delayed envelope heat, and accumulated internal gains combine. That simultaneous overlap gives the design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Contrast with the office slide. A nightclub has no solar load at peak, but has high occupant density, activity, and lighting. This is why the engineer cannot use one standard peak hour for all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Spend a little more time here because this is practically important. Undersized systems are obvious at peak. Oversized systems are less intuitive: they may meet temperature but fail humidity because coils do not run long enough to remove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Use this as the transition from concept to method. The workflow begins with survey data, then design weather, then heat gain components hour by hour. The equipment is selected only after the maximum total is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Use these as oral questions. Do not answer immediately. Let students connect the concepts: thermal lag, short cycling, occupant/lighting latent load, and survey data. Close by saying the next step is learning how to collect reliable load-calculation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320040" y="6510528"/>
            <a:ext cx="11567160" cy="0"/>
          </a:xfrm>
          <a:prstGeom prst="line">
            <a:avLst/>
          </a:prstGeom>
          <a:noFill/>
          <a:ln w="12700">
            <a:solidFill>
              <a:srgbClr val="D8D0C6"/>
            </a:solidFill>
            <a:prstDash val="solid"/>
          </a:ln>
        </p:spPr>
      </p:sp>
      <p:sp>
        <p:nvSpPr>
          <p:cNvPr id="3" name="Text 1"/>
          <p:cNvSpPr/>
          <p:nvPr/>
        </p:nvSpPr>
        <p:spPr>
          <a:xfrm>
            <a:off x="411480" y="6556248"/>
            <a:ext cx="5303520" cy="164592"/>
          </a:xfrm>
          <a:prstGeom prst="rect">
            <a:avLst/>
          </a:prstGeom>
          <a:noFill/>
          <a:ln/>
        </p:spPr>
        <p:txBody>
          <a:bodyPr wrap="square" lIns="0" tIns="0" rIns="0" bIns="0" rtlCol="0" anchor="ctr"/>
          <a:lstStyle/>
          <a:p>
            <a:pPr indent="0" marL="0">
              <a:buNone/>
            </a:pPr>
            <a:r>
              <a:rPr lang="en-US" sz="650" dirty="0">
                <a:solidFill>
                  <a:srgbClr val="6B6B6B"/>
                </a:solidFill>
                <a:latin typeface="Aptos" pitchFamily="34" charset="0"/>
                <a:ea typeface="Aptos" pitchFamily="34" charset="-122"/>
                <a:cs typeface="Aptos" pitchFamily="34" charset="-120"/>
              </a:rPr>
              <a:t>Air Conditioning Engineering · Topic 1.2</a:t>
            </a:r>
            <a:endParaRPr lang="en-US" sz="650" dirty="0"/>
          </a:p>
        </p:txBody>
      </p:sp>
      <p:sp>
        <p:nvSpPr>
          <p:cNvPr id="4" name="Text 2"/>
          <p:cNvSpPr/>
          <p:nvPr/>
        </p:nvSpPr>
        <p:spPr>
          <a:xfrm>
            <a:off x="9235440" y="6556248"/>
            <a:ext cx="2560320" cy="164592"/>
          </a:xfrm>
          <a:prstGeom prst="rect">
            <a:avLst/>
          </a:prstGeom>
          <a:noFill/>
          <a:ln/>
        </p:spPr>
        <p:txBody>
          <a:bodyPr wrap="square" lIns="0" tIns="0" rIns="0" bIns="0" rtlCol="0" anchor="ctr"/>
          <a:lstStyle/>
          <a:p>
            <a:pPr algn="r" indent="0" marL="0">
              <a:buNone/>
            </a:pPr>
            <a:r>
              <a:rPr lang="en-US" sz="650" dirty="0">
                <a:solidFill>
                  <a:srgbClr val="6B6B6B"/>
                </a:solidFill>
                <a:latin typeface="Aptos" pitchFamily="34" charset="0"/>
                <a:ea typeface="Aptos" pitchFamily="34" charset="-122"/>
                <a:cs typeface="Aptos" pitchFamily="34" charset="-120"/>
              </a:rPr>
              <a:t>Visual lecture deck · ~15 min</a:t>
            </a:r>
            <a:endParaRPr lang="en-US" sz="6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2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3"/>
          </a:solidFill>
          <a:ln w="12700">
            <a:solidFill>
              <a:srgbClr val="153243"/>
            </a:solidFill>
            <a:prstDash val="solid"/>
          </a:ln>
        </p:spPr>
      </p:sp>
      <p:sp>
        <p:nvSpPr>
          <p:cNvPr id="3" name="Shape 1"/>
          <p:cNvSpPr/>
          <p:nvPr/>
        </p:nvSpPr>
        <p:spPr>
          <a:xfrm>
            <a:off x="6400800" y="4160520"/>
            <a:ext cx="4297680" cy="0"/>
          </a:xfrm>
          <a:prstGeom prst="line">
            <a:avLst/>
          </a:prstGeom>
          <a:noFill/>
          <a:ln w="12700">
            <a:solidFill>
              <a:srgbClr val="59656F"/>
            </a:solidFill>
            <a:prstDash val="solid"/>
            <a:tailEnd type="triangle"/>
          </a:ln>
        </p:spPr>
      </p:sp>
      <p:sp>
        <p:nvSpPr>
          <p:cNvPr id="4" name="Shape 2"/>
          <p:cNvSpPr/>
          <p:nvPr/>
        </p:nvSpPr>
        <p:spPr>
          <a:xfrm>
            <a:off x="6400800" y="4160520"/>
            <a:ext cx="0" cy="-2926080"/>
          </a:xfrm>
          <a:prstGeom prst="line">
            <a:avLst/>
          </a:prstGeom>
          <a:noFill/>
          <a:ln w="12700">
            <a:solidFill>
              <a:srgbClr val="59656F"/>
            </a:solidFill>
            <a:prstDash val="solid"/>
            <a:tailEnd type="triangle"/>
          </a:ln>
        </p:spPr>
      </p:sp>
      <p:sp>
        <p:nvSpPr>
          <p:cNvPr id="5" name="Shape 3"/>
          <p:cNvSpPr/>
          <p:nvPr/>
        </p:nvSpPr>
        <p:spPr>
          <a:xfrm>
            <a:off x="6537960" y="3977640"/>
            <a:ext cx="548640" cy="-228600"/>
          </a:xfrm>
          <a:prstGeom prst="line">
            <a:avLst/>
          </a:prstGeom>
          <a:noFill/>
          <a:ln w="12700">
            <a:solidFill>
              <a:srgbClr val="E76F51"/>
            </a:solidFill>
            <a:prstDash val="solid"/>
          </a:ln>
        </p:spPr>
      </p:sp>
      <p:sp>
        <p:nvSpPr>
          <p:cNvPr id="6" name="Shape 4"/>
          <p:cNvSpPr/>
          <p:nvPr/>
        </p:nvSpPr>
        <p:spPr>
          <a:xfrm>
            <a:off x="7086600" y="3749040"/>
            <a:ext cx="548640" cy="-502920"/>
          </a:xfrm>
          <a:prstGeom prst="line">
            <a:avLst/>
          </a:prstGeom>
          <a:noFill/>
          <a:ln w="12700">
            <a:solidFill>
              <a:srgbClr val="E76F51"/>
            </a:solidFill>
            <a:prstDash val="solid"/>
          </a:ln>
        </p:spPr>
      </p:sp>
      <p:sp>
        <p:nvSpPr>
          <p:cNvPr id="7" name="Shape 5"/>
          <p:cNvSpPr/>
          <p:nvPr/>
        </p:nvSpPr>
        <p:spPr>
          <a:xfrm>
            <a:off x="7635240" y="3246120"/>
            <a:ext cx="548640" cy="-685800"/>
          </a:xfrm>
          <a:prstGeom prst="line">
            <a:avLst/>
          </a:prstGeom>
          <a:noFill/>
          <a:ln w="12700">
            <a:solidFill>
              <a:srgbClr val="E76F51"/>
            </a:solidFill>
            <a:prstDash val="solid"/>
          </a:ln>
        </p:spPr>
      </p:sp>
      <p:sp>
        <p:nvSpPr>
          <p:cNvPr id="8" name="Shape 6"/>
          <p:cNvSpPr/>
          <p:nvPr/>
        </p:nvSpPr>
        <p:spPr>
          <a:xfrm>
            <a:off x="8183880" y="2560320"/>
            <a:ext cx="548640" cy="-640080"/>
          </a:xfrm>
          <a:prstGeom prst="line">
            <a:avLst/>
          </a:prstGeom>
          <a:noFill/>
          <a:ln w="12700">
            <a:solidFill>
              <a:srgbClr val="E76F51"/>
            </a:solidFill>
            <a:prstDash val="solid"/>
          </a:ln>
        </p:spPr>
      </p:sp>
      <p:sp>
        <p:nvSpPr>
          <p:cNvPr id="9" name="Shape 7"/>
          <p:cNvSpPr/>
          <p:nvPr/>
        </p:nvSpPr>
        <p:spPr>
          <a:xfrm>
            <a:off x="8732520" y="1920240"/>
            <a:ext cx="502920" cy="-182880"/>
          </a:xfrm>
          <a:prstGeom prst="line">
            <a:avLst/>
          </a:prstGeom>
          <a:noFill/>
          <a:ln w="12700">
            <a:solidFill>
              <a:srgbClr val="E76F51"/>
            </a:solidFill>
            <a:prstDash val="solid"/>
          </a:ln>
        </p:spPr>
      </p:sp>
      <p:sp>
        <p:nvSpPr>
          <p:cNvPr id="10" name="Shape 8"/>
          <p:cNvSpPr/>
          <p:nvPr/>
        </p:nvSpPr>
        <p:spPr>
          <a:xfrm>
            <a:off x="9235440" y="1737360"/>
            <a:ext cx="640080" cy="320040"/>
          </a:xfrm>
          <a:prstGeom prst="line">
            <a:avLst/>
          </a:prstGeom>
          <a:noFill/>
          <a:ln w="12700">
            <a:solidFill>
              <a:srgbClr val="E76F51"/>
            </a:solidFill>
            <a:prstDash val="solid"/>
          </a:ln>
        </p:spPr>
      </p:sp>
      <p:sp>
        <p:nvSpPr>
          <p:cNvPr id="11" name="Shape 9"/>
          <p:cNvSpPr/>
          <p:nvPr/>
        </p:nvSpPr>
        <p:spPr>
          <a:xfrm>
            <a:off x="9875520" y="2057400"/>
            <a:ext cx="594360" cy="731520"/>
          </a:xfrm>
          <a:prstGeom prst="line">
            <a:avLst/>
          </a:prstGeom>
          <a:noFill/>
          <a:ln w="12700">
            <a:solidFill>
              <a:srgbClr val="E76F51"/>
            </a:solidFill>
            <a:prstDash val="solid"/>
          </a:ln>
        </p:spPr>
      </p:sp>
      <p:sp>
        <p:nvSpPr>
          <p:cNvPr id="12" name="Shape 10"/>
          <p:cNvSpPr/>
          <p:nvPr/>
        </p:nvSpPr>
        <p:spPr>
          <a:xfrm>
            <a:off x="9098280" y="1600200"/>
            <a:ext cx="256032" cy="256032"/>
          </a:xfrm>
          <a:prstGeom prst="ellipse">
            <a:avLst/>
          </a:prstGeom>
          <a:solidFill>
            <a:srgbClr val="C44536"/>
          </a:solidFill>
          <a:ln w="12700">
            <a:solidFill>
              <a:srgbClr val="C44536"/>
            </a:solidFill>
            <a:prstDash val="solid"/>
          </a:ln>
        </p:spPr>
      </p:sp>
      <p:sp>
        <p:nvSpPr>
          <p:cNvPr id="13" name="Text 11"/>
          <p:cNvSpPr/>
          <p:nvPr/>
        </p:nvSpPr>
        <p:spPr>
          <a:xfrm>
            <a:off x="9345168" y="1508760"/>
            <a:ext cx="640080" cy="137160"/>
          </a:xfrm>
          <a:prstGeom prst="rect">
            <a:avLst/>
          </a:prstGeom>
          <a:noFill/>
          <a:ln/>
        </p:spPr>
        <p:txBody>
          <a:bodyPr wrap="square" lIns="0" tIns="0" rIns="0" bIns="0" rtlCol="0" anchor="ctr"/>
          <a:lstStyle/>
          <a:p>
            <a:pPr indent="0" marL="0">
              <a:buNone/>
            </a:pPr>
            <a:r>
              <a:rPr lang="en-US" sz="1000" b="1" dirty="0">
                <a:solidFill>
                  <a:srgbClr val="F2C14E"/>
                </a:solidFill>
              </a:rPr>
              <a:t>peak</a:t>
            </a:r>
            <a:endParaRPr lang="en-US" sz="1000" dirty="0"/>
          </a:p>
        </p:txBody>
      </p:sp>
      <p:sp>
        <p:nvSpPr>
          <p:cNvPr id="14" name="Text 12"/>
          <p:cNvSpPr/>
          <p:nvPr/>
        </p:nvSpPr>
        <p:spPr>
          <a:xfrm>
            <a:off x="685800" y="685800"/>
            <a:ext cx="1005840" cy="320040"/>
          </a:xfrm>
          <a:prstGeom prst="rect">
            <a:avLst/>
          </a:prstGeom>
          <a:noFill/>
          <a:ln/>
        </p:spPr>
        <p:txBody>
          <a:bodyPr wrap="square" lIns="0" tIns="0" rIns="0" bIns="0" rtlCol="0" anchor="ctr"/>
          <a:lstStyle/>
          <a:p>
            <a:pPr indent="0" marL="0">
              <a:buNone/>
            </a:pPr>
            <a:r>
              <a:rPr lang="en-US" sz="1700" b="1" dirty="0">
                <a:solidFill>
                  <a:srgbClr val="6BBF9B"/>
                </a:solidFill>
              </a:rPr>
              <a:t>1.2</a:t>
            </a:r>
            <a:endParaRPr lang="en-US" sz="1700" dirty="0"/>
          </a:p>
        </p:txBody>
      </p:sp>
      <p:sp>
        <p:nvSpPr>
          <p:cNvPr id="15" name="Text 13"/>
          <p:cNvSpPr/>
          <p:nvPr/>
        </p:nvSpPr>
        <p:spPr>
          <a:xfrm>
            <a:off x="685800" y="1143000"/>
            <a:ext cx="5486400" cy="594360"/>
          </a:xfrm>
          <a:prstGeom prst="rect">
            <a:avLst/>
          </a:prstGeom>
          <a:noFill/>
          <a:ln/>
        </p:spPr>
        <p:txBody>
          <a:bodyPr wrap="square" lIns="0" tIns="0" rIns="0" bIns="0" rtlCol="0" anchor="ctr"/>
          <a:lstStyle/>
          <a:p>
            <a:pPr indent="0" marL="0">
              <a:buNone/>
            </a:pPr>
            <a:r>
              <a:rPr lang="en-US" sz="3400" b="1" dirty="0">
                <a:solidFill>
                  <a:srgbClr val="FFFFFF"/>
                </a:solidFill>
              </a:rPr>
              <a:t>Peak Cooling Load</a:t>
            </a:r>
            <a:endParaRPr lang="en-US" sz="3400" dirty="0"/>
          </a:p>
        </p:txBody>
      </p:sp>
      <p:sp>
        <p:nvSpPr>
          <p:cNvPr id="16" name="Text 14"/>
          <p:cNvSpPr/>
          <p:nvPr/>
        </p:nvSpPr>
        <p:spPr>
          <a:xfrm>
            <a:off x="704088" y="1874520"/>
            <a:ext cx="5303520" cy="347472"/>
          </a:xfrm>
          <a:prstGeom prst="rect">
            <a:avLst/>
          </a:prstGeom>
          <a:noFill/>
          <a:ln/>
        </p:spPr>
        <p:txBody>
          <a:bodyPr wrap="square" lIns="0" tIns="0" rIns="0" bIns="0" rtlCol="0" anchor="ctr"/>
          <a:lstStyle/>
          <a:p>
            <a:pPr indent="0" marL="0">
              <a:buNone/>
            </a:pPr>
            <a:r>
              <a:rPr lang="en-US" sz="1700" dirty="0">
                <a:solidFill>
                  <a:srgbClr val="DDECF0"/>
                </a:solidFill>
              </a:rPr>
              <a:t>Concept and Design Basis</a:t>
            </a:r>
            <a:endParaRPr lang="en-US" sz="1700" dirty="0"/>
          </a:p>
        </p:txBody>
      </p:sp>
      <p:sp>
        <p:nvSpPr>
          <p:cNvPr id="17" name="Shape 15"/>
          <p:cNvSpPr/>
          <p:nvPr/>
        </p:nvSpPr>
        <p:spPr>
          <a:xfrm>
            <a:off x="713232" y="2761488"/>
            <a:ext cx="3794760" cy="475488"/>
          </a:xfrm>
          <a:prstGeom prst="roundRect">
            <a:avLst>
              <a:gd name="adj" fmla="val 15385"/>
            </a:avLst>
          </a:prstGeom>
          <a:solidFill>
            <a:srgbClr val="E76F51"/>
          </a:solidFill>
          <a:ln w="12700">
            <a:solidFill>
              <a:srgbClr val="E76F51"/>
            </a:solidFill>
            <a:prstDash val="solid"/>
          </a:ln>
        </p:spPr>
      </p:sp>
      <p:sp>
        <p:nvSpPr>
          <p:cNvPr id="18" name="Text 16"/>
          <p:cNvSpPr/>
          <p:nvPr/>
        </p:nvSpPr>
        <p:spPr>
          <a:xfrm>
            <a:off x="896112" y="2907792"/>
            <a:ext cx="3429000" cy="137160"/>
          </a:xfrm>
          <a:prstGeom prst="rect">
            <a:avLst/>
          </a:prstGeom>
          <a:noFill/>
          <a:ln/>
        </p:spPr>
        <p:txBody>
          <a:bodyPr wrap="square" lIns="0" tIns="0" rIns="0" bIns="0" rtlCol="0" anchor="ctr"/>
          <a:lstStyle/>
          <a:p>
            <a:pPr indent="0" marL="0">
              <a:buNone/>
            </a:pPr>
            <a:r>
              <a:rPr lang="en-US" sz="1100" b="1" dirty="0">
                <a:solidFill>
                  <a:srgbClr val="FFFFFF"/>
                </a:solidFill>
              </a:rPr>
              <a:t>Visual lecture deck · ~15 minutes</a:t>
            </a:r>
            <a:endParaRPr lang="en-US" sz="1100" dirty="0"/>
          </a:p>
        </p:txBody>
      </p:sp>
      <p:sp>
        <p:nvSpPr>
          <p:cNvPr id="19" name="Text 17"/>
          <p:cNvSpPr/>
          <p:nvPr/>
        </p:nvSpPr>
        <p:spPr>
          <a:xfrm>
            <a:off x="713232" y="3886200"/>
            <a:ext cx="5029200" cy="640080"/>
          </a:xfrm>
          <a:prstGeom prst="rect">
            <a:avLst/>
          </a:prstGeom>
          <a:noFill/>
          <a:ln/>
        </p:spPr>
        <p:txBody>
          <a:bodyPr wrap="square" lIns="0" tIns="0" rIns="0" bIns="0" rtlCol="0" anchor="ctr">
            <a:normAutofit/>
          </a:bodyPr>
          <a:lstStyle/>
          <a:p>
            <a:pPr indent="0" marL="0">
              <a:buNone/>
            </a:pPr>
            <a:r>
              <a:rPr lang="en-US" sz="1600" b="1" dirty="0">
                <a:solidFill>
                  <a:srgbClr val="FFFFFF"/>
                </a:solidFill>
              </a:rPr>
              <a:t>Big idea: design capacity follows the worst simultaneous heat gain — not the average hour.</a:t>
            </a:r>
            <a:endParaRPr lang="en-US" sz="16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A room warms up when heat enters faster than the system removes it</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Use a simple balance: heat gain versus cooling capacity.</a:t>
            </a:r>
            <a:endParaRPr lang="en-US" sz="950" dirty="0"/>
          </a:p>
        </p:txBody>
      </p:sp>
      <p:sp>
        <p:nvSpPr>
          <p:cNvPr id="4" name="Shape 2"/>
          <p:cNvSpPr/>
          <p:nvPr/>
        </p:nvSpPr>
        <p:spPr>
          <a:xfrm>
            <a:off x="914400" y="1417320"/>
            <a:ext cx="4114800" cy="3200400"/>
          </a:xfrm>
          <a:prstGeom prst="roundRect">
            <a:avLst>
              <a:gd name="adj" fmla="val 4286"/>
            </a:avLst>
          </a:prstGeom>
          <a:solidFill>
            <a:srgbClr val="DDECF0"/>
          </a:solidFill>
          <a:ln w="12700">
            <a:solidFill>
              <a:srgbClr val="4A90A4"/>
            </a:solidFill>
            <a:prstDash val="solid"/>
          </a:ln>
        </p:spPr>
      </p:sp>
      <p:sp>
        <p:nvSpPr>
          <p:cNvPr id="5" name="Text 3"/>
          <p:cNvSpPr/>
          <p:nvPr/>
        </p:nvSpPr>
        <p:spPr>
          <a:xfrm>
            <a:off x="1828800" y="2606040"/>
            <a:ext cx="2286000" cy="237744"/>
          </a:xfrm>
          <a:prstGeom prst="rect">
            <a:avLst/>
          </a:prstGeom>
          <a:noFill/>
          <a:ln/>
        </p:spPr>
        <p:txBody>
          <a:bodyPr wrap="square" lIns="0" tIns="0" rIns="0" bIns="0" rtlCol="0" anchor="ctr"/>
          <a:lstStyle/>
          <a:p>
            <a:pPr algn="ctr" indent="0" marL="0">
              <a:buNone/>
            </a:pPr>
            <a:r>
              <a:rPr lang="en-US" sz="1900" b="1" dirty="0">
                <a:solidFill>
                  <a:srgbClr val="153243"/>
                </a:solidFill>
              </a:rPr>
              <a:t>conditioned space</a:t>
            </a:r>
            <a:endParaRPr lang="en-US" sz="1900" dirty="0"/>
          </a:p>
        </p:txBody>
      </p:sp>
      <p:sp>
        <p:nvSpPr>
          <p:cNvPr id="6" name="Shape 4"/>
          <p:cNvSpPr/>
          <p:nvPr/>
        </p:nvSpPr>
        <p:spPr>
          <a:xfrm>
            <a:off x="640080" y="2788920"/>
            <a:ext cx="960120" cy="0"/>
          </a:xfrm>
          <a:prstGeom prst="line">
            <a:avLst/>
          </a:prstGeom>
          <a:noFill/>
          <a:ln w="12700">
            <a:solidFill>
              <a:srgbClr val="E76F51"/>
            </a:solidFill>
            <a:prstDash val="solid"/>
            <a:headEnd type="none"/>
            <a:tailEnd type="triangle"/>
          </a:ln>
        </p:spPr>
      </p:sp>
      <p:sp>
        <p:nvSpPr>
          <p:cNvPr id="7" name="Text 5"/>
          <p:cNvSpPr/>
          <p:nvPr/>
        </p:nvSpPr>
        <p:spPr>
          <a:xfrm>
            <a:off x="594360" y="2423160"/>
            <a:ext cx="1005840" cy="146304"/>
          </a:xfrm>
          <a:prstGeom prst="rect">
            <a:avLst/>
          </a:prstGeom>
          <a:noFill/>
          <a:ln/>
        </p:spPr>
        <p:txBody>
          <a:bodyPr wrap="square" lIns="0" tIns="0" rIns="0" bIns="0" rtlCol="0" anchor="ctr"/>
          <a:lstStyle/>
          <a:p>
            <a:pPr algn="ctr" indent="0" marL="0">
              <a:buNone/>
            </a:pPr>
            <a:r>
              <a:rPr lang="en-US" sz="1000" b="1" dirty="0">
                <a:solidFill>
                  <a:srgbClr val="E76F51"/>
                </a:solidFill>
              </a:rPr>
              <a:t>heat gain</a:t>
            </a:r>
            <a:endParaRPr lang="en-US" sz="1000" dirty="0"/>
          </a:p>
        </p:txBody>
      </p:sp>
      <p:sp>
        <p:nvSpPr>
          <p:cNvPr id="8" name="Shape 6"/>
          <p:cNvSpPr/>
          <p:nvPr/>
        </p:nvSpPr>
        <p:spPr>
          <a:xfrm>
            <a:off x="4892040" y="2788920"/>
            <a:ext cx="1234440" cy="0"/>
          </a:xfrm>
          <a:prstGeom prst="line">
            <a:avLst/>
          </a:prstGeom>
          <a:noFill/>
          <a:ln w="12700">
            <a:solidFill>
              <a:srgbClr val="4A90A4"/>
            </a:solidFill>
            <a:prstDash val="solid"/>
            <a:headEnd type="none"/>
            <a:tailEnd type="triangle"/>
          </a:ln>
        </p:spPr>
      </p:sp>
      <p:sp>
        <p:nvSpPr>
          <p:cNvPr id="9" name="Text 7"/>
          <p:cNvSpPr/>
          <p:nvPr/>
        </p:nvSpPr>
        <p:spPr>
          <a:xfrm>
            <a:off x="4983480" y="2423160"/>
            <a:ext cx="1325880" cy="146304"/>
          </a:xfrm>
          <a:prstGeom prst="rect">
            <a:avLst/>
          </a:prstGeom>
          <a:noFill/>
          <a:ln/>
        </p:spPr>
        <p:txBody>
          <a:bodyPr wrap="square" lIns="0" tIns="0" rIns="0" bIns="0" rtlCol="0" anchor="ctr"/>
          <a:lstStyle/>
          <a:p>
            <a:pPr algn="ctr" indent="0" marL="0">
              <a:buNone/>
            </a:pPr>
            <a:r>
              <a:rPr lang="en-US" sz="1000" b="1" dirty="0">
                <a:solidFill>
                  <a:srgbClr val="4A90A4"/>
                </a:solidFill>
              </a:rPr>
              <a:t>cooling removal</a:t>
            </a:r>
            <a:endParaRPr lang="en-US" sz="1000" dirty="0"/>
          </a:p>
        </p:txBody>
      </p:sp>
      <p:sp>
        <p:nvSpPr>
          <p:cNvPr id="10" name="Shape 8"/>
          <p:cNvSpPr/>
          <p:nvPr/>
        </p:nvSpPr>
        <p:spPr>
          <a:xfrm>
            <a:off x="6629400" y="1600200"/>
            <a:ext cx="4114800" cy="2697480"/>
          </a:xfrm>
          <a:prstGeom prst="roundRect">
            <a:avLst>
              <a:gd name="adj" fmla="val 4068"/>
            </a:avLst>
          </a:prstGeom>
          <a:solidFill>
            <a:srgbClr val="FFFFFF"/>
          </a:solidFill>
          <a:ln w="12700">
            <a:solidFill>
              <a:srgbClr val="D8D0C6"/>
            </a:solidFill>
            <a:prstDash val="solid"/>
          </a:ln>
        </p:spPr>
      </p:sp>
      <p:sp>
        <p:nvSpPr>
          <p:cNvPr id="11" name="Text 9"/>
          <p:cNvSpPr/>
          <p:nvPr/>
        </p:nvSpPr>
        <p:spPr>
          <a:xfrm>
            <a:off x="6949440" y="1901952"/>
            <a:ext cx="1554480" cy="219456"/>
          </a:xfrm>
          <a:prstGeom prst="rect">
            <a:avLst/>
          </a:prstGeom>
          <a:noFill/>
          <a:ln/>
        </p:spPr>
        <p:txBody>
          <a:bodyPr wrap="square" lIns="0" tIns="0" rIns="0" bIns="0" rtlCol="0" anchor="ctr"/>
          <a:lstStyle/>
          <a:p>
            <a:pPr indent="0" marL="0">
              <a:buNone/>
            </a:pPr>
            <a:r>
              <a:rPr lang="en-US" sz="1800" b="1" dirty="0">
                <a:solidFill>
                  <a:srgbClr val="153243"/>
                </a:solidFill>
              </a:rPr>
              <a:t>Design rule</a:t>
            </a:r>
            <a:endParaRPr lang="en-US" sz="1800" dirty="0"/>
          </a:p>
        </p:txBody>
      </p:sp>
      <p:sp>
        <p:nvSpPr>
          <p:cNvPr id="12" name="Text 10"/>
          <p:cNvSpPr/>
          <p:nvPr/>
        </p:nvSpPr>
        <p:spPr>
          <a:xfrm>
            <a:off x="6995160" y="2514600"/>
            <a:ext cx="3383280" cy="310896"/>
          </a:xfrm>
          <a:prstGeom prst="rect">
            <a:avLst/>
          </a:prstGeom>
          <a:noFill/>
          <a:ln/>
        </p:spPr>
        <p:txBody>
          <a:bodyPr wrap="square" lIns="0" tIns="0" rIns="0" bIns="0" rtlCol="0" anchor="ctr">
            <a:normAutofit/>
          </a:bodyPr>
          <a:lstStyle/>
          <a:p>
            <a:pPr algn="ctr" indent="0" marL="0">
              <a:buNone/>
            </a:pPr>
            <a:r>
              <a:rPr lang="en-US" sz="2200" b="1" dirty="0">
                <a:solidFill>
                  <a:srgbClr val="C44536"/>
                </a:solidFill>
              </a:rPr>
              <a:t>Cooling capacity ≥ peak heat gain</a:t>
            </a:r>
            <a:endParaRPr lang="en-US" sz="2200" dirty="0"/>
          </a:p>
        </p:txBody>
      </p:sp>
      <p:sp>
        <p:nvSpPr>
          <p:cNvPr id="13" name="Text 11"/>
          <p:cNvSpPr/>
          <p:nvPr/>
        </p:nvSpPr>
        <p:spPr>
          <a:xfrm>
            <a:off x="6995160" y="3246120"/>
            <a:ext cx="3337560" cy="384048"/>
          </a:xfrm>
          <a:prstGeom prst="rect">
            <a:avLst/>
          </a:prstGeom>
          <a:noFill/>
          <a:ln/>
        </p:spPr>
        <p:txBody>
          <a:bodyPr wrap="square" lIns="0" tIns="0" rIns="0" bIns="0" rtlCol="0" anchor="ctr">
            <a:normAutofit/>
          </a:bodyPr>
          <a:lstStyle/>
          <a:p>
            <a:pPr algn="ctr" indent="0" marL="0">
              <a:buNone/>
            </a:pPr>
            <a:r>
              <a:rPr lang="en-US" sz="1300" dirty="0">
                <a:solidFill>
                  <a:srgbClr val="17212B"/>
                </a:solidFill>
              </a:rPr>
              <a:t>If this is true at peak, every lower-load hour is automatically covered.</a:t>
            </a:r>
            <a:endParaRPr lang="en-US" sz="13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Peak cooling load is the maximum simultaneous heat gain</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A daily profile converts a moving problem into one design hour.</a:t>
            </a:r>
            <a:endParaRPr lang="en-US" sz="950" dirty="0"/>
          </a:p>
        </p:txBody>
      </p:sp>
      <p:sp>
        <p:nvSpPr>
          <p:cNvPr id="4" name="Shape 2"/>
          <p:cNvSpPr/>
          <p:nvPr/>
        </p:nvSpPr>
        <p:spPr>
          <a:xfrm>
            <a:off x="777240" y="1143000"/>
            <a:ext cx="6675120" cy="4069080"/>
          </a:xfrm>
          <a:prstGeom prst="rect">
            <a:avLst/>
          </a:prstGeom>
          <a:solidFill>
            <a:srgbClr val="FFFFFF"/>
          </a:solidFill>
          <a:ln w="12700">
            <a:solidFill>
              <a:srgbClr val="D8D0C6"/>
            </a:solidFill>
            <a:prstDash val="solid"/>
          </a:ln>
        </p:spPr>
      </p:sp>
      <p:sp>
        <p:nvSpPr>
          <p:cNvPr id="5" name="Shape 3"/>
          <p:cNvSpPr/>
          <p:nvPr/>
        </p:nvSpPr>
        <p:spPr>
          <a:xfrm>
            <a:off x="1234440" y="4663440"/>
            <a:ext cx="5715000" cy="0"/>
          </a:xfrm>
          <a:prstGeom prst="line">
            <a:avLst/>
          </a:prstGeom>
          <a:noFill/>
          <a:ln w="12700">
            <a:solidFill>
              <a:srgbClr val="59656F"/>
            </a:solidFill>
            <a:prstDash val="solid"/>
            <a:tailEnd type="triangle"/>
          </a:ln>
        </p:spPr>
      </p:sp>
      <p:sp>
        <p:nvSpPr>
          <p:cNvPr id="6" name="Shape 4"/>
          <p:cNvSpPr/>
          <p:nvPr/>
        </p:nvSpPr>
        <p:spPr>
          <a:xfrm>
            <a:off x="1234440" y="4663440"/>
            <a:ext cx="0" cy="-3154680"/>
          </a:xfrm>
          <a:prstGeom prst="line">
            <a:avLst/>
          </a:prstGeom>
          <a:noFill/>
          <a:ln w="12700">
            <a:solidFill>
              <a:srgbClr val="59656F"/>
            </a:solidFill>
            <a:prstDash val="solid"/>
            <a:tailEnd type="triangle"/>
          </a:ln>
        </p:spPr>
      </p:sp>
      <p:sp>
        <p:nvSpPr>
          <p:cNvPr id="7" name="Shape 5"/>
          <p:cNvSpPr/>
          <p:nvPr/>
        </p:nvSpPr>
        <p:spPr>
          <a:xfrm>
            <a:off x="1325880" y="4407408"/>
            <a:ext cx="594360" cy="-246888"/>
          </a:xfrm>
          <a:prstGeom prst="line">
            <a:avLst/>
          </a:prstGeom>
          <a:noFill/>
          <a:ln w="12700">
            <a:solidFill>
              <a:srgbClr val="E76F51"/>
            </a:solidFill>
            <a:prstDash val="solid"/>
          </a:ln>
        </p:spPr>
      </p:sp>
      <p:sp>
        <p:nvSpPr>
          <p:cNvPr id="8" name="Shape 6"/>
          <p:cNvSpPr/>
          <p:nvPr/>
        </p:nvSpPr>
        <p:spPr>
          <a:xfrm>
            <a:off x="1920240" y="4160520"/>
            <a:ext cx="640080" cy="-502920"/>
          </a:xfrm>
          <a:prstGeom prst="line">
            <a:avLst/>
          </a:prstGeom>
          <a:noFill/>
          <a:ln w="12700">
            <a:solidFill>
              <a:srgbClr val="E76F51"/>
            </a:solidFill>
            <a:prstDash val="solid"/>
          </a:ln>
        </p:spPr>
      </p:sp>
      <p:sp>
        <p:nvSpPr>
          <p:cNvPr id="9" name="Shape 7"/>
          <p:cNvSpPr/>
          <p:nvPr/>
        </p:nvSpPr>
        <p:spPr>
          <a:xfrm>
            <a:off x="2560320" y="3657600"/>
            <a:ext cx="685800" cy="-685800"/>
          </a:xfrm>
          <a:prstGeom prst="line">
            <a:avLst/>
          </a:prstGeom>
          <a:noFill/>
          <a:ln w="12700">
            <a:solidFill>
              <a:srgbClr val="E76F51"/>
            </a:solidFill>
            <a:prstDash val="solid"/>
          </a:ln>
        </p:spPr>
      </p:sp>
      <p:sp>
        <p:nvSpPr>
          <p:cNvPr id="10" name="Shape 8"/>
          <p:cNvSpPr/>
          <p:nvPr/>
        </p:nvSpPr>
        <p:spPr>
          <a:xfrm>
            <a:off x="3246120" y="2971800"/>
            <a:ext cx="640080" cy="-731520"/>
          </a:xfrm>
          <a:prstGeom prst="line">
            <a:avLst/>
          </a:prstGeom>
          <a:noFill/>
          <a:ln w="12700">
            <a:solidFill>
              <a:srgbClr val="E76F51"/>
            </a:solidFill>
            <a:prstDash val="solid"/>
          </a:ln>
        </p:spPr>
      </p:sp>
      <p:sp>
        <p:nvSpPr>
          <p:cNvPr id="11" name="Shape 9"/>
          <p:cNvSpPr/>
          <p:nvPr/>
        </p:nvSpPr>
        <p:spPr>
          <a:xfrm>
            <a:off x="3886200" y="2240280"/>
            <a:ext cx="640080" cy="-411480"/>
          </a:xfrm>
          <a:prstGeom prst="line">
            <a:avLst/>
          </a:prstGeom>
          <a:noFill/>
          <a:ln w="12700">
            <a:solidFill>
              <a:srgbClr val="E76F51"/>
            </a:solidFill>
            <a:prstDash val="solid"/>
          </a:ln>
        </p:spPr>
      </p:sp>
      <p:sp>
        <p:nvSpPr>
          <p:cNvPr id="12" name="Shape 10"/>
          <p:cNvSpPr/>
          <p:nvPr/>
        </p:nvSpPr>
        <p:spPr>
          <a:xfrm>
            <a:off x="4526280" y="1828800"/>
            <a:ext cx="640080" cy="182880"/>
          </a:xfrm>
          <a:prstGeom prst="line">
            <a:avLst/>
          </a:prstGeom>
          <a:noFill/>
          <a:ln w="12700">
            <a:solidFill>
              <a:srgbClr val="E76F51"/>
            </a:solidFill>
            <a:prstDash val="solid"/>
          </a:ln>
        </p:spPr>
      </p:sp>
      <p:sp>
        <p:nvSpPr>
          <p:cNvPr id="13" name="Shape 11"/>
          <p:cNvSpPr/>
          <p:nvPr/>
        </p:nvSpPr>
        <p:spPr>
          <a:xfrm>
            <a:off x="5166360" y="2011680"/>
            <a:ext cx="640080" cy="822960"/>
          </a:xfrm>
          <a:prstGeom prst="line">
            <a:avLst/>
          </a:prstGeom>
          <a:noFill/>
          <a:ln w="12700">
            <a:solidFill>
              <a:srgbClr val="E76F51"/>
            </a:solidFill>
            <a:prstDash val="solid"/>
          </a:ln>
        </p:spPr>
      </p:sp>
      <p:sp>
        <p:nvSpPr>
          <p:cNvPr id="14" name="Shape 12"/>
          <p:cNvSpPr/>
          <p:nvPr/>
        </p:nvSpPr>
        <p:spPr>
          <a:xfrm>
            <a:off x="5806440" y="2834640"/>
            <a:ext cx="777240" cy="868680"/>
          </a:xfrm>
          <a:prstGeom prst="line">
            <a:avLst/>
          </a:prstGeom>
          <a:noFill/>
          <a:ln w="12700">
            <a:solidFill>
              <a:srgbClr val="E76F51"/>
            </a:solidFill>
            <a:prstDash val="solid"/>
          </a:ln>
        </p:spPr>
      </p:sp>
      <p:sp>
        <p:nvSpPr>
          <p:cNvPr id="15" name="Shape 13"/>
          <p:cNvSpPr/>
          <p:nvPr/>
        </p:nvSpPr>
        <p:spPr>
          <a:xfrm>
            <a:off x="4416552" y="1719072"/>
            <a:ext cx="256032" cy="256032"/>
          </a:xfrm>
          <a:prstGeom prst="ellipse">
            <a:avLst/>
          </a:prstGeom>
          <a:solidFill>
            <a:srgbClr val="C44536"/>
          </a:solidFill>
          <a:ln w="12700">
            <a:solidFill>
              <a:srgbClr val="C44536"/>
            </a:solidFill>
            <a:prstDash val="solid"/>
          </a:ln>
        </p:spPr>
      </p:sp>
      <p:sp>
        <p:nvSpPr>
          <p:cNvPr id="16" name="Shape 14"/>
          <p:cNvSpPr/>
          <p:nvPr/>
        </p:nvSpPr>
        <p:spPr>
          <a:xfrm>
            <a:off x="4754880" y="1490472"/>
            <a:ext cx="292608" cy="292608"/>
          </a:xfrm>
          <a:prstGeom prst="ellipse">
            <a:avLst/>
          </a:prstGeom>
          <a:solidFill>
            <a:srgbClr val="C44536"/>
          </a:solidFill>
          <a:ln w="12700">
            <a:solidFill>
              <a:srgbClr val="C44536">
                <a:alpha val="0"/>
              </a:srgbClr>
            </a:solidFill>
            <a:prstDash val="solid"/>
          </a:ln>
        </p:spPr>
      </p:sp>
      <p:sp>
        <p:nvSpPr>
          <p:cNvPr id="17" name="Text 15"/>
          <p:cNvSpPr/>
          <p:nvPr/>
        </p:nvSpPr>
        <p:spPr>
          <a:xfrm>
            <a:off x="4837176" y="1554480"/>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18" name="Shape 16"/>
          <p:cNvSpPr/>
          <p:nvPr/>
        </p:nvSpPr>
        <p:spPr>
          <a:xfrm>
            <a:off x="5102352" y="1476756"/>
            <a:ext cx="1261872" cy="329184"/>
          </a:xfrm>
          <a:prstGeom prst="roundRect">
            <a:avLst>
              <a:gd name="adj" fmla="val 13889"/>
            </a:avLst>
          </a:prstGeom>
          <a:solidFill>
            <a:srgbClr val="FFFFFF">
              <a:alpha val="95000"/>
            </a:srgbClr>
          </a:solidFill>
          <a:ln w="12700">
            <a:solidFill>
              <a:srgbClr val="C44536"/>
            </a:solidFill>
            <a:prstDash val="solid"/>
          </a:ln>
        </p:spPr>
      </p:sp>
      <p:sp>
        <p:nvSpPr>
          <p:cNvPr id="19" name="Text 17"/>
          <p:cNvSpPr/>
          <p:nvPr/>
        </p:nvSpPr>
        <p:spPr>
          <a:xfrm>
            <a:off x="5212080" y="1559052"/>
            <a:ext cx="1078992" cy="118872"/>
          </a:xfrm>
          <a:prstGeom prst="rect">
            <a:avLst/>
          </a:prstGeom>
          <a:noFill/>
          <a:ln/>
        </p:spPr>
        <p:txBody>
          <a:bodyPr wrap="square" lIns="0" tIns="0" rIns="0" bIns="0" rtlCol="0" anchor="ctr">
            <a:normAutofit/>
          </a:bodyPr>
          <a:lstStyle/>
          <a:p>
            <a:pPr indent="0" marL="0">
              <a:buNone/>
            </a:pPr>
            <a:r>
              <a:rPr lang="en-US" sz="840" b="1" dirty="0">
                <a:solidFill>
                  <a:srgbClr val="17212B"/>
                </a:solidFill>
              </a:rPr>
              <a:t>design peak</a:t>
            </a:r>
            <a:endParaRPr lang="en-US" sz="840" dirty="0"/>
          </a:p>
        </p:txBody>
      </p:sp>
      <p:sp>
        <p:nvSpPr>
          <p:cNvPr id="20" name="Text 18"/>
          <p:cNvSpPr/>
          <p:nvPr/>
        </p:nvSpPr>
        <p:spPr>
          <a:xfrm>
            <a:off x="1143000" y="4782312"/>
            <a:ext cx="365760" cy="109728"/>
          </a:xfrm>
          <a:prstGeom prst="rect">
            <a:avLst/>
          </a:prstGeom>
          <a:noFill/>
          <a:ln/>
        </p:spPr>
        <p:txBody>
          <a:bodyPr wrap="square" lIns="0" tIns="0" rIns="0" bIns="0" rtlCol="0" anchor="ctr"/>
          <a:lstStyle/>
          <a:p>
            <a:pPr algn="ctr" indent="0" marL="0">
              <a:buNone/>
            </a:pPr>
            <a:r>
              <a:rPr lang="en-US" sz="800" dirty="0">
                <a:solidFill>
                  <a:srgbClr val="59656F"/>
                </a:solidFill>
              </a:rPr>
              <a:t>08</a:t>
            </a:r>
            <a:endParaRPr lang="en-US" sz="800" dirty="0"/>
          </a:p>
        </p:txBody>
      </p:sp>
      <p:sp>
        <p:nvSpPr>
          <p:cNvPr id="21" name="Text 19"/>
          <p:cNvSpPr/>
          <p:nvPr/>
        </p:nvSpPr>
        <p:spPr>
          <a:xfrm>
            <a:off x="2743200" y="4782312"/>
            <a:ext cx="365760" cy="109728"/>
          </a:xfrm>
          <a:prstGeom prst="rect">
            <a:avLst/>
          </a:prstGeom>
          <a:noFill/>
          <a:ln/>
        </p:spPr>
        <p:txBody>
          <a:bodyPr wrap="square" lIns="0" tIns="0" rIns="0" bIns="0" rtlCol="0" anchor="ctr"/>
          <a:lstStyle/>
          <a:p>
            <a:pPr algn="ctr" indent="0" marL="0">
              <a:buNone/>
            </a:pPr>
            <a:r>
              <a:rPr lang="en-US" sz="800" dirty="0">
                <a:solidFill>
                  <a:srgbClr val="59656F"/>
                </a:solidFill>
              </a:rPr>
              <a:t>12</a:t>
            </a:r>
            <a:endParaRPr lang="en-US" sz="800" dirty="0"/>
          </a:p>
        </p:txBody>
      </p:sp>
      <p:sp>
        <p:nvSpPr>
          <p:cNvPr id="22" name="Text 20"/>
          <p:cNvSpPr/>
          <p:nvPr/>
        </p:nvSpPr>
        <p:spPr>
          <a:xfrm>
            <a:off x="4343400" y="4782312"/>
            <a:ext cx="365760" cy="109728"/>
          </a:xfrm>
          <a:prstGeom prst="rect">
            <a:avLst/>
          </a:prstGeom>
          <a:noFill/>
          <a:ln/>
        </p:spPr>
        <p:txBody>
          <a:bodyPr wrap="square" lIns="0" tIns="0" rIns="0" bIns="0" rtlCol="0" anchor="ctr"/>
          <a:lstStyle/>
          <a:p>
            <a:pPr algn="ctr" indent="0" marL="0">
              <a:buNone/>
            </a:pPr>
            <a:r>
              <a:rPr lang="en-US" sz="800" dirty="0">
                <a:solidFill>
                  <a:srgbClr val="59656F"/>
                </a:solidFill>
              </a:rPr>
              <a:t>15</a:t>
            </a:r>
            <a:endParaRPr lang="en-US" sz="800" dirty="0"/>
          </a:p>
        </p:txBody>
      </p:sp>
      <p:sp>
        <p:nvSpPr>
          <p:cNvPr id="23" name="Text 21"/>
          <p:cNvSpPr/>
          <p:nvPr/>
        </p:nvSpPr>
        <p:spPr>
          <a:xfrm>
            <a:off x="5943600" y="4782312"/>
            <a:ext cx="365760" cy="109728"/>
          </a:xfrm>
          <a:prstGeom prst="rect">
            <a:avLst/>
          </a:prstGeom>
          <a:noFill/>
          <a:ln/>
        </p:spPr>
        <p:txBody>
          <a:bodyPr wrap="square" lIns="0" tIns="0" rIns="0" bIns="0" rtlCol="0" anchor="ctr"/>
          <a:lstStyle/>
          <a:p>
            <a:pPr algn="ctr" indent="0" marL="0">
              <a:buNone/>
            </a:pPr>
            <a:r>
              <a:rPr lang="en-US" sz="800" dirty="0">
                <a:solidFill>
                  <a:srgbClr val="59656F"/>
                </a:solidFill>
              </a:rPr>
              <a:t>18</a:t>
            </a:r>
            <a:endParaRPr lang="en-US" sz="800" dirty="0"/>
          </a:p>
        </p:txBody>
      </p:sp>
      <p:sp>
        <p:nvSpPr>
          <p:cNvPr id="24" name="Text 22"/>
          <p:cNvSpPr/>
          <p:nvPr/>
        </p:nvSpPr>
        <p:spPr>
          <a:xfrm rot="16200000">
            <a:off x="960120" y="1572768"/>
            <a:ext cx="274320" cy="109728"/>
          </a:xfrm>
          <a:prstGeom prst="rect">
            <a:avLst/>
          </a:prstGeom>
          <a:noFill/>
          <a:ln/>
        </p:spPr>
        <p:txBody>
          <a:bodyPr wrap="square" lIns="0" tIns="0" rIns="0" bIns="0" rtlCol="0" anchor="ctr"/>
          <a:lstStyle/>
          <a:p>
            <a:pPr indent="0" marL="0">
              <a:buNone/>
            </a:pPr>
            <a:r>
              <a:rPr lang="en-US" sz="800" dirty="0">
                <a:solidFill>
                  <a:srgbClr val="59656F"/>
                </a:solidFill>
              </a:rPr>
              <a:t>load</a:t>
            </a:r>
            <a:endParaRPr lang="en-US" sz="800" dirty="0"/>
          </a:p>
        </p:txBody>
      </p:sp>
      <p:sp>
        <p:nvSpPr>
          <p:cNvPr id="25" name="Text 23"/>
          <p:cNvSpPr/>
          <p:nvPr/>
        </p:nvSpPr>
        <p:spPr>
          <a:xfrm>
            <a:off x="6812280" y="4599432"/>
            <a:ext cx="365760" cy="109728"/>
          </a:xfrm>
          <a:prstGeom prst="rect">
            <a:avLst/>
          </a:prstGeom>
          <a:noFill/>
          <a:ln/>
        </p:spPr>
        <p:txBody>
          <a:bodyPr wrap="square" lIns="0" tIns="0" rIns="0" bIns="0" rtlCol="0" anchor="ctr"/>
          <a:lstStyle/>
          <a:p>
            <a:pPr indent="0" marL="0">
              <a:buNone/>
            </a:pPr>
            <a:r>
              <a:rPr lang="en-US" sz="800" dirty="0">
                <a:solidFill>
                  <a:srgbClr val="59656F"/>
                </a:solidFill>
              </a:rPr>
              <a:t>time</a:t>
            </a:r>
            <a:endParaRPr lang="en-US" sz="800" dirty="0"/>
          </a:p>
        </p:txBody>
      </p:sp>
      <p:sp>
        <p:nvSpPr>
          <p:cNvPr id="26" name="Shape 24"/>
          <p:cNvSpPr/>
          <p:nvPr/>
        </p:nvSpPr>
        <p:spPr>
          <a:xfrm>
            <a:off x="8001000" y="1783080"/>
            <a:ext cx="2971800" cy="2148840"/>
          </a:xfrm>
          <a:prstGeom prst="roundRect">
            <a:avLst>
              <a:gd name="adj" fmla="val 5106"/>
            </a:avLst>
          </a:prstGeom>
          <a:solidFill>
            <a:srgbClr val="FCE8DF"/>
          </a:solidFill>
          <a:ln w="12700">
            <a:solidFill>
              <a:srgbClr val="E76F51"/>
            </a:solidFill>
            <a:prstDash val="solid"/>
          </a:ln>
        </p:spPr>
      </p:sp>
      <p:sp>
        <p:nvSpPr>
          <p:cNvPr id="27" name="Text 25"/>
          <p:cNvSpPr/>
          <p:nvPr/>
        </p:nvSpPr>
        <p:spPr>
          <a:xfrm>
            <a:off x="8366760" y="2057400"/>
            <a:ext cx="2240280" cy="228600"/>
          </a:xfrm>
          <a:prstGeom prst="rect">
            <a:avLst/>
          </a:prstGeom>
          <a:noFill/>
          <a:ln/>
        </p:spPr>
        <p:txBody>
          <a:bodyPr wrap="square" lIns="0" tIns="0" rIns="0" bIns="0" rtlCol="0" anchor="ctr"/>
          <a:lstStyle/>
          <a:p>
            <a:pPr algn="ctr" indent="0" marL="0">
              <a:buNone/>
            </a:pPr>
            <a:r>
              <a:rPr lang="en-US" sz="2000" b="1" dirty="0">
                <a:solidFill>
                  <a:srgbClr val="153243"/>
                </a:solidFill>
              </a:rPr>
              <a:t>Not constant</a:t>
            </a:r>
            <a:endParaRPr lang="en-US" sz="2000" dirty="0"/>
          </a:p>
        </p:txBody>
      </p:sp>
      <p:sp>
        <p:nvSpPr>
          <p:cNvPr id="28" name="Text 26"/>
          <p:cNvSpPr/>
          <p:nvPr/>
        </p:nvSpPr>
        <p:spPr>
          <a:xfrm>
            <a:off x="8394192" y="2724912"/>
            <a:ext cx="2148840" cy="777240"/>
          </a:xfrm>
          <a:prstGeom prst="rect">
            <a:avLst/>
          </a:prstGeom>
          <a:noFill/>
          <a:ln/>
        </p:spPr>
        <p:txBody>
          <a:bodyPr wrap="square" lIns="0" tIns="0" rIns="0" bIns="0" rtlCol="0" anchor="ctr">
            <a:normAutofit/>
          </a:bodyPr>
          <a:lstStyle/>
          <a:p>
            <a:pPr algn="ctr" indent="0" marL="0">
              <a:buNone/>
            </a:pPr>
            <a:r>
              <a:rPr lang="en-US" sz="1300" dirty="0">
                <a:solidFill>
                  <a:srgbClr val="17212B"/>
                </a:solidFill>
              </a:rPr>
              <a:t>Outdoor temperature, solar position, occupancy, lighting, and equipment schedules keep changing.</a:t>
            </a:r>
            <a:endParaRPr lang="en-US" sz="13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Total load is built from three families of heat gain</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Use categories before equations.</a:t>
            </a:r>
            <a:endParaRPr lang="en-US" sz="950" dirty="0"/>
          </a:p>
        </p:txBody>
      </p:sp>
      <p:sp>
        <p:nvSpPr>
          <p:cNvPr id="4" name="Shape 2"/>
          <p:cNvSpPr/>
          <p:nvPr/>
        </p:nvSpPr>
        <p:spPr>
          <a:xfrm>
            <a:off x="914400" y="1508760"/>
            <a:ext cx="2971800" cy="3246120"/>
          </a:xfrm>
          <a:prstGeom prst="roundRect">
            <a:avLst>
              <a:gd name="adj" fmla="val 4923"/>
            </a:avLst>
          </a:prstGeom>
          <a:solidFill>
            <a:srgbClr val="FFFFFF"/>
          </a:solidFill>
          <a:ln w="12700">
            <a:solidFill>
              <a:srgbClr val="E76F51"/>
            </a:solidFill>
            <a:prstDash val="solid"/>
          </a:ln>
        </p:spPr>
      </p:sp>
      <p:sp>
        <p:nvSpPr>
          <p:cNvPr id="5" name="Shape 3"/>
          <p:cNvSpPr/>
          <p:nvPr/>
        </p:nvSpPr>
        <p:spPr>
          <a:xfrm>
            <a:off x="932688" y="1527048"/>
            <a:ext cx="2935224" cy="822960"/>
          </a:xfrm>
          <a:prstGeom prst="rect">
            <a:avLst/>
          </a:prstGeom>
          <a:solidFill>
            <a:srgbClr val="E76F51"/>
          </a:solidFill>
          <a:ln w="12700">
            <a:solidFill>
              <a:srgbClr val="E76F51"/>
            </a:solidFill>
            <a:prstDash val="solid"/>
          </a:ln>
        </p:spPr>
      </p:sp>
      <p:sp>
        <p:nvSpPr>
          <p:cNvPr id="6" name="Text 4"/>
          <p:cNvSpPr/>
          <p:nvPr/>
        </p:nvSpPr>
        <p:spPr>
          <a:xfrm>
            <a:off x="1143000" y="1810512"/>
            <a:ext cx="2514600" cy="201168"/>
          </a:xfrm>
          <a:prstGeom prst="rect">
            <a:avLst/>
          </a:prstGeom>
          <a:noFill/>
          <a:ln/>
        </p:spPr>
        <p:txBody>
          <a:bodyPr wrap="square" lIns="0" tIns="0" rIns="0" bIns="0" rtlCol="0" anchor="ctr"/>
          <a:lstStyle/>
          <a:p>
            <a:pPr algn="ctr" indent="0" marL="0">
              <a:buNone/>
            </a:pPr>
            <a:r>
              <a:rPr lang="en-US" sz="1900" b="1" dirty="0">
                <a:solidFill>
                  <a:srgbClr val="FFFFFF"/>
                </a:solidFill>
              </a:rPr>
              <a:t>External</a:t>
            </a:r>
            <a:endParaRPr lang="en-US" sz="1900" dirty="0"/>
          </a:p>
        </p:txBody>
      </p:sp>
      <p:sp>
        <p:nvSpPr>
          <p:cNvPr id="7" name="Text 5"/>
          <p:cNvSpPr/>
          <p:nvPr/>
        </p:nvSpPr>
        <p:spPr>
          <a:xfrm>
            <a:off x="1234440" y="2743200"/>
            <a:ext cx="2331720" cy="594360"/>
          </a:xfrm>
          <a:prstGeom prst="rect">
            <a:avLst/>
          </a:prstGeom>
          <a:noFill/>
          <a:ln/>
        </p:spPr>
        <p:txBody>
          <a:bodyPr wrap="square" lIns="0" tIns="0" rIns="0" bIns="0" rtlCol="0" anchor="ctr">
            <a:normAutofit/>
          </a:bodyPr>
          <a:lstStyle/>
          <a:p>
            <a:pPr algn="ctr" indent="0" marL="0">
              <a:buNone/>
            </a:pPr>
            <a:r>
              <a:rPr lang="en-US" sz="1800" b="1" dirty="0">
                <a:solidFill>
                  <a:srgbClr val="153243"/>
                </a:solidFill>
              </a:rPr>
              <a:t>solar + envelope</a:t>
            </a:r>
            <a:endParaRPr lang="en-US" sz="1800" dirty="0"/>
          </a:p>
          <a:p>
            <a:pPr algn="ctr" indent="0" marL="0">
              <a:buNone/>
            </a:pPr>
            <a:r>
              <a:rPr lang="en-US" sz="1800" b="1" dirty="0">
                <a:solidFill>
                  <a:srgbClr val="153243"/>
                </a:solidFill>
              </a:rPr>
              <a:t>conduction + lag</a:t>
            </a:r>
            <a:endParaRPr lang="en-US" sz="1800" dirty="0"/>
          </a:p>
        </p:txBody>
      </p:sp>
      <p:sp>
        <p:nvSpPr>
          <p:cNvPr id="8" name="Shape 6"/>
          <p:cNvSpPr/>
          <p:nvPr/>
        </p:nvSpPr>
        <p:spPr>
          <a:xfrm>
            <a:off x="4617720" y="1508760"/>
            <a:ext cx="2971800" cy="3246120"/>
          </a:xfrm>
          <a:prstGeom prst="roundRect">
            <a:avLst>
              <a:gd name="adj" fmla="val 4923"/>
            </a:avLst>
          </a:prstGeom>
          <a:solidFill>
            <a:srgbClr val="FFFFFF"/>
          </a:solidFill>
          <a:ln w="12700">
            <a:solidFill>
              <a:srgbClr val="0B7A75"/>
            </a:solidFill>
            <a:prstDash val="solid"/>
          </a:ln>
        </p:spPr>
      </p:sp>
      <p:sp>
        <p:nvSpPr>
          <p:cNvPr id="9" name="Shape 7"/>
          <p:cNvSpPr/>
          <p:nvPr/>
        </p:nvSpPr>
        <p:spPr>
          <a:xfrm>
            <a:off x="4636008" y="1527048"/>
            <a:ext cx="2935224" cy="822960"/>
          </a:xfrm>
          <a:prstGeom prst="rect">
            <a:avLst/>
          </a:prstGeom>
          <a:solidFill>
            <a:srgbClr val="0B7A75"/>
          </a:solidFill>
          <a:ln w="12700">
            <a:solidFill>
              <a:srgbClr val="0B7A75"/>
            </a:solidFill>
            <a:prstDash val="solid"/>
          </a:ln>
        </p:spPr>
      </p:sp>
      <p:sp>
        <p:nvSpPr>
          <p:cNvPr id="10" name="Text 8"/>
          <p:cNvSpPr/>
          <p:nvPr/>
        </p:nvSpPr>
        <p:spPr>
          <a:xfrm>
            <a:off x="4846320" y="1810512"/>
            <a:ext cx="2514600" cy="201168"/>
          </a:xfrm>
          <a:prstGeom prst="rect">
            <a:avLst/>
          </a:prstGeom>
          <a:noFill/>
          <a:ln/>
        </p:spPr>
        <p:txBody>
          <a:bodyPr wrap="square" lIns="0" tIns="0" rIns="0" bIns="0" rtlCol="0" anchor="ctr"/>
          <a:lstStyle/>
          <a:p>
            <a:pPr algn="ctr" indent="0" marL="0">
              <a:buNone/>
            </a:pPr>
            <a:r>
              <a:rPr lang="en-US" sz="1900" b="1" dirty="0">
                <a:solidFill>
                  <a:srgbClr val="FFFFFF"/>
                </a:solidFill>
              </a:rPr>
              <a:t>Internal</a:t>
            </a:r>
            <a:endParaRPr lang="en-US" sz="1900" dirty="0"/>
          </a:p>
        </p:txBody>
      </p:sp>
      <p:sp>
        <p:nvSpPr>
          <p:cNvPr id="11" name="Text 9"/>
          <p:cNvSpPr/>
          <p:nvPr/>
        </p:nvSpPr>
        <p:spPr>
          <a:xfrm>
            <a:off x="4937760" y="2743200"/>
            <a:ext cx="2331720" cy="594360"/>
          </a:xfrm>
          <a:prstGeom prst="rect">
            <a:avLst/>
          </a:prstGeom>
          <a:noFill/>
          <a:ln/>
        </p:spPr>
        <p:txBody>
          <a:bodyPr wrap="square" lIns="0" tIns="0" rIns="0" bIns="0" rtlCol="0" anchor="ctr">
            <a:normAutofit/>
          </a:bodyPr>
          <a:lstStyle/>
          <a:p>
            <a:pPr algn="ctr" indent="0" marL="0">
              <a:buNone/>
            </a:pPr>
            <a:r>
              <a:rPr lang="en-US" sz="1800" b="1" dirty="0">
                <a:solidFill>
                  <a:srgbClr val="153243"/>
                </a:solidFill>
              </a:rPr>
              <a:t>people + lights</a:t>
            </a:r>
            <a:endParaRPr lang="en-US" sz="1800" dirty="0"/>
          </a:p>
          <a:p>
            <a:pPr algn="ctr" indent="0" marL="0">
              <a:buNone/>
            </a:pPr>
            <a:r>
              <a:rPr lang="en-US" sz="1800" b="1" dirty="0">
                <a:solidFill>
                  <a:srgbClr val="153243"/>
                </a:solidFill>
              </a:rPr>
              <a:t>+ equipment</a:t>
            </a:r>
            <a:endParaRPr lang="en-US" sz="1800" dirty="0"/>
          </a:p>
        </p:txBody>
      </p:sp>
      <p:sp>
        <p:nvSpPr>
          <p:cNvPr id="12" name="Shape 10"/>
          <p:cNvSpPr/>
          <p:nvPr/>
        </p:nvSpPr>
        <p:spPr>
          <a:xfrm>
            <a:off x="8321040" y="1508760"/>
            <a:ext cx="2971800" cy="3246120"/>
          </a:xfrm>
          <a:prstGeom prst="roundRect">
            <a:avLst>
              <a:gd name="adj" fmla="val 4923"/>
            </a:avLst>
          </a:prstGeom>
          <a:solidFill>
            <a:srgbClr val="FFFFFF"/>
          </a:solidFill>
          <a:ln w="12700">
            <a:solidFill>
              <a:srgbClr val="4A90A4"/>
            </a:solidFill>
            <a:prstDash val="solid"/>
          </a:ln>
        </p:spPr>
      </p:sp>
      <p:sp>
        <p:nvSpPr>
          <p:cNvPr id="13" name="Shape 11"/>
          <p:cNvSpPr/>
          <p:nvPr/>
        </p:nvSpPr>
        <p:spPr>
          <a:xfrm>
            <a:off x="8339328" y="1527048"/>
            <a:ext cx="2935224" cy="822960"/>
          </a:xfrm>
          <a:prstGeom prst="rect">
            <a:avLst/>
          </a:prstGeom>
          <a:solidFill>
            <a:srgbClr val="4A90A4"/>
          </a:solidFill>
          <a:ln w="12700">
            <a:solidFill>
              <a:srgbClr val="4A90A4"/>
            </a:solidFill>
            <a:prstDash val="solid"/>
          </a:ln>
        </p:spPr>
      </p:sp>
      <p:sp>
        <p:nvSpPr>
          <p:cNvPr id="14" name="Text 12"/>
          <p:cNvSpPr/>
          <p:nvPr/>
        </p:nvSpPr>
        <p:spPr>
          <a:xfrm>
            <a:off x="8549640" y="1810512"/>
            <a:ext cx="2514600" cy="201168"/>
          </a:xfrm>
          <a:prstGeom prst="rect">
            <a:avLst/>
          </a:prstGeom>
          <a:noFill/>
          <a:ln/>
        </p:spPr>
        <p:txBody>
          <a:bodyPr wrap="square" lIns="0" tIns="0" rIns="0" bIns="0" rtlCol="0" anchor="ctr"/>
          <a:lstStyle/>
          <a:p>
            <a:pPr algn="ctr" indent="0" marL="0">
              <a:buNone/>
            </a:pPr>
            <a:r>
              <a:rPr lang="en-US" sz="1900" b="1" dirty="0">
                <a:solidFill>
                  <a:srgbClr val="FFFFFF"/>
                </a:solidFill>
              </a:rPr>
              <a:t>Ventilation</a:t>
            </a:r>
            <a:endParaRPr lang="en-US" sz="1900" dirty="0"/>
          </a:p>
        </p:txBody>
      </p:sp>
      <p:sp>
        <p:nvSpPr>
          <p:cNvPr id="15" name="Text 13"/>
          <p:cNvSpPr/>
          <p:nvPr/>
        </p:nvSpPr>
        <p:spPr>
          <a:xfrm>
            <a:off x="8641080" y="2743200"/>
            <a:ext cx="2331720" cy="594360"/>
          </a:xfrm>
          <a:prstGeom prst="rect">
            <a:avLst/>
          </a:prstGeom>
          <a:noFill/>
          <a:ln/>
        </p:spPr>
        <p:txBody>
          <a:bodyPr wrap="square" lIns="0" tIns="0" rIns="0" bIns="0" rtlCol="0" anchor="ctr">
            <a:normAutofit/>
          </a:bodyPr>
          <a:lstStyle/>
          <a:p>
            <a:pPr algn="ctr" indent="0" marL="0">
              <a:buNone/>
            </a:pPr>
            <a:r>
              <a:rPr lang="en-US" sz="1800" b="1" dirty="0">
                <a:solidFill>
                  <a:srgbClr val="153243"/>
                </a:solidFill>
              </a:rPr>
              <a:t>fresh air +</a:t>
            </a:r>
            <a:endParaRPr lang="en-US" sz="1800" dirty="0"/>
          </a:p>
          <a:p>
            <a:pPr algn="ctr" indent="0" marL="0">
              <a:buNone/>
            </a:pPr>
            <a:r>
              <a:rPr lang="en-US" sz="1800" b="1" dirty="0">
                <a:solidFill>
                  <a:srgbClr val="153243"/>
                </a:solidFill>
              </a:rPr>
              <a:t>infiltration</a:t>
            </a:r>
            <a:endParaRPr lang="en-US" sz="18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Envelope heat gain can arrive hours after the sun hits the building</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Thermal lag shifts the load peak into the afternoon.</a:t>
            </a:r>
            <a:endParaRPr lang="en-US" sz="950" dirty="0"/>
          </a:p>
        </p:txBody>
      </p:sp>
      <p:sp>
        <p:nvSpPr>
          <p:cNvPr id="4" name="Shape 2"/>
          <p:cNvSpPr/>
          <p:nvPr/>
        </p:nvSpPr>
        <p:spPr>
          <a:xfrm>
            <a:off x="914400" y="1143000"/>
            <a:ext cx="1051560" cy="1051560"/>
          </a:xfrm>
          <a:prstGeom prst="sun">
            <a:avLst/>
          </a:prstGeom>
          <a:solidFill>
            <a:srgbClr val="F2C14E"/>
          </a:solidFill>
          <a:ln w="12700">
            <a:solidFill>
              <a:srgbClr val="F2C14E"/>
            </a:solidFill>
            <a:prstDash val="solid"/>
          </a:ln>
        </p:spPr>
      </p:sp>
      <p:sp>
        <p:nvSpPr>
          <p:cNvPr id="5" name="Shape 3"/>
          <p:cNvSpPr/>
          <p:nvPr/>
        </p:nvSpPr>
        <p:spPr>
          <a:xfrm>
            <a:off x="2743200" y="1417320"/>
            <a:ext cx="914400" cy="3383280"/>
          </a:xfrm>
          <a:prstGeom prst="rect">
            <a:avLst/>
          </a:prstGeom>
          <a:solidFill>
            <a:srgbClr val="C9A46A"/>
          </a:solidFill>
          <a:ln w="12700">
            <a:solidFill>
              <a:srgbClr val="153243"/>
            </a:solidFill>
            <a:prstDash val="solid"/>
          </a:ln>
        </p:spPr>
      </p:sp>
      <p:sp>
        <p:nvSpPr>
          <p:cNvPr id="6" name="Text 4"/>
          <p:cNvSpPr/>
          <p:nvPr/>
        </p:nvSpPr>
        <p:spPr>
          <a:xfrm>
            <a:off x="2487168" y="4956048"/>
            <a:ext cx="1463040" cy="274320"/>
          </a:xfrm>
          <a:prstGeom prst="rect">
            <a:avLst/>
          </a:prstGeom>
          <a:noFill/>
          <a:ln/>
        </p:spPr>
        <p:txBody>
          <a:bodyPr wrap="square" lIns="0" tIns="0" rIns="0" bIns="0" rtlCol="0" anchor="ctr">
            <a:normAutofit/>
          </a:bodyPr>
          <a:lstStyle/>
          <a:p>
            <a:pPr algn="ctr" indent="0" marL="0">
              <a:buNone/>
            </a:pPr>
            <a:r>
              <a:rPr lang="en-US" sz="900" dirty="0">
                <a:solidFill>
                  <a:srgbClr val="59656F"/>
                </a:solidFill>
              </a:rPr>
              <a:t>wall / roof</a:t>
            </a:r>
            <a:endParaRPr lang="en-US" sz="900" dirty="0"/>
          </a:p>
          <a:p>
            <a:pPr algn="ctr" indent="0" marL="0">
              <a:buNone/>
            </a:pPr>
            <a:r>
              <a:rPr lang="en-US" sz="900" dirty="0">
                <a:solidFill>
                  <a:srgbClr val="59656F"/>
                </a:solidFill>
              </a:rPr>
              <a:t>thermal mass</a:t>
            </a:r>
            <a:endParaRPr lang="en-US" sz="900" dirty="0"/>
          </a:p>
        </p:txBody>
      </p:sp>
      <p:sp>
        <p:nvSpPr>
          <p:cNvPr id="7" name="Shape 5"/>
          <p:cNvSpPr/>
          <p:nvPr/>
        </p:nvSpPr>
        <p:spPr>
          <a:xfrm>
            <a:off x="5577840" y="1417320"/>
            <a:ext cx="3063240" cy="3383280"/>
          </a:xfrm>
          <a:prstGeom prst="roundRect">
            <a:avLst>
              <a:gd name="adj" fmla="val 3582"/>
            </a:avLst>
          </a:prstGeom>
          <a:solidFill>
            <a:srgbClr val="DDECF0"/>
          </a:solidFill>
          <a:ln w="12700">
            <a:solidFill>
              <a:srgbClr val="4A90A4"/>
            </a:solidFill>
            <a:prstDash val="solid"/>
          </a:ln>
        </p:spPr>
      </p:sp>
      <p:sp>
        <p:nvSpPr>
          <p:cNvPr id="8" name="Text 6"/>
          <p:cNvSpPr/>
          <p:nvPr/>
        </p:nvSpPr>
        <p:spPr>
          <a:xfrm>
            <a:off x="6263640" y="2743200"/>
            <a:ext cx="1691640" cy="219456"/>
          </a:xfrm>
          <a:prstGeom prst="rect">
            <a:avLst/>
          </a:prstGeom>
          <a:noFill/>
          <a:ln/>
        </p:spPr>
        <p:txBody>
          <a:bodyPr wrap="square" lIns="0" tIns="0" rIns="0" bIns="0" rtlCol="0" anchor="ctr"/>
          <a:lstStyle/>
          <a:p>
            <a:pPr algn="ctr" indent="0" marL="0">
              <a:buNone/>
            </a:pPr>
            <a:r>
              <a:rPr lang="en-US" sz="1800" b="1" dirty="0">
                <a:solidFill>
                  <a:srgbClr val="153243"/>
                </a:solidFill>
              </a:rPr>
              <a:t>indoor space</a:t>
            </a:r>
            <a:endParaRPr lang="en-US" sz="1800" dirty="0"/>
          </a:p>
        </p:txBody>
      </p:sp>
      <p:sp>
        <p:nvSpPr>
          <p:cNvPr id="9" name="Shape 7"/>
          <p:cNvSpPr/>
          <p:nvPr/>
        </p:nvSpPr>
        <p:spPr>
          <a:xfrm>
            <a:off x="1874520" y="2240280"/>
            <a:ext cx="868680" cy="0"/>
          </a:xfrm>
          <a:prstGeom prst="line">
            <a:avLst/>
          </a:prstGeom>
          <a:noFill/>
          <a:ln w="12700">
            <a:solidFill>
              <a:srgbClr val="E76F51"/>
            </a:solidFill>
            <a:prstDash val="solid"/>
            <a:headEnd type="none"/>
            <a:tailEnd type="triangle"/>
          </a:ln>
        </p:spPr>
      </p:sp>
      <p:sp>
        <p:nvSpPr>
          <p:cNvPr id="10" name="Shape 8"/>
          <p:cNvSpPr/>
          <p:nvPr/>
        </p:nvSpPr>
        <p:spPr>
          <a:xfrm>
            <a:off x="3703320" y="3063240"/>
            <a:ext cx="1874520" cy="0"/>
          </a:xfrm>
          <a:prstGeom prst="line">
            <a:avLst/>
          </a:prstGeom>
          <a:noFill/>
          <a:ln w="12700">
            <a:solidFill>
              <a:srgbClr val="C44536"/>
            </a:solidFill>
            <a:prstDash val="solid"/>
            <a:headEnd type="none"/>
            <a:tailEnd type="triangle"/>
          </a:ln>
        </p:spPr>
      </p:sp>
      <p:sp>
        <p:nvSpPr>
          <p:cNvPr id="11" name="Shape 9"/>
          <p:cNvSpPr/>
          <p:nvPr/>
        </p:nvSpPr>
        <p:spPr>
          <a:xfrm>
            <a:off x="1325880" y="914400"/>
            <a:ext cx="1325880" cy="310896"/>
          </a:xfrm>
          <a:prstGeom prst="roundRect">
            <a:avLst>
              <a:gd name="adj" fmla="val 23529"/>
            </a:avLst>
          </a:prstGeom>
          <a:solidFill>
            <a:srgbClr val="E76F51"/>
          </a:solidFill>
          <a:ln w="12700">
            <a:solidFill>
              <a:srgbClr val="E76F51">
                <a:alpha val="0"/>
              </a:srgbClr>
            </a:solidFill>
            <a:prstDash val="solid"/>
          </a:ln>
        </p:spPr>
      </p:sp>
      <p:sp>
        <p:nvSpPr>
          <p:cNvPr id="12" name="Text 10"/>
          <p:cNvSpPr/>
          <p:nvPr/>
        </p:nvSpPr>
        <p:spPr>
          <a:xfrm>
            <a:off x="1399032" y="992124"/>
            <a:ext cx="117957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solar input now</a:t>
            </a:r>
            <a:endParaRPr lang="en-US" sz="860" dirty="0"/>
          </a:p>
        </p:txBody>
      </p:sp>
      <p:sp>
        <p:nvSpPr>
          <p:cNvPr id="13" name="Shape 11"/>
          <p:cNvSpPr/>
          <p:nvPr/>
        </p:nvSpPr>
        <p:spPr>
          <a:xfrm>
            <a:off x="4023360" y="2788920"/>
            <a:ext cx="1417320" cy="310896"/>
          </a:xfrm>
          <a:prstGeom prst="roundRect">
            <a:avLst>
              <a:gd name="adj" fmla="val 23529"/>
            </a:avLst>
          </a:prstGeom>
          <a:solidFill>
            <a:srgbClr val="C44536"/>
          </a:solidFill>
          <a:ln w="12700">
            <a:solidFill>
              <a:srgbClr val="C44536">
                <a:alpha val="0"/>
              </a:srgbClr>
            </a:solidFill>
            <a:prstDash val="solid"/>
          </a:ln>
        </p:spPr>
      </p:sp>
      <p:sp>
        <p:nvSpPr>
          <p:cNvPr id="14" name="Text 12"/>
          <p:cNvSpPr/>
          <p:nvPr/>
        </p:nvSpPr>
        <p:spPr>
          <a:xfrm>
            <a:off x="4096512" y="2866644"/>
            <a:ext cx="127101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heat release later</a:t>
            </a:r>
            <a:endParaRPr lang="en-US" sz="860" dirty="0"/>
          </a:p>
        </p:txBody>
      </p:sp>
      <p:sp>
        <p:nvSpPr>
          <p:cNvPr id="15" name="Text 13"/>
          <p:cNvSpPr/>
          <p:nvPr/>
        </p:nvSpPr>
        <p:spPr>
          <a:xfrm>
            <a:off x="1280160" y="5532120"/>
            <a:ext cx="9418320" cy="219456"/>
          </a:xfrm>
          <a:prstGeom prst="rect">
            <a:avLst/>
          </a:prstGeom>
          <a:noFill/>
          <a:ln/>
        </p:spPr>
        <p:txBody>
          <a:bodyPr wrap="square" lIns="0" tIns="0" rIns="0" bIns="0" rtlCol="0" anchor="ctr"/>
          <a:lstStyle/>
          <a:p>
            <a:pPr algn="ctr" indent="0" marL="0">
              <a:buNone/>
            </a:pPr>
            <a:r>
              <a:rPr lang="en-US" sz="1500" b="1" dirty="0">
                <a:solidFill>
                  <a:srgbClr val="153243"/>
                </a:solidFill>
              </a:rPr>
              <a:t>Typical lag for massive concrete elements: about 2–6 hours</a:t>
            </a:r>
            <a:endParaRPr lang="en-US" sz="15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Office buildings often peak at 15:00–16:00</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West solar gain, thermal lag, and internal gains overlap.</a:t>
            </a:r>
            <a:endParaRPr lang="en-US" sz="950" dirty="0"/>
          </a:p>
        </p:txBody>
      </p:sp>
      <p:sp>
        <p:nvSpPr>
          <p:cNvPr id="4" name="Shape 2"/>
          <p:cNvSpPr/>
          <p:nvPr/>
        </p:nvSpPr>
        <p:spPr>
          <a:xfrm>
            <a:off x="777240" y="1143000"/>
            <a:ext cx="10607040" cy="2880360"/>
          </a:xfrm>
          <a:prstGeom prst="rect">
            <a:avLst/>
          </a:prstGeom>
          <a:solidFill>
            <a:srgbClr val="FFFFFF"/>
          </a:solidFill>
          <a:ln w="12700">
            <a:solidFill>
              <a:srgbClr val="D8D0C6"/>
            </a:solidFill>
            <a:prstDash val="solid"/>
          </a:ln>
        </p:spPr>
      </p:sp>
      <p:sp>
        <p:nvSpPr>
          <p:cNvPr id="5" name="Shape 3"/>
          <p:cNvSpPr/>
          <p:nvPr/>
        </p:nvSpPr>
        <p:spPr>
          <a:xfrm>
            <a:off x="1143000" y="2944368"/>
            <a:ext cx="9646920" cy="0"/>
          </a:xfrm>
          <a:prstGeom prst="line">
            <a:avLst/>
          </a:prstGeom>
          <a:noFill/>
          <a:ln w="12700">
            <a:solidFill>
              <a:srgbClr val="59656F"/>
            </a:solidFill>
            <a:prstDash val="solid"/>
            <a:tailEnd type="triangle"/>
          </a:ln>
        </p:spPr>
      </p:sp>
      <p:sp>
        <p:nvSpPr>
          <p:cNvPr id="6" name="Shape 4"/>
          <p:cNvSpPr/>
          <p:nvPr/>
        </p:nvSpPr>
        <p:spPr>
          <a:xfrm>
            <a:off x="1143000" y="2834640"/>
            <a:ext cx="0" cy="219456"/>
          </a:xfrm>
          <a:prstGeom prst="line">
            <a:avLst/>
          </a:prstGeom>
          <a:noFill/>
          <a:ln w="12700">
            <a:solidFill>
              <a:srgbClr val="59656F"/>
            </a:solidFill>
            <a:prstDash val="solid"/>
          </a:ln>
        </p:spPr>
      </p:sp>
      <p:sp>
        <p:nvSpPr>
          <p:cNvPr id="7" name="Text 5"/>
          <p:cNvSpPr/>
          <p:nvPr/>
        </p:nvSpPr>
        <p:spPr>
          <a:xfrm>
            <a:off x="731520" y="3163824"/>
            <a:ext cx="91440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08:00</a:t>
            </a:r>
            <a:endParaRPr lang="en-US" sz="800" dirty="0"/>
          </a:p>
        </p:txBody>
      </p:sp>
      <p:sp>
        <p:nvSpPr>
          <p:cNvPr id="8" name="Shape 6"/>
          <p:cNvSpPr/>
          <p:nvPr/>
        </p:nvSpPr>
        <p:spPr>
          <a:xfrm>
            <a:off x="4230014" y="2834640"/>
            <a:ext cx="0" cy="219456"/>
          </a:xfrm>
          <a:prstGeom prst="line">
            <a:avLst/>
          </a:prstGeom>
          <a:noFill/>
          <a:ln w="12700">
            <a:solidFill>
              <a:srgbClr val="59656F"/>
            </a:solidFill>
            <a:prstDash val="solid"/>
          </a:ln>
        </p:spPr>
      </p:sp>
      <p:sp>
        <p:nvSpPr>
          <p:cNvPr id="9" name="Text 7"/>
          <p:cNvSpPr/>
          <p:nvPr/>
        </p:nvSpPr>
        <p:spPr>
          <a:xfrm>
            <a:off x="3818534" y="3163824"/>
            <a:ext cx="91440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12:00</a:t>
            </a:r>
            <a:endParaRPr lang="en-US" sz="800" dirty="0"/>
          </a:p>
        </p:txBody>
      </p:sp>
      <p:sp>
        <p:nvSpPr>
          <p:cNvPr id="10" name="Shape 8"/>
          <p:cNvSpPr/>
          <p:nvPr/>
        </p:nvSpPr>
        <p:spPr>
          <a:xfrm>
            <a:off x="7220560" y="2834640"/>
            <a:ext cx="0" cy="219456"/>
          </a:xfrm>
          <a:prstGeom prst="line">
            <a:avLst/>
          </a:prstGeom>
          <a:noFill/>
          <a:ln w="12700">
            <a:solidFill>
              <a:srgbClr val="59656F"/>
            </a:solidFill>
            <a:prstDash val="solid"/>
          </a:ln>
        </p:spPr>
      </p:sp>
      <p:sp>
        <p:nvSpPr>
          <p:cNvPr id="11" name="Text 9"/>
          <p:cNvSpPr/>
          <p:nvPr/>
        </p:nvSpPr>
        <p:spPr>
          <a:xfrm>
            <a:off x="6809080" y="3163824"/>
            <a:ext cx="91440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15:00–16:00</a:t>
            </a:r>
            <a:endParaRPr lang="en-US" sz="800" dirty="0"/>
          </a:p>
        </p:txBody>
      </p:sp>
      <p:sp>
        <p:nvSpPr>
          <p:cNvPr id="12" name="Shape 10"/>
          <p:cNvSpPr/>
          <p:nvPr/>
        </p:nvSpPr>
        <p:spPr>
          <a:xfrm>
            <a:off x="10211105" y="2834640"/>
            <a:ext cx="0" cy="219456"/>
          </a:xfrm>
          <a:prstGeom prst="line">
            <a:avLst/>
          </a:prstGeom>
          <a:noFill/>
          <a:ln w="12700">
            <a:solidFill>
              <a:srgbClr val="59656F"/>
            </a:solidFill>
            <a:prstDash val="solid"/>
          </a:ln>
        </p:spPr>
      </p:sp>
      <p:sp>
        <p:nvSpPr>
          <p:cNvPr id="13" name="Text 11"/>
          <p:cNvSpPr/>
          <p:nvPr/>
        </p:nvSpPr>
        <p:spPr>
          <a:xfrm>
            <a:off x="9799625" y="3163824"/>
            <a:ext cx="91440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18:00</a:t>
            </a:r>
            <a:endParaRPr lang="en-US" sz="800" dirty="0"/>
          </a:p>
        </p:txBody>
      </p:sp>
      <p:sp>
        <p:nvSpPr>
          <p:cNvPr id="14" name="Shape 12"/>
          <p:cNvSpPr/>
          <p:nvPr/>
        </p:nvSpPr>
        <p:spPr>
          <a:xfrm>
            <a:off x="4663440" y="1965960"/>
            <a:ext cx="1463040" cy="310896"/>
          </a:xfrm>
          <a:prstGeom prst="roundRect">
            <a:avLst>
              <a:gd name="adj" fmla="val 23529"/>
            </a:avLst>
          </a:prstGeom>
          <a:solidFill>
            <a:srgbClr val="E76F51"/>
          </a:solidFill>
          <a:ln w="12700">
            <a:solidFill>
              <a:srgbClr val="E76F51">
                <a:alpha val="0"/>
              </a:srgbClr>
            </a:solidFill>
            <a:prstDash val="solid"/>
          </a:ln>
        </p:spPr>
      </p:sp>
      <p:sp>
        <p:nvSpPr>
          <p:cNvPr id="15" name="Text 13"/>
          <p:cNvSpPr/>
          <p:nvPr/>
        </p:nvSpPr>
        <p:spPr>
          <a:xfrm>
            <a:off x="4736592" y="2043684"/>
            <a:ext cx="131673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west façade solar</a:t>
            </a:r>
            <a:endParaRPr lang="en-US" sz="860" dirty="0"/>
          </a:p>
        </p:txBody>
      </p:sp>
      <p:sp>
        <p:nvSpPr>
          <p:cNvPr id="16" name="Shape 14"/>
          <p:cNvSpPr/>
          <p:nvPr/>
        </p:nvSpPr>
        <p:spPr>
          <a:xfrm>
            <a:off x="5394960" y="1508760"/>
            <a:ext cx="1234440" cy="310896"/>
          </a:xfrm>
          <a:prstGeom prst="roundRect">
            <a:avLst>
              <a:gd name="adj" fmla="val 23529"/>
            </a:avLst>
          </a:prstGeom>
          <a:solidFill>
            <a:srgbClr val="C44536"/>
          </a:solidFill>
          <a:ln w="12700">
            <a:solidFill>
              <a:srgbClr val="C44536">
                <a:alpha val="0"/>
              </a:srgbClr>
            </a:solidFill>
            <a:prstDash val="solid"/>
          </a:ln>
        </p:spPr>
      </p:sp>
      <p:sp>
        <p:nvSpPr>
          <p:cNvPr id="17" name="Text 15"/>
          <p:cNvSpPr/>
          <p:nvPr/>
        </p:nvSpPr>
        <p:spPr>
          <a:xfrm>
            <a:off x="5468112" y="1586484"/>
            <a:ext cx="108813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envelope lag</a:t>
            </a:r>
            <a:endParaRPr lang="en-US" sz="860" dirty="0"/>
          </a:p>
        </p:txBody>
      </p:sp>
      <p:sp>
        <p:nvSpPr>
          <p:cNvPr id="18" name="Shape 16"/>
          <p:cNvSpPr/>
          <p:nvPr/>
        </p:nvSpPr>
        <p:spPr>
          <a:xfrm>
            <a:off x="5989320" y="2423160"/>
            <a:ext cx="2423160" cy="310896"/>
          </a:xfrm>
          <a:prstGeom prst="roundRect">
            <a:avLst>
              <a:gd name="adj" fmla="val 23529"/>
            </a:avLst>
          </a:prstGeom>
          <a:solidFill>
            <a:srgbClr val="0B7A75"/>
          </a:solidFill>
          <a:ln w="12700">
            <a:solidFill>
              <a:srgbClr val="0B7A75">
                <a:alpha val="0"/>
              </a:srgbClr>
            </a:solidFill>
            <a:prstDash val="solid"/>
          </a:ln>
        </p:spPr>
      </p:sp>
      <p:sp>
        <p:nvSpPr>
          <p:cNvPr id="19" name="Text 17"/>
          <p:cNvSpPr/>
          <p:nvPr/>
        </p:nvSpPr>
        <p:spPr>
          <a:xfrm>
            <a:off x="6062472" y="2500884"/>
            <a:ext cx="227685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occupants + lighting + equipment</a:t>
            </a:r>
            <a:endParaRPr lang="en-US" sz="860" dirty="0"/>
          </a:p>
        </p:txBody>
      </p:sp>
      <p:sp>
        <p:nvSpPr>
          <p:cNvPr id="20" name="Shape 18"/>
          <p:cNvSpPr/>
          <p:nvPr/>
        </p:nvSpPr>
        <p:spPr>
          <a:xfrm>
            <a:off x="6967728" y="960120"/>
            <a:ext cx="822960" cy="868680"/>
          </a:xfrm>
          <a:prstGeom prst="downArrow">
            <a:avLst/>
          </a:prstGeom>
          <a:solidFill>
            <a:srgbClr val="C44536"/>
          </a:solidFill>
          <a:ln w="12700">
            <a:solidFill>
              <a:srgbClr val="C44536"/>
            </a:solidFill>
            <a:prstDash val="solid"/>
          </a:ln>
        </p:spPr>
      </p:sp>
      <p:sp>
        <p:nvSpPr>
          <p:cNvPr id="21" name="Text 19"/>
          <p:cNvSpPr/>
          <p:nvPr/>
        </p:nvSpPr>
        <p:spPr>
          <a:xfrm>
            <a:off x="6537960" y="713232"/>
            <a:ext cx="1600200" cy="146304"/>
          </a:xfrm>
          <a:prstGeom prst="rect">
            <a:avLst/>
          </a:prstGeom>
          <a:noFill/>
          <a:ln/>
        </p:spPr>
        <p:txBody>
          <a:bodyPr wrap="square" lIns="0" tIns="0" rIns="0" bIns="0" rtlCol="0" anchor="ctr"/>
          <a:lstStyle/>
          <a:p>
            <a:pPr algn="ctr" indent="0" marL="0">
              <a:buNone/>
            </a:pPr>
            <a:r>
              <a:rPr lang="en-US" sz="1050" b="1" dirty="0">
                <a:solidFill>
                  <a:srgbClr val="C44536"/>
                </a:solidFill>
              </a:rPr>
              <a:t>design hour</a:t>
            </a:r>
            <a:endParaRPr lang="en-US" sz="1050" dirty="0"/>
          </a:p>
        </p:txBody>
      </p:sp>
      <p:sp>
        <p:nvSpPr>
          <p:cNvPr id="22" name="Text 20"/>
          <p:cNvSpPr/>
          <p:nvPr/>
        </p:nvSpPr>
        <p:spPr>
          <a:xfrm>
            <a:off x="1143000" y="4846320"/>
            <a:ext cx="9784080" cy="274320"/>
          </a:xfrm>
          <a:prstGeom prst="rect">
            <a:avLst/>
          </a:prstGeom>
          <a:noFill/>
          <a:ln/>
        </p:spPr>
        <p:txBody>
          <a:bodyPr wrap="square" lIns="0" tIns="0" rIns="0" bIns="0" rtlCol="0" anchor="ctr"/>
          <a:lstStyle/>
          <a:p>
            <a:pPr algn="ctr" indent="0" marL="0">
              <a:buNone/>
            </a:pPr>
            <a:r>
              <a:rPr lang="en-US" sz="1800" b="1" dirty="0">
                <a:solidFill>
                  <a:srgbClr val="153243"/>
                </a:solidFill>
              </a:rPr>
              <a:t>The peak is a coincidence of sources, not just the hottest outdoor temperature.</a:t>
            </a:r>
            <a:endParaRPr lang="en-US" sz="18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A nightclub peaks at night because the use pattern changes the load</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Peak time follows dominant heat sources.</a:t>
            </a:r>
            <a:endParaRPr lang="en-US" sz="950" dirty="0"/>
          </a:p>
        </p:txBody>
      </p:sp>
      <p:sp>
        <p:nvSpPr>
          <p:cNvPr id="4" name="Shape 2"/>
          <p:cNvSpPr/>
          <p:nvPr/>
        </p:nvSpPr>
        <p:spPr>
          <a:xfrm>
            <a:off x="731520" y="1234440"/>
            <a:ext cx="4892040" cy="3611880"/>
          </a:xfrm>
          <a:prstGeom prst="rect">
            <a:avLst/>
          </a:prstGeom>
          <a:solidFill>
            <a:srgbClr val="1C1D2B"/>
          </a:solidFill>
          <a:ln w="12700">
            <a:solidFill>
              <a:srgbClr val="1C1D2B"/>
            </a:solidFill>
            <a:prstDash val="solid"/>
          </a:ln>
        </p:spPr>
      </p:sp>
      <p:sp>
        <p:nvSpPr>
          <p:cNvPr id="5" name="Shape 3"/>
          <p:cNvSpPr/>
          <p:nvPr/>
        </p:nvSpPr>
        <p:spPr>
          <a:xfrm>
            <a:off x="1097280" y="3063240"/>
            <a:ext cx="100584" cy="100584"/>
          </a:xfrm>
          <a:prstGeom prst="ellipse">
            <a:avLst/>
          </a:prstGeom>
          <a:solidFill>
            <a:srgbClr val="E76F51"/>
          </a:solidFill>
          <a:ln w="12700">
            <a:solidFill>
              <a:srgbClr val="FFFFFF">
                <a:alpha val="0"/>
              </a:srgbClr>
            </a:solidFill>
            <a:prstDash val="solid"/>
          </a:ln>
        </p:spPr>
      </p:sp>
      <p:sp>
        <p:nvSpPr>
          <p:cNvPr id="6" name="Shape 4"/>
          <p:cNvSpPr/>
          <p:nvPr/>
        </p:nvSpPr>
        <p:spPr>
          <a:xfrm>
            <a:off x="1508760" y="3063240"/>
            <a:ext cx="100584" cy="100584"/>
          </a:xfrm>
          <a:prstGeom prst="ellipse">
            <a:avLst/>
          </a:prstGeom>
          <a:solidFill>
            <a:srgbClr val="6BBF9B"/>
          </a:solidFill>
          <a:ln w="12700">
            <a:solidFill>
              <a:srgbClr val="FFFFFF">
                <a:alpha val="0"/>
              </a:srgbClr>
            </a:solidFill>
            <a:prstDash val="solid"/>
          </a:ln>
        </p:spPr>
      </p:sp>
      <p:sp>
        <p:nvSpPr>
          <p:cNvPr id="7" name="Shape 5"/>
          <p:cNvSpPr/>
          <p:nvPr/>
        </p:nvSpPr>
        <p:spPr>
          <a:xfrm>
            <a:off x="1920240" y="3063240"/>
            <a:ext cx="100584" cy="100584"/>
          </a:xfrm>
          <a:prstGeom prst="ellipse">
            <a:avLst/>
          </a:prstGeom>
          <a:solidFill>
            <a:srgbClr val="FFFFFF"/>
          </a:solidFill>
          <a:ln w="12700">
            <a:solidFill>
              <a:srgbClr val="FFFFFF">
                <a:alpha val="0"/>
              </a:srgbClr>
            </a:solidFill>
            <a:prstDash val="solid"/>
          </a:ln>
        </p:spPr>
      </p:sp>
      <p:sp>
        <p:nvSpPr>
          <p:cNvPr id="8" name="Shape 6"/>
          <p:cNvSpPr/>
          <p:nvPr/>
        </p:nvSpPr>
        <p:spPr>
          <a:xfrm>
            <a:off x="2331720" y="3063240"/>
            <a:ext cx="100584" cy="100584"/>
          </a:xfrm>
          <a:prstGeom prst="ellipse">
            <a:avLst/>
          </a:prstGeom>
          <a:solidFill>
            <a:srgbClr val="E76F51"/>
          </a:solidFill>
          <a:ln w="12700">
            <a:solidFill>
              <a:srgbClr val="FFFFFF">
                <a:alpha val="0"/>
              </a:srgbClr>
            </a:solidFill>
            <a:prstDash val="solid"/>
          </a:ln>
        </p:spPr>
      </p:sp>
      <p:sp>
        <p:nvSpPr>
          <p:cNvPr id="9" name="Shape 7"/>
          <p:cNvSpPr/>
          <p:nvPr/>
        </p:nvSpPr>
        <p:spPr>
          <a:xfrm>
            <a:off x="2743200" y="3063240"/>
            <a:ext cx="100584" cy="100584"/>
          </a:xfrm>
          <a:prstGeom prst="ellipse">
            <a:avLst/>
          </a:prstGeom>
          <a:solidFill>
            <a:srgbClr val="6BBF9B"/>
          </a:solidFill>
          <a:ln w="12700">
            <a:solidFill>
              <a:srgbClr val="FFFFFF">
                <a:alpha val="0"/>
              </a:srgbClr>
            </a:solidFill>
            <a:prstDash val="solid"/>
          </a:ln>
        </p:spPr>
      </p:sp>
      <p:sp>
        <p:nvSpPr>
          <p:cNvPr id="10" name="Shape 8"/>
          <p:cNvSpPr/>
          <p:nvPr/>
        </p:nvSpPr>
        <p:spPr>
          <a:xfrm>
            <a:off x="3154680" y="3063240"/>
            <a:ext cx="100584" cy="100584"/>
          </a:xfrm>
          <a:prstGeom prst="ellipse">
            <a:avLst/>
          </a:prstGeom>
          <a:solidFill>
            <a:srgbClr val="FFFFFF"/>
          </a:solidFill>
          <a:ln w="12700">
            <a:solidFill>
              <a:srgbClr val="FFFFFF">
                <a:alpha val="0"/>
              </a:srgbClr>
            </a:solidFill>
            <a:prstDash val="solid"/>
          </a:ln>
        </p:spPr>
      </p:sp>
      <p:sp>
        <p:nvSpPr>
          <p:cNvPr id="11" name="Shape 9"/>
          <p:cNvSpPr/>
          <p:nvPr/>
        </p:nvSpPr>
        <p:spPr>
          <a:xfrm>
            <a:off x="3566160" y="3063240"/>
            <a:ext cx="100584" cy="100584"/>
          </a:xfrm>
          <a:prstGeom prst="ellipse">
            <a:avLst/>
          </a:prstGeom>
          <a:solidFill>
            <a:srgbClr val="E76F51"/>
          </a:solidFill>
          <a:ln w="12700">
            <a:solidFill>
              <a:srgbClr val="FFFFFF">
                <a:alpha val="0"/>
              </a:srgbClr>
            </a:solidFill>
            <a:prstDash val="solid"/>
          </a:ln>
        </p:spPr>
      </p:sp>
      <p:sp>
        <p:nvSpPr>
          <p:cNvPr id="12" name="Shape 10"/>
          <p:cNvSpPr/>
          <p:nvPr/>
        </p:nvSpPr>
        <p:spPr>
          <a:xfrm>
            <a:off x="3977640" y="3063240"/>
            <a:ext cx="100584" cy="100584"/>
          </a:xfrm>
          <a:prstGeom prst="ellipse">
            <a:avLst/>
          </a:prstGeom>
          <a:solidFill>
            <a:srgbClr val="6BBF9B"/>
          </a:solidFill>
          <a:ln w="12700">
            <a:solidFill>
              <a:srgbClr val="FFFFFF">
                <a:alpha val="0"/>
              </a:srgbClr>
            </a:solidFill>
            <a:prstDash val="solid"/>
          </a:ln>
        </p:spPr>
      </p:sp>
      <p:sp>
        <p:nvSpPr>
          <p:cNvPr id="13" name="Shape 11"/>
          <p:cNvSpPr/>
          <p:nvPr/>
        </p:nvSpPr>
        <p:spPr>
          <a:xfrm>
            <a:off x="4389120" y="3063240"/>
            <a:ext cx="100584" cy="100584"/>
          </a:xfrm>
          <a:prstGeom prst="ellipse">
            <a:avLst/>
          </a:prstGeom>
          <a:solidFill>
            <a:srgbClr val="FFFFFF"/>
          </a:solidFill>
          <a:ln w="12700">
            <a:solidFill>
              <a:srgbClr val="FFFFFF">
                <a:alpha val="0"/>
              </a:srgbClr>
            </a:solidFill>
            <a:prstDash val="solid"/>
          </a:ln>
        </p:spPr>
      </p:sp>
      <p:sp>
        <p:nvSpPr>
          <p:cNvPr id="14" name="Shape 12"/>
          <p:cNvSpPr/>
          <p:nvPr/>
        </p:nvSpPr>
        <p:spPr>
          <a:xfrm>
            <a:off x="1097280" y="3319272"/>
            <a:ext cx="100584" cy="100584"/>
          </a:xfrm>
          <a:prstGeom prst="ellipse">
            <a:avLst/>
          </a:prstGeom>
          <a:solidFill>
            <a:srgbClr val="E76F51"/>
          </a:solidFill>
          <a:ln w="12700">
            <a:solidFill>
              <a:srgbClr val="FFFFFF">
                <a:alpha val="0"/>
              </a:srgbClr>
            </a:solidFill>
            <a:prstDash val="solid"/>
          </a:ln>
        </p:spPr>
      </p:sp>
      <p:sp>
        <p:nvSpPr>
          <p:cNvPr id="15" name="Shape 13"/>
          <p:cNvSpPr/>
          <p:nvPr/>
        </p:nvSpPr>
        <p:spPr>
          <a:xfrm>
            <a:off x="1508760" y="3319272"/>
            <a:ext cx="100584" cy="100584"/>
          </a:xfrm>
          <a:prstGeom prst="ellipse">
            <a:avLst/>
          </a:prstGeom>
          <a:solidFill>
            <a:srgbClr val="6BBF9B"/>
          </a:solidFill>
          <a:ln w="12700">
            <a:solidFill>
              <a:srgbClr val="FFFFFF">
                <a:alpha val="0"/>
              </a:srgbClr>
            </a:solidFill>
            <a:prstDash val="solid"/>
          </a:ln>
        </p:spPr>
      </p:sp>
      <p:sp>
        <p:nvSpPr>
          <p:cNvPr id="16" name="Shape 14"/>
          <p:cNvSpPr/>
          <p:nvPr/>
        </p:nvSpPr>
        <p:spPr>
          <a:xfrm>
            <a:off x="1920240" y="3319272"/>
            <a:ext cx="100584" cy="100584"/>
          </a:xfrm>
          <a:prstGeom prst="ellipse">
            <a:avLst/>
          </a:prstGeom>
          <a:solidFill>
            <a:srgbClr val="FFFFFF"/>
          </a:solidFill>
          <a:ln w="12700">
            <a:solidFill>
              <a:srgbClr val="FFFFFF">
                <a:alpha val="0"/>
              </a:srgbClr>
            </a:solidFill>
            <a:prstDash val="solid"/>
          </a:ln>
        </p:spPr>
      </p:sp>
      <p:sp>
        <p:nvSpPr>
          <p:cNvPr id="17" name="Shape 15"/>
          <p:cNvSpPr/>
          <p:nvPr/>
        </p:nvSpPr>
        <p:spPr>
          <a:xfrm>
            <a:off x="2331720" y="3319272"/>
            <a:ext cx="100584" cy="100584"/>
          </a:xfrm>
          <a:prstGeom prst="ellipse">
            <a:avLst/>
          </a:prstGeom>
          <a:solidFill>
            <a:srgbClr val="E76F51"/>
          </a:solidFill>
          <a:ln w="12700">
            <a:solidFill>
              <a:srgbClr val="FFFFFF">
                <a:alpha val="0"/>
              </a:srgbClr>
            </a:solidFill>
            <a:prstDash val="solid"/>
          </a:ln>
        </p:spPr>
      </p:sp>
      <p:sp>
        <p:nvSpPr>
          <p:cNvPr id="18" name="Shape 16"/>
          <p:cNvSpPr/>
          <p:nvPr/>
        </p:nvSpPr>
        <p:spPr>
          <a:xfrm>
            <a:off x="2743200" y="3319272"/>
            <a:ext cx="100584" cy="100584"/>
          </a:xfrm>
          <a:prstGeom prst="ellipse">
            <a:avLst/>
          </a:prstGeom>
          <a:solidFill>
            <a:srgbClr val="6BBF9B"/>
          </a:solidFill>
          <a:ln w="12700">
            <a:solidFill>
              <a:srgbClr val="FFFFFF">
                <a:alpha val="0"/>
              </a:srgbClr>
            </a:solidFill>
            <a:prstDash val="solid"/>
          </a:ln>
        </p:spPr>
      </p:sp>
      <p:sp>
        <p:nvSpPr>
          <p:cNvPr id="19" name="Shape 17"/>
          <p:cNvSpPr/>
          <p:nvPr/>
        </p:nvSpPr>
        <p:spPr>
          <a:xfrm>
            <a:off x="3154680" y="3319272"/>
            <a:ext cx="100584" cy="100584"/>
          </a:xfrm>
          <a:prstGeom prst="ellipse">
            <a:avLst/>
          </a:prstGeom>
          <a:solidFill>
            <a:srgbClr val="FFFFFF"/>
          </a:solidFill>
          <a:ln w="12700">
            <a:solidFill>
              <a:srgbClr val="FFFFFF">
                <a:alpha val="0"/>
              </a:srgbClr>
            </a:solidFill>
            <a:prstDash val="solid"/>
          </a:ln>
        </p:spPr>
      </p:sp>
      <p:sp>
        <p:nvSpPr>
          <p:cNvPr id="20" name="Shape 18"/>
          <p:cNvSpPr/>
          <p:nvPr/>
        </p:nvSpPr>
        <p:spPr>
          <a:xfrm>
            <a:off x="3566160" y="3319272"/>
            <a:ext cx="100584" cy="100584"/>
          </a:xfrm>
          <a:prstGeom prst="ellipse">
            <a:avLst/>
          </a:prstGeom>
          <a:solidFill>
            <a:srgbClr val="E76F51"/>
          </a:solidFill>
          <a:ln w="12700">
            <a:solidFill>
              <a:srgbClr val="FFFFFF">
                <a:alpha val="0"/>
              </a:srgbClr>
            </a:solidFill>
            <a:prstDash val="solid"/>
          </a:ln>
        </p:spPr>
      </p:sp>
      <p:sp>
        <p:nvSpPr>
          <p:cNvPr id="21" name="Shape 19"/>
          <p:cNvSpPr/>
          <p:nvPr/>
        </p:nvSpPr>
        <p:spPr>
          <a:xfrm>
            <a:off x="3977640" y="3319272"/>
            <a:ext cx="100584" cy="100584"/>
          </a:xfrm>
          <a:prstGeom prst="ellipse">
            <a:avLst/>
          </a:prstGeom>
          <a:solidFill>
            <a:srgbClr val="6BBF9B"/>
          </a:solidFill>
          <a:ln w="12700">
            <a:solidFill>
              <a:srgbClr val="FFFFFF">
                <a:alpha val="0"/>
              </a:srgbClr>
            </a:solidFill>
            <a:prstDash val="solid"/>
          </a:ln>
        </p:spPr>
      </p:sp>
      <p:sp>
        <p:nvSpPr>
          <p:cNvPr id="22" name="Shape 20"/>
          <p:cNvSpPr/>
          <p:nvPr/>
        </p:nvSpPr>
        <p:spPr>
          <a:xfrm>
            <a:off x="4389120" y="3319272"/>
            <a:ext cx="100584" cy="100584"/>
          </a:xfrm>
          <a:prstGeom prst="ellipse">
            <a:avLst/>
          </a:prstGeom>
          <a:solidFill>
            <a:srgbClr val="FFFFFF"/>
          </a:solidFill>
          <a:ln w="12700">
            <a:solidFill>
              <a:srgbClr val="FFFFFF">
                <a:alpha val="0"/>
              </a:srgbClr>
            </a:solidFill>
            <a:prstDash val="solid"/>
          </a:ln>
        </p:spPr>
      </p:sp>
      <p:sp>
        <p:nvSpPr>
          <p:cNvPr id="23" name="Shape 21"/>
          <p:cNvSpPr/>
          <p:nvPr/>
        </p:nvSpPr>
        <p:spPr>
          <a:xfrm>
            <a:off x="1097280" y="3575304"/>
            <a:ext cx="100584" cy="100584"/>
          </a:xfrm>
          <a:prstGeom prst="ellipse">
            <a:avLst/>
          </a:prstGeom>
          <a:solidFill>
            <a:srgbClr val="E76F51"/>
          </a:solidFill>
          <a:ln w="12700">
            <a:solidFill>
              <a:srgbClr val="FFFFFF">
                <a:alpha val="0"/>
              </a:srgbClr>
            </a:solidFill>
            <a:prstDash val="solid"/>
          </a:ln>
        </p:spPr>
      </p:sp>
      <p:sp>
        <p:nvSpPr>
          <p:cNvPr id="24" name="Shape 22"/>
          <p:cNvSpPr/>
          <p:nvPr/>
        </p:nvSpPr>
        <p:spPr>
          <a:xfrm>
            <a:off x="1508760" y="3575304"/>
            <a:ext cx="100584" cy="100584"/>
          </a:xfrm>
          <a:prstGeom prst="ellipse">
            <a:avLst/>
          </a:prstGeom>
          <a:solidFill>
            <a:srgbClr val="6BBF9B"/>
          </a:solidFill>
          <a:ln w="12700">
            <a:solidFill>
              <a:srgbClr val="FFFFFF">
                <a:alpha val="0"/>
              </a:srgbClr>
            </a:solidFill>
            <a:prstDash val="solid"/>
          </a:ln>
        </p:spPr>
      </p:sp>
      <p:sp>
        <p:nvSpPr>
          <p:cNvPr id="25" name="Shape 23"/>
          <p:cNvSpPr/>
          <p:nvPr/>
        </p:nvSpPr>
        <p:spPr>
          <a:xfrm>
            <a:off x="1920240" y="3575304"/>
            <a:ext cx="100584" cy="100584"/>
          </a:xfrm>
          <a:prstGeom prst="ellipse">
            <a:avLst/>
          </a:prstGeom>
          <a:solidFill>
            <a:srgbClr val="FFFFFF"/>
          </a:solidFill>
          <a:ln w="12700">
            <a:solidFill>
              <a:srgbClr val="FFFFFF">
                <a:alpha val="0"/>
              </a:srgbClr>
            </a:solidFill>
            <a:prstDash val="solid"/>
          </a:ln>
        </p:spPr>
      </p:sp>
      <p:sp>
        <p:nvSpPr>
          <p:cNvPr id="26" name="Shape 24"/>
          <p:cNvSpPr/>
          <p:nvPr/>
        </p:nvSpPr>
        <p:spPr>
          <a:xfrm>
            <a:off x="2331720" y="3575304"/>
            <a:ext cx="100584" cy="100584"/>
          </a:xfrm>
          <a:prstGeom prst="ellipse">
            <a:avLst/>
          </a:prstGeom>
          <a:solidFill>
            <a:srgbClr val="E76F51"/>
          </a:solidFill>
          <a:ln w="12700">
            <a:solidFill>
              <a:srgbClr val="FFFFFF">
                <a:alpha val="0"/>
              </a:srgbClr>
            </a:solidFill>
            <a:prstDash val="solid"/>
          </a:ln>
        </p:spPr>
      </p:sp>
      <p:sp>
        <p:nvSpPr>
          <p:cNvPr id="27" name="Shape 25"/>
          <p:cNvSpPr/>
          <p:nvPr/>
        </p:nvSpPr>
        <p:spPr>
          <a:xfrm>
            <a:off x="2743200" y="3575304"/>
            <a:ext cx="100584" cy="100584"/>
          </a:xfrm>
          <a:prstGeom prst="ellipse">
            <a:avLst/>
          </a:prstGeom>
          <a:solidFill>
            <a:srgbClr val="6BBF9B"/>
          </a:solidFill>
          <a:ln w="12700">
            <a:solidFill>
              <a:srgbClr val="FFFFFF">
                <a:alpha val="0"/>
              </a:srgbClr>
            </a:solidFill>
            <a:prstDash val="solid"/>
          </a:ln>
        </p:spPr>
      </p:sp>
      <p:sp>
        <p:nvSpPr>
          <p:cNvPr id="28" name="Shape 26"/>
          <p:cNvSpPr/>
          <p:nvPr/>
        </p:nvSpPr>
        <p:spPr>
          <a:xfrm>
            <a:off x="3154680" y="3575304"/>
            <a:ext cx="100584" cy="100584"/>
          </a:xfrm>
          <a:prstGeom prst="ellipse">
            <a:avLst/>
          </a:prstGeom>
          <a:solidFill>
            <a:srgbClr val="FFFFFF"/>
          </a:solidFill>
          <a:ln w="12700">
            <a:solidFill>
              <a:srgbClr val="FFFFFF">
                <a:alpha val="0"/>
              </a:srgbClr>
            </a:solidFill>
            <a:prstDash val="solid"/>
          </a:ln>
        </p:spPr>
      </p:sp>
      <p:sp>
        <p:nvSpPr>
          <p:cNvPr id="29" name="Shape 27"/>
          <p:cNvSpPr/>
          <p:nvPr/>
        </p:nvSpPr>
        <p:spPr>
          <a:xfrm>
            <a:off x="3566160" y="3575304"/>
            <a:ext cx="100584" cy="100584"/>
          </a:xfrm>
          <a:prstGeom prst="ellipse">
            <a:avLst/>
          </a:prstGeom>
          <a:solidFill>
            <a:srgbClr val="E76F51"/>
          </a:solidFill>
          <a:ln w="12700">
            <a:solidFill>
              <a:srgbClr val="FFFFFF">
                <a:alpha val="0"/>
              </a:srgbClr>
            </a:solidFill>
            <a:prstDash val="solid"/>
          </a:ln>
        </p:spPr>
      </p:sp>
      <p:sp>
        <p:nvSpPr>
          <p:cNvPr id="30" name="Shape 28"/>
          <p:cNvSpPr/>
          <p:nvPr/>
        </p:nvSpPr>
        <p:spPr>
          <a:xfrm>
            <a:off x="3977640" y="3575304"/>
            <a:ext cx="100584" cy="100584"/>
          </a:xfrm>
          <a:prstGeom prst="ellipse">
            <a:avLst/>
          </a:prstGeom>
          <a:solidFill>
            <a:srgbClr val="6BBF9B"/>
          </a:solidFill>
          <a:ln w="12700">
            <a:solidFill>
              <a:srgbClr val="FFFFFF">
                <a:alpha val="0"/>
              </a:srgbClr>
            </a:solidFill>
            <a:prstDash val="solid"/>
          </a:ln>
        </p:spPr>
      </p:sp>
      <p:sp>
        <p:nvSpPr>
          <p:cNvPr id="31" name="Shape 29"/>
          <p:cNvSpPr/>
          <p:nvPr/>
        </p:nvSpPr>
        <p:spPr>
          <a:xfrm>
            <a:off x="4389120" y="3575304"/>
            <a:ext cx="100584" cy="100584"/>
          </a:xfrm>
          <a:prstGeom prst="ellipse">
            <a:avLst/>
          </a:prstGeom>
          <a:solidFill>
            <a:srgbClr val="FFFFFF"/>
          </a:solidFill>
          <a:ln w="12700">
            <a:solidFill>
              <a:srgbClr val="FFFFFF">
                <a:alpha val="0"/>
              </a:srgbClr>
            </a:solidFill>
            <a:prstDash val="solid"/>
          </a:ln>
        </p:spPr>
      </p:sp>
      <p:sp>
        <p:nvSpPr>
          <p:cNvPr id="32" name="Shape 30"/>
          <p:cNvSpPr/>
          <p:nvPr/>
        </p:nvSpPr>
        <p:spPr>
          <a:xfrm>
            <a:off x="1097280" y="3831336"/>
            <a:ext cx="100584" cy="100584"/>
          </a:xfrm>
          <a:prstGeom prst="ellipse">
            <a:avLst/>
          </a:prstGeom>
          <a:solidFill>
            <a:srgbClr val="E76F51"/>
          </a:solidFill>
          <a:ln w="12700">
            <a:solidFill>
              <a:srgbClr val="FFFFFF">
                <a:alpha val="0"/>
              </a:srgbClr>
            </a:solidFill>
            <a:prstDash val="solid"/>
          </a:ln>
        </p:spPr>
      </p:sp>
      <p:sp>
        <p:nvSpPr>
          <p:cNvPr id="33" name="Shape 31"/>
          <p:cNvSpPr/>
          <p:nvPr/>
        </p:nvSpPr>
        <p:spPr>
          <a:xfrm>
            <a:off x="1508760" y="3831336"/>
            <a:ext cx="100584" cy="100584"/>
          </a:xfrm>
          <a:prstGeom prst="ellipse">
            <a:avLst/>
          </a:prstGeom>
          <a:solidFill>
            <a:srgbClr val="6BBF9B"/>
          </a:solidFill>
          <a:ln w="12700">
            <a:solidFill>
              <a:srgbClr val="FFFFFF">
                <a:alpha val="0"/>
              </a:srgbClr>
            </a:solidFill>
            <a:prstDash val="solid"/>
          </a:ln>
        </p:spPr>
      </p:sp>
      <p:sp>
        <p:nvSpPr>
          <p:cNvPr id="34" name="Shape 32"/>
          <p:cNvSpPr/>
          <p:nvPr/>
        </p:nvSpPr>
        <p:spPr>
          <a:xfrm>
            <a:off x="1920240" y="3831336"/>
            <a:ext cx="100584" cy="100584"/>
          </a:xfrm>
          <a:prstGeom prst="ellipse">
            <a:avLst/>
          </a:prstGeom>
          <a:solidFill>
            <a:srgbClr val="FFFFFF"/>
          </a:solidFill>
          <a:ln w="12700">
            <a:solidFill>
              <a:srgbClr val="FFFFFF">
                <a:alpha val="0"/>
              </a:srgbClr>
            </a:solidFill>
            <a:prstDash val="solid"/>
          </a:ln>
        </p:spPr>
      </p:sp>
      <p:sp>
        <p:nvSpPr>
          <p:cNvPr id="35" name="Shape 33"/>
          <p:cNvSpPr/>
          <p:nvPr/>
        </p:nvSpPr>
        <p:spPr>
          <a:xfrm>
            <a:off x="2331720" y="3831336"/>
            <a:ext cx="100584" cy="100584"/>
          </a:xfrm>
          <a:prstGeom prst="ellipse">
            <a:avLst/>
          </a:prstGeom>
          <a:solidFill>
            <a:srgbClr val="E76F51"/>
          </a:solidFill>
          <a:ln w="12700">
            <a:solidFill>
              <a:srgbClr val="FFFFFF">
                <a:alpha val="0"/>
              </a:srgbClr>
            </a:solidFill>
            <a:prstDash val="solid"/>
          </a:ln>
        </p:spPr>
      </p:sp>
      <p:sp>
        <p:nvSpPr>
          <p:cNvPr id="36" name="Shape 34"/>
          <p:cNvSpPr/>
          <p:nvPr/>
        </p:nvSpPr>
        <p:spPr>
          <a:xfrm>
            <a:off x="2743200" y="3831336"/>
            <a:ext cx="100584" cy="100584"/>
          </a:xfrm>
          <a:prstGeom prst="ellipse">
            <a:avLst/>
          </a:prstGeom>
          <a:solidFill>
            <a:srgbClr val="6BBF9B"/>
          </a:solidFill>
          <a:ln w="12700">
            <a:solidFill>
              <a:srgbClr val="FFFFFF">
                <a:alpha val="0"/>
              </a:srgbClr>
            </a:solidFill>
            <a:prstDash val="solid"/>
          </a:ln>
        </p:spPr>
      </p:sp>
      <p:sp>
        <p:nvSpPr>
          <p:cNvPr id="37" name="Shape 35"/>
          <p:cNvSpPr/>
          <p:nvPr/>
        </p:nvSpPr>
        <p:spPr>
          <a:xfrm>
            <a:off x="3154680" y="3831336"/>
            <a:ext cx="100584" cy="100584"/>
          </a:xfrm>
          <a:prstGeom prst="ellipse">
            <a:avLst/>
          </a:prstGeom>
          <a:solidFill>
            <a:srgbClr val="FFFFFF"/>
          </a:solidFill>
          <a:ln w="12700">
            <a:solidFill>
              <a:srgbClr val="FFFFFF">
                <a:alpha val="0"/>
              </a:srgbClr>
            </a:solidFill>
            <a:prstDash val="solid"/>
          </a:ln>
        </p:spPr>
      </p:sp>
      <p:sp>
        <p:nvSpPr>
          <p:cNvPr id="38" name="Shape 36"/>
          <p:cNvSpPr/>
          <p:nvPr/>
        </p:nvSpPr>
        <p:spPr>
          <a:xfrm>
            <a:off x="3566160" y="3831336"/>
            <a:ext cx="100584" cy="100584"/>
          </a:xfrm>
          <a:prstGeom prst="ellipse">
            <a:avLst/>
          </a:prstGeom>
          <a:solidFill>
            <a:srgbClr val="E76F51"/>
          </a:solidFill>
          <a:ln w="12700">
            <a:solidFill>
              <a:srgbClr val="FFFFFF">
                <a:alpha val="0"/>
              </a:srgbClr>
            </a:solidFill>
            <a:prstDash val="solid"/>
          </a:ln>
        </p:spPr>
      </p:sp>
      <p:sp>
        <p:nvSpPr>
          <p:cNvPr id="39" name="Shape 37"/>
          <p:cNvSpPr/>
          <p:nvPr/>
        </p:nvSpPr>
        <p:spPr>
          <a:xfrm>
            <a:off x="3977640" y="3831336"/>
            <a:ext cx="100584" cy="100584"/>
          </a:xfrm>
          <a:prstGeom prst="ellipse">
            <a:avLst/>
          </a:prstGeom>
          <a:solidFill>
            <a:srgbClr val="6BBF9B"/>
          </a:solidFill>
          <a:ln w="12700">
            <a:solidFill>
              <a:srgbClr val="FFFFFF">
                <a:alpha val="0"/>
              </a:srgbClr>
            </a:solidFill>
            <a:prstDash val="solid"/>
          </a:ln>
        </p:spPr>
      </p:sp>
      <p:sp>
        <p:nvSpPr>
          <p:cNvPr id="40" name="Shape 38"/>
          <p:cNvSpPr/>
          <p:nvPr/>
        </p:nvSpPr>
        <p:spPr>
          <a:xfrm>
            <a:off x="4389120" y="3831336"/>
            <a:ext cx="100584" cy="100584"/>
          </a:xfrm>
          <a:prstGeom prst="ellipse">
            <a:avLst/>
          </a:prstGeom>
          <a:solidFill>
            <a:srgbClr val="FFFFFF"/>
          </a:solidFill>
          <a:ln w="12700">
            <a:solidFill>
              <a:srgbClr val="FFFFFF">
                <a:alpha val="0"/>
              </a:srgbClr>
            </a:solidFill>
            <a:prstDash val="solid"/>
          </a:ln>
        </p:spPr>
      </p:sp>
      <p:sp>
        <p:nvSpPr>
          <p:cNvPr id="41" name="Shape 39"/>
          <p:cNvSpPr/>
          <p:nvPr/>
        </p:nvSpPr>
        <p:spPr>
          <a:xfrm>
            <a:off x="1097280" y="4087368"/>
            <a:ext cx="100584" cy="100584"/>
          </a:xfrm>
          <a:prstGeom prst="ellipse">
            <a:avLst/>
          </a:prstGeom>
          <a:solidFill>
            <a:srgbClr val="E76F51"/>
          </a:solidFill>
          <a:ln w="12700">
            <a:solidFill>
              <a:srgbClr val="FFFFFF">
                <a:alpha val="0"/>
              </a:srgbClr>
            </a:solidFill>
            <a:prstDash val="solid"/>
          </a:ln>
        </p:spPr>
      </p:sp>
      <p:sp>
        <p:nvSpPr>
          <p:cNvPr id="42" name="Shape 40"/>
          <p:cNvSpPr/>
          <p:nvPr/>
        </p:nvSpPr>
        <p:spPr>
          <a:xfrm>
            <a:off x="1508760" y="4087368"/>
            <a:ext cx="100584" cy="100584"/>
          </a:xfrm>
          <a:prstGeom prst="ellipse">
            <a:avLst/>
          </a:prstGeom>
          <a:solidFill>
            <a:srgbClr val="6BBF9B"/>
          </a:solidFill>
          <a:ln w="12700">
            <a:solidFill>
              <a:srgbClr val="FFFFFF">
                <a:alpha val="0"/>
              </a:srgbClr>
            </a:solidFill>
            <a:prstDash val="solid"/>
          </a:ln>
        </p:spPr>
      </p:sp>
      <p:sp>
        <p:nvSpPr>
          <p:cNvPr id="43" name="Shape 41"/>
          <p:cNvSpPr/>
          <p:nvPr/>
        </p:nvSpPr>
        <p:spPr>
          <a:xfrm>
            <a:off x="1920240" y="4087368"/>
            <a:ext cx="100584" cy="100584"/>
          </a:xfrm>
          <a:prstGeom prst="ellipse">
            <a:avLst/>
          </a:prstGeom>
          <a:solidFill>
            <a:srgbClr val="FFFFFF"/>
          </a:solidFill>
          <a:ln w="12700">
            <a:solidFill>
              <a:srgbClr val="FFFFFF">
                <a:alpha val="0"/>
              </a:srgbClr>
            </a:solidFill>
            <a:prstDash val="solid"/>
          </a:ln>
        </p:spPr>
      </p:sp>
      <p:sp>
        <p:nvSpPr>
          <p:cNvPr id="44" name="Shape 42"/>
          <p:cNvSpPr/>
          <p:nvPr/>
        </p:nvSpPr>
        <p:spPr>
          <a:xfrm>
            <a:off x="2331720" y="4087368"/>
            <a:ext cx="100584" cy="100584"/>
          </a:xfrm>
          <a:prstGeom prst="ellipse">
            <a:avLst/>
          </a:prstGeom>
          <a:solidFill>
            <a:srgbClr val="E76F51"/>
          </a:solidFill>
          <a:ln w="12700">
            <a:solidFill>
              <a:srgbClr val="FFFFFF">
                <a:alpha val="0"/>
              </a:srgbClr>
            </a:solidFill>
            <a:prstDash val="solid"/>
          </a:ln>
        </p:spPr>
      </p:sp>
      <p:sp>
        <p:nvSpPr>
          <p:cNvPr id="45" name="Shape 43"/>
          <p:cNvSpPr/>
          <p:nvPr/>
        </p:nvSpPr>
        <p:spPr>
          <a:xfrm>
            <a:off x="2743200" y="4087368"/>
            <a:ext cx="100584" cy="100584"/>
          </a:xfrm>
          <a:prstGeom prst="ellipse">
            <a:avLst/>
          </a:prstGeom>
          <a:solidFill>
            <a:srgbClr val="6BBF9B"/>
          </a:solidFill>
          <a:ln w="12700">
            <a:solidFill>
              <a:srgbClr val="FFFFFF">
                <a:alpha val="0"/>
              </a:srgbClr>
            </a:solidFill>
            <a:prstDash val="solid"/>
          </a:ln>
        </p:spPr>
      </p:sp>
      <p:sp>
        <p:nvSpPr>
          <p:cNvPr id="46" name="Shape 44"/>
          <p:cNvSpPr/>
          <p:nvPr/>
        </p:nvSpPr>
        <p:spPr>
          <a:xfrm>
            <a:off x="3154680" y="4087368"/>
            <a:ext cx="100584" cy="100584"/>
          </a:xfrm>
          <a:prstGeom prst="ellipse">
            <a:avLst/>
          </a:prstGeom>
          <a:solidFill>
            <a:srgbClr val="FFFFFF"/>
          </a:solidFill>
          <a:ln w="12700">
            <a:solidFill>
              <a:srgbClr val="FFFFFF">
                <a:alpha val="0"/>
              </a:srgbClr>
            </a:solidFill>
            <a:prstDash val="solid"/>
          </a:ln>
        </p:spPr>
      </p:sp>
      <p:sp>
        <p:nvSpPr>
          <p:cNvPr id="47" name="Shape 45"/>
          <p:cNvSpPr/>
          <p:nvPr/>
        </p:nvSpPr>
        <p:spPr>
          <a:xfrm>
            <a:off x="3566160" y="4087368"/>
            <a:ext cx="100584" cy="100584"/>
          </a:xfrm>
          <a:prstGeom prst="ellipse">
            <a:avLst/>
          </a:prstGeom>
          <a:solidFill>
            <a:srgbClr val="E76F51"/>
          </a:solidFill>
          <a:ln w="12700">
            <a:solidFill>
              <a:srgbClr val="FFFFFF">
                <a:alpha val="0"/>
              </a:srgbClr>
            </a:solidFill>
            <a:prstDash val="solid"/>
          </a:ln>
        </p:spPr>
      </p:sp>
      <p:sp>
        <p:nvSpPr>
          <p:cNvPr id="48" name="Shape 46"/>
          <p:cNvSpPr/>
          <p:nvPr/>
        </p:nvSpPr>
        <p:spPr>
          <a:xfrm>
            <a:off x="3977640" y="4087368"/>
            <a:ext cx="100584" cy="100584"/>
          </a:xfrm>
          <a:prstGeom prst="ellipse">
            <a:avLst/>
          </a:prstGeom>
          <a:solidFill>
            <a:srgbClr val="6BBF9B"/>
          </a:solidFill>
          <a:ln w="12700">
            <a:solidFill>
              <a:srgbClr val="FFFFFF">
                <a:alpha val="0"/>
              </a:srgbClr>
            </a:solidFill>
            <a:prstDash val="solid"/>
          </a:ln>
        </p:spPr>
      </p:sp>
      <p:sp>
        <p:nvSpPr>
          <p:cNvPr id="49" name="Shape 47"/>
          <p:cNvSpPr/>
          <p:nvPr/>
        </p:nvSpPr>
        <p:spPr>
          <a:xfrm>
            <a:off x="4389120" y="4087368"/>
            <a:ext cx="100584" cy="100584"/>
          </a:xfrm>
          <a:prstGeom prst="ellipse">
            <a:avLst/>
          </a:prstGeom>
          <a:solidFill>
            <a:srgbClr val="FFFFFF"/>
          </a:solidFill>
          <a:ln w="12700">
            <a:solidFill>
              <a:srgbClr val="FFFFFF">
                <a:alpha val="0"/>
              </a:srgbClr>
            </a:solidFill>
            <a:prstDash val="solid"/>
          </a:ln>
        </p:spPr>
      </p:sp>
      <p:sp>
        <p:nvSpPr>
          <p:cNvPr id="50" name="Text 48"/>
          <p:cNvSpPr/>
          <p:nvPr/>
        </p:nvSpPr>
        <p:spPr>
          <a:xfrm>
            <a:off x="6400800" y="1691640"/>
            <a:ext cx="3566160" cy="502920"/>
          </a:xfrm>
          <a:prstGeom prst="rect">
            <a:avLst/>
          </a:prstGeom>
          <a:noFill/>
          <a:ln/>
        </p:spPr>
        <p:txBody>
          <a:bodyPr wrap="square" lIns="0" tIns="0" rIns="0" bIns="0" rtlCol="0" anchor="ctr"/>
          <a:lstStyle/>
          <a:p>
            <a:pPr indent="0" marL="0">
              <a:buNone/>
            </a:pPr>
            <a:r>
              <a:rPr lang="en-US" sz="3200" b="1" dirty="0">
                <a:solidFill>
                  <a:srgbClr val="E76F51"/>
                </a:solidFill>
              </a:rPr>
              <a:t>21:00–22:00</a:t>
            </a:r>
            <a:endParaRPr lang="en-US" sz="3200" dirty="0"/>
          </a:p>
        </p:txBody>
      </p:sp>
      <p:sp>
        <p:nvSpPr>
          <p:cNvPr id="51" name="Text 49"/>
          <p:cNvSpPr/>
          <p:nvPr/>
        </p:nvSpPr>
        <p:spPr>
          <a:xfrm>
            <a:off x="6446520" y="2423160"/>
            <a:ext cx="2057400" cy="201168"/>
          </a:xfrm>
          <a:prstGeom prst="rect">
            <a:avLst/>
          </a:prstGeom>
          <a:noFill/>
          <a:ln/>
        </p:spPr>
        <p:txBody>
          <a:bodyPr wrap="square" lIns="0" tIns="0" rIns="0" bIns="0" rtlCol="0" anchor="ctr"/>
          <a:lstStyle/>
          <a:p>
            <a:pPr indent="0" marL="0">
              <a:buNone/>
            </a:pPr>
            <a:r>
              <a:rPr lang="en-US" sz="1500" b="1" dirty="0">
                <a:solidFill>
                  <a:srgbClr val="59656F"/>
                </a:solidFill>
              </a:rPr>
              <a:t>solar gain = 0</a:t>
            </a:r>
            <a:endParaRPr lang="en-US" sz="1500" dirty="0"/>
          </a:p>
        </p:txBody>
      </p:sp>
      <p:sp>
        <p:nvSpPr>
          <p:cNvPr id="52" name="Text 50"/>
          <p:cNvSpPr/>
          <p:nvPr/>
        </p:nvSpPr>
        <p:spPr>
          <a:xfrm>
            <a:off x="6446520" y="2999232"/>
            <a:ext cx="4251960" cy="548640"/>
          </a:xfrm>
          <a:prstGeom prst="rect">
            <a:avLst/>
          </a:prstGeom>
          <a:noFill/>
          <a:ln/>
        </p:spPr>
        <p:txBody>
          <a:bodyPr wrap="square" lIns="0" tIns="0" rIns="0" bIns="0" rtlCol="0" anchor="ctr">
            <a:normAutofit/>
          </a:bodyPr>
          <a:lstStyle/>
          <a:p>
            <a:pPr indent="0" marL="0">
              <a:buNone/>
            </a:pPr>
            <a:r>
              <a:rPr lang="en-US" sz="1800" b="1" dirty="0">
                <a:solidFill>
                  <a:srgbClr val="153243"/>
                </a:solidFill>
              </a:rPr>
              <a:t>dominant load: people + entertainment lighting + latent heat</a:t>
            </a:r>
            <a:endParaRPr lang="en-US" sz="1800" dirty="0"/>
          </a:p>
        </p:txBody>
      </p:sp>
      <p:sp>
        <p:nvSpPr>
          <p:cNvPr id="53" name="Shape 51"/>
          <p:cNvSpPr/>
          <p:nvPr/>
        </p:nvSpPr>
        <p:spPr>
          <a:xfrm>
            <a:off x="6492240" y="4160520"/>
            <a:ext cx="1920240" cy="310896"/>
          </a:xfrm>
          <a:prstGeom prst="roundRect">
            <a:avLst>
              <a:gd name="adj" fmla="val 23529"/>
            </a:avLst>
          </a:prstGeom>
          <a:solidFill>
            <a:srgbClr val="4A90A4"/>
          </a:solidFill>
          <a:ln w="12700">
            <a:solidFill>
              <a:srgbClr val="4A90A4">
                <a:alpha val="0"/>
              </a:srgbClr>
            </a:solidFill>
            <a:prstDash val="solid"/>
          </a:ln>
        </p:spPr>
      </p:sp>
      <p:sp>
        <p:nvSpPr>
          <p:cNvPr id="54" name="Text 52"/>
          <p:cNvSpPr/>
          <p:nvPr/>
        </p:nvSpPr>
        <p:spPr>
          <a:xfrm>
            <a:off x="6565392" y="4238244"/>
            <a:ext cx="177393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office: solar + internal</a:t>
            </a:r>
            <a:endParaRPr lang="en-US" sz="860" dirty="0"/>
          </a:p>
        </p:txBody>
      </p:sp>
      <p:sp>
        <p:nvSpPr>
          <p:cNvPr id="55" name="Shape 53"/>
          <p:cNvSpPr/>
          <p:nvPr/>
        </p:nvSpPr>
        <p:spPr>
          <a:xfrm>
            <a:off x="8732520" y="4160520"/>
            <a:ext cx="2103120" cy="310896"/>
          </a:xfrm>
          <a:prstGeom prst="roundRect">
            <a:avLst>
              <a:gd name="adj" fmla="val 23529"/>
            </a:avLst>
          </a:prstGeom>
          <a:solidFill>
            <a:srgbClr val="E76F51"/>
          </a:solidFill>
          <a:ln w="12700">
            <a:solidFill>
              <a:srgbClr val="E76F51">
                <a:alpha val="0"/>
              </a:srgbClr>
            </a:solidFill>
            <a:prstDash val="solid"/>
          </a:ln>
        </p:spPr>
      </p:sp>
      <p:sp>
        <p:nvSpPr>
          <p:cNvPr id="56" name="Text 54"/>
          <p:cNvSpPr/>
          <p:nvPr/>
        </p:nvSpPr>
        <p:spPr>
          <a:xfrm>
            <a:off x="8805672" y="4238244"/>
            <a:ext cx="195681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nightclub: internal + latent</a:t>
            </a:r>
            <a:endParaRPr lang="en-US" sz="86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Wrong capacity creates two different failure modes</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Both undersizing and oversizing are engineering mistakes.</a:t>
            </a:r>
            <a:endParaRPr lang="en-US" sz="950" dirty="0"/>
          </a:p>
        </p:txBody>
      </p:sp>
      <p:sp>
        <p:nvSpPr>
          <p:cNvPr id="4" name="Shape 2"/>
          <p:cNvSpPr/>
          <p:nvPr/>
        </p:nvSpPr>
        <p:spPr>
          <a:xfrm>
            <a:off x="914400" y="1417320"/>
            <a:ext cx="4572000" cy="3566160"/>
          </a:xfrm>
          <a:prstGeom prst="roundRect">
            <a:avLst>
              <a:gd name="adj" fmla="val 3590"/>
            </a:avLst>
          </a:prstGeom>
          <a:solidFill>
            <a:srgbClr val="FCE8DF"/>
          </a:solidFill>
          <a:ln w="12700">
            <a:solidFill>
              <a:srgbClr val="C44536"/>
            </a:solidFill>
            <a:prstDash val="solid"/>
          </a:ln>
        </p:spPr>
      </p:sp>
      <p:sp>
        <p:nvSpPr>
          <p:cNvPr id="5" name="Text 3"/>
          <p:cNvSpPr/>
          <p:nvPr/>
        </p:nvSpPr>
        <p:spPr>
          <a:xfrm>
            <a:off x="1234440" y="1737360"/>
            <a:ext cx="2103120" cy="256032"/>
          </a:xfrm>
          <a:prstGeom prst="rect">
            <a:avLst/>
          </a:prstGeom>
          <a:noFill/>
          <a:ln/>
        </p:spPr>
        <p:txBody>
          <a:bodyPr wrap="square" lIns="0" tIns="0" rIns="0" bIns="0" rtlCol="0" anchor="ctr"/>
          <a:lstStyle/>
          <a:p>
            <a:pPr indent="0" marL="0">
              <a:buNone/>
            </a:pPr>
            <a:r>
              <a:rPr lang="en-US" sz="2200" b="1" dirty="0">
                <a:solidFill>
                  <a:srgbClr val="C44536"/>
                </a:solidFill>
              </a:rPr>
              <a:t>Undersized</a:t>
            </a:r>
            <a:endParaRPr lang="en-US" sz="2200" dirty="0"/>
          </a:p>
        </p:txBody>
      </p:sp>
      <p:sp>
        <p:nvSpPr>
          <p:cNvPr id="6" name="Text 4"/>
          <p:cNvSpPr/>
          <p:nvPr/>
        </p:nvSpPr>
        <p:spPr>
          <a:xfrm>
            <a:off x="1234440" y="2331720"/>
            <a:ext cx="3566160" cy="411480"/>
          </a:xfrm>
          <a:prstGeom prst="rect">
            <a:avLst/>
          </a:prstGeom>
          <a:noFill/>
          <a:ln/>
        </p:spPr>
        <p:txBody>
          <a:bodyPr wrap="square" lIns="0" tIns="0" rIns="0" bIns="0" rtlCol="0" anchor="ctr">
            <a:normAutofit/>
          </a:bodyPr>
          <a:lstStyle/>
          <a:p>
            <a:pPr indent="0" marL="0">
              <a:buNone/>
            </a:pPr>
            <a:r>
              <a:rPr lang="en-US" sz="1500" b="1" dirty="0">
                <a:solidFill>
                  <a:srgbClr val="17212B"/>
                </a:solidFill>
              </a:rPr>
              <a:t>Runs continuously but cannot hold setpoint at peak.</a:t>
            </a:r>
            <a:endParaRPr lang="en-US" sz="1500" dirty="0"/>
          </a:p>
        </p:txBody>
      </p:sp>
      <p:sp>
        <p:nvSpPr>
          <p:cNvPr id="7" name="Text 5"/>
          <p:cNvSpPr/>
          <p:nvPr/>
        </p:nvSpPr>
        <p:spPr>
          <a:xfrm>
            <a:off x="1234440" y="3246120"/>
            <a:ext cx="3611880" cy="411480"/>
          </a:xfrm>
          <a:prstGeom prst="rect">
            <a:avLst/>
          </a:prstGeom>
          <a:noFill/>
          <a:ln/>
        </p:spPr>
        <p:txBody>
          <a:bodyPr wrap="square" lIns="0" tIns="0" rIns="0" bIns="0" rtlCol="0" anchor="ctr">
            <a:normAutofit/>
          </a:bodyPr>
          <a:lstStyle/>
          <a:p>
            <a:pPr indent="0" marL="0">
              <a:buNone/>
            </a:pPr>
            <a:r>
              <a:rPr lang="en-US" sz="1300" dirty="0">
                <a:solidFill>
                  <a:srgbClr val="59656F"/>
                </a:solidFill>
              </a:rPr>
              <a:t>Symptom: room gets warmer on the hottest or busiest hours.</a:t>
            </a:r>
            <a:endParaRPr lang="en-US" sz="1300" dirty="0"/>
          </a:p>
        </p:txBody>
      </p:sp>
      <p:sp>
        <p:nvSpPr>
          <p:cNvPr id="8" name="Shape 6"/>
          <p:cNvSpPr/>
          <p:nvPr/>
        </p:nvSpPr>
        <p:spPr>
          <a:xfrm>
            <a:off x="6400800" y="1417320"/>
            <a:ext cx="4572000" cy="3566160"/>
          </a:xfrm>
          <a:prstGeom prst="roundRect">
            <a:avLst>
              <a:gd name="adj" fmla="val 3590"/>
            </a:avLst>
          </a:prstGeom>
          <a:solidFill>
            <a:srgbClr val="DDECF0"/>
          </a:solidFill>
          <a:ln w="12700">
            <a:solidFill>
              <a:srgbClr val="4A90A4"/>
            </a:solidFill>
            <a:prstDash val="solid"/>
          </a:ln>
        </p:spPr>
      </p:sp>
      <p:sp>
        <p:nvSpPr>
          <p:cNvPr id="9" name="Text 7"/>
          <p:cNvSpPr/>
          <p:nvPr/>
        </p:nvSpPr>
        <p:spPr>
          <a:xfrm>
            <a:off x="6720840" y="1737360"/>
            <a:ext cx="2103120" cy="256032"/>
          </a:xfrm>
          <a:prstGeom prst="rect">
            <a:avLst/>
          </a:prstGeom>
          <a:noFill/>
          <a:ln/>
        </p:spPr>
        <p:txBody>
          <a:bodyPr wrap="square" lIns="0" tIns="0" rIns="0" bIns="0" rtlCol="0" anchor="ctr"/>
          <a:lstStyle/>
          <a:p>
            <a:pPr indent="0" marL="0">
              <a:buNone/>
            </a:pPr>
            <a:r>
              <a:rPr lang="en-US" sz="2200" b="1" dirty="0">
                <a:solidFill>
                  <a:srgbClr val="4A90A4"/>
                </a:solidFill>
              </a:rPr>
              <a:t>Oversized</a:t>
            </a:r>
            <a:endParaRPr lang="en-US" sz="2200" dirty="0"/>
          </a:p>
        </p:txBody>
      </p:sp>
      <p:sp>
        <p:nvSpPr>
          <p:cNvPr id="10" name="Text 8"/>
          <p:cNvSpPr/>
          <p:nvPr/>
        </p:nvSpPr>
        <p:spPr>
          <a:xfrm>
            <a:off x="6720840" y="2331720"/>
            <a:ext cx="3566160" cy="411480"/>
          </a:xfrm>
          <a:prstGeom prst="rect">
            <a:avLst/>
          </a:prstGeom>
          <a:noFill/>
          <a:ln/>
        </p:spPr>
        <p:txBody>
          <a:bodyPr wrap="square" lIns="0" tIns="0" rIns="0" bIns="0" rtlCol="0" anchor="ctr">
            <a:normAutofit/>
          </a:bodyPr>
          <a:lstStyle/>
          <a:p>
            <a:pPr indent="0" marL="0">
              <a:buNone/>
            </a:pPr>
            <a:r>
              <a:rPr lang="en-US" sz="1500" b="1" dirty="0">
                <a:solidFill>
                  <a:srgbClr val="17212B"/>
                </a:solidFill>
              </a:rPr>
              <a:t>Satisfies thermostat too quickly and short-cycles.</a:t>
            </a:r>
            <a:endParaRPr lang="en-US" sz="1500" dirty="0"/>
          </a:p>
        </p:txBody>
      </p:sp>
      <p:sp>
        <p:nvSpPr>
          <p:cNvPr id="11" name="Text 9"/>
          <p:cNvSpPr/>
          <p:nvPr/>
        </p:nvSpPr>
        <p:spPr>
          <a:xfrm>
            <a:off x="6720840" y="3246120"/>
            <a:ext cx="3611880" cy="411480"/>
          </a:xfrm>
          <a:prstGeom prst="rect">
            <a:avLst/>
          </a:prstGeom>
          <a:noFill/>
          <a:ln/>
        </p:spPr>
        <p:txBody>
          <a:bodyPr wrap="square" lIns="0" tIns="0" rIns="0" bIns="0" rtlCol="0" anchor="ctr">
            <a:normAutofit/>
          </a:bodyPr>
          <a:lstStyle/>
          <a:p>
            <a:pPr indent="0" marL="0">
              <a:buNone/>
            </a:pPr>
            <a:r>
              <a:rPr lang="en-US" sz="1300" dirty="0">
                <a:solidFill>
                  <a:srgbClr val="59656F"/>
                </a:solidFill>
              </a:rPr>
              <a:t>Symptom: cool but sticky, poor dehumidification, wasted energy.</a:t>
            </a:r>
            <a:endParaRPr lang="en-US" sz="13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Peak load calculation is a structured workflow</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Before equipment selection, calculate the hourly total.</a:t>
            </a:r>
            <a:endParaRPr lang="en-US" sz="950" dirty="0"/>
          </a:p>
        </p:txBody>
      </p:sp>
      <p:sp>
        <p:nvSpPr>
          <p:cNvPr id="4" name="Shape 2"/>
          <p:cNvSpPr/>
          <p:nvPr/>
        </p:nvSpPr>
        <p:spPr>
          <a:xfrm>
            <a:off x="685800" y="2057400"/>
            <a:ext cx="1417320" cy="960120"/>
          </a:xfrm>
          <a:prstGeom prst="roundRect">
            <a:avLst>
              <a:gd name="adj" fmla="val 11429"/>
            </a:avLst>
          </a:prstGeom>
          <a:solidFill>
            <a:srgbClr val="FFFFFF"/>
          </a:solidFill>
          <a:ln w="12700">
            <a:solidFill>
              <a:srgbClr val="59656F"/>
            </a:solidFill>
            <a:prstDash val="solid"/>
          </a:ln>
        </p:spPr>
      </p:sp>
      <p:sp>
        <p:nvSpPr>
          <p:cNvPr id="5" name="Text 3"/>
          <p:cNvSpPr/>
          <p:nvPr/>
        </p:nvSpPr>
        <p:spPr>
          <a:xfrm>
            <a:off x="77724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1</a:t>
            </a:r>
            <a:endParaRPr lang="en-US" sz="1000" dirty="0"/>
          </a:p>
        </p:txBody>
      </p:sp>
      <p:sp>
        <p:nvSpPr>
          <p:cNvPr id="6" name="Text 4"/>
          <p:cNvSpPr/>
          <p:nvPr/>
        </p:nvSpPr>
        <p:spPr>
          <a:xfrm>
            <a:off x="91440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Survey</a:t>
            </a:r>
            <a:endParaRPr lang="en-US" sz="1020" dirty="0"/>
          </a:p>
        </p:txBody>
      </p:sp>
      <p:sp>
        <p:nvSpPr>
          <p:cNvPr id="7" name="Shape 5"/>
          <p:cNvSpPr/>
          <p:nvPr/>
        </p:nvSpPr>
        <p:spPr>
          <a:xfrm>
            <a:off x="2130552" y="2542032"/>
            <a:ext cx="338328" cy="0"/>
          </a:xfrm>
          <a:prstGeom prst="line">
            <a:avLst/>
          </a:prstGeom>
          <a:noFill/>
          <a:ln w="12700">
            <a:solidFill>
              <a:srgbClr val="E76F51"/>
            </a:solidFill>
            <a:prstDash val="solid"/>
            <a:headEnd type="none"/>
            <a:tailEnd type="triangle"/>
          </a:ln>
        </p:spPr>
      </p:sp>
      <p:sp>
        <p:nvSpPr>
          <p:cNvPr id="8" name="Shape 6"/>
          <p:cNvSpPr/>
          <p:nvPr/>
        </p:nvSpPr>
        <p:spPr>
          <a:xfrm>
            <a:off x="2560320" y="2057400"/>
            <a:ext cx="1417320" cy="960120"/>
          </a:xfrm>
          <a:prstGeom prst="roundRect">
            <a:avLst>
              <a:gd name="adj" fmla="val 11429"/>
            </a:avLst>
          </a:prstGeom>
          <a:solidFill>
            <a:srgbClr val="FFFFFF"/>
          </a:solidFill>
          <a:ln w="12700">
            <a:solidFill>
              <a:srgbClr val="59656F"/>
            </a:solidFill>
            <a:prstDash val="solid"/>
          </a:ln>
        </p:spPr>
      </p:sp>
      <p:sp>
        <p:nvSpPr>
          <p:cNvPr id="9" name="Text 7"/>
          <p:cNvSpPr/>
          <p:nvPr/>
        </p:nvSpPr>
        <p:spPr>
          <a:xfrm>
            <a:off x="265176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2</a:t>
            </a:r>
            <a:endParaRPr lang="en-US" sz="1000" dirty="0"/>
          </a:p>
        </p:txBody>
      </p:sp>
      <p:sp>
        <p:nvSpPr>
          <p:cNvPr id="10" name="Text 8"/>
          <p:cNvSpPr/>
          <p:nvPr/>
        </p:nvSpPr>
        <p:spPr>
          <a:xfrm>
            <a:off x="278892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Design conditions</a:t>
            </a:r>
            <a:endParaRPr lang="en-US" sz="1020" dirty="0"/>
          </a:p>
        </p:txBody>
      </p:sp>
      <p:sp>
        <p:nvSpPr>
          <p:cNvPr id="11" name="Shape 9"/>
          <p:cNvSpPr/>
          <p:nvPr/>
        </p:nvSpPr>
        <p:spPr>
          <a:xfrm>
            <a:off x="4005072" y="2542032"/>
            <a:ext cx="338328" cy="0"/>
          </a:xfrm>
          <a:prstGeom prst="line">
            <a:avLst/>
          </a:prstGeom>
          <a:noFill/>
          <a:ln w="12700">
            <a:solidFill>
              <a:srgbClr val="E76F51"/>
            </a:solidFill>
            <a:prstDash val="solid"/>
            <a:headEnd type="none"/>
            <a:tailEnd type="triangle"/>
          </a:ln>
        </p:spPr>
      </p:sp>
      <p:sp>
        <p:nvSpPr>
          <p:cNvPr id="12" name="Shape 10"/>
          <p:cNvSpPr/>
          <p:nvPr/>
        </p:nvSpPr>
        <p:spPr>
          <a:xfrm>
            <a:off x="4434840" y="2057400"/>
            <a:ext cx="1417320" cy="960120"/>
          </a:xfrm>
          <a:prstGeom prst="roundRect">
            <a:avLst>
              <a:gd name="adj" fmla="val 11429"/>
            </a:avLst>
          </a:prstGeom>
          <a:solidFill>
            <a:srgbClr val="FFFFFF"/>
          </a:solidFill>
          <a:ln w="12700">
            <a:solidFill>
              <a:srgbClr val="59656F"/>
            </a:solidFill>
            <a:prstDash val="solid"/>
          </a:ln>
        </p:spPr>
      </p:sp>
      <p:sp>
        <p:nvSpPr>
          <p:cNvPr id="13" name="Text 11"/>
          <p:cNvSpPr/>
          <p:nvPr/>
        </p:nvSpPr>
        <p:spPr>
          <a:xfrm>
            <a:off x="452628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3</a:t>
            </a:r>
            <a:endParaRPr lang="en-US" sz="1000" dirty="0"/>
          </a:p>
        </p:txBody>
      </p:sp>
      <p:sp>
        <p:nvSpPr>
          <p:cNvPr id="14" name="Text 12"/>
          <p:cNvSpPr/>
          <p:nvPr/>
        </p:nvSpPr>
        <p:spPr>
          <a:xfrm>
            <a:off x="466344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Component loads</a:t>
            </a:r>
            <a:endParaRPr lang="en-US" sz="1020" dirty="0"/>
          </a:p>
        </p:txBody>
      </p:sp>
      <p:sp>
        <p:nvSpPr>
          <p:cNvPr id="15" name="Shape 13"/>
          <p:cNvSpPr/>
          <p:nvPr/>
        </p:nvSpPr>
        <p:spPr>
          <a:xfrm>
            <a:off x="5879592" y="2542032"/>
            <a:ext cx="338328" cy="0"/>
          </a:xfrm>
          <a:prstGeom prst="line">
            <a:avLst/>
          </a:prstGeom>
          <a:noFill/>
          <a:ln w="12700">
            <a:solidFill>
              <a:srgbClr val="E76F51"/>
            </a:solidFill>
            <a:prstDash val="solid"/>
            <a:headEnd type="none"/>
            <a:tailEnd type="triangle"/>
          </a:ln>
        </p:spPr>
      </p:sp>
      <p:sp>
        <p:nvSpPr>
          <p:cNvPr id="16" name="Shape 14"/>
          <p:cNvSpPr/>
          <p:nvPr/>
        </p:nvSpPr>
        <p:spPr>
          <a:xfrm>
            <a:off x="6309360" y="2057400"/>
            <a:ext cx="1417320" cy="960120"/>
          </a:xfrm>
          <a:prstGeom prst="roundRect">
            <a:avLst>
              <a:gd name="adj" fmla="val 11429"/>
            </a:avLst>
          </a:prstGeom>
          <a:solidFill>
            <a:srgbClr val="FFFFFF"/>
          </a:solidFill>
          <a:ln w="12700">
            <a:solidFill>
              <a:srgbClr val="59656F"/>
            </a:solidFill>
            <a:prstDash val="solid"/>
          </a:ln>
        </p:spPr>
      </p:sp>
      <p:sp>
        <p:nvSpPr>
          <p:cNvPr id="17" name="Text 15"/>
          <p:cNvSpPr/>
          <p:nvPr/>
        </p:nvSpPr>
        <p:spPr>
          <a:xfrm>
            <a:off x="640080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4</a:t>
            </a:r>
            <a:endParaRPr lang="en-US" sz="1000" dirty="0"/>
          </a:p>
        </p:txBody>
      </p:sp>
      <p:sp>
        <p:nvSpPr>
          <p:cNvPr id="18" name="Text 16"/>
          <p:cNvSpPr/>
          <p:nvPr/>
        </p:nvSpPr>
        <p:spPr>
          <a:xfrm>
            <a:off x="653796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Hourly totals</a:t>
            </a:r>
            <a:endParaRPr lang="en-US" sz="1020" dirty="0"/>
          </a:p>
        </p:txBody>
      </p:sp>
      <p:sp>
        <p:nvSpPr>
          <p:cNvPr id="19" name="Shape 17"/>
          <p:cNvSpPr/>
          <p:nvPr/>
        </p:nvSpPr>
        <p:spPr>
          <a:xfrm>
            <a:off x="7754112" y="2542032"/>
            <a:ext cx="338328" cy="0"/>
          </a:xfrm>
          <a:prstGeom prst="line">
            <a:avLst/>
          </a:prstGeom>
          <a:noFill/>
          <a:ln w="12700">
            <a:solidFill>
              <a:srgbClr val="E76F51"/>
            </a:solidFill>
            <a:prstDash val="solid"/>
            <a:headEnd type="none"/>
            <a:tailEnd type="triangle"/>
          </a:ln>
        </p:spPr>
      </p:sp>
      <p:sp>
        <p:nvSpPr>
          <p:cNvPr id="20" name="Shape 18"/>
          <p:cNvSpPr/>
          <p:nvPr/>
        </p:nvSpPr>
        <p:spPr>
          <a:xfrm>
            <a:off x="8183880" y="2057400"/>
            <a:ext cx="1417320" cy="960120"/>
          </a:xfrm>
          <a:prstGeom prst="roundRect">
            <a:avLst>
              <a:gd name="adj" fmla="val 11429"/>
            </a:avLst>
          </a:prstGeom>
          <a:solidFill>
            <a:srgbClr val="FFFFFF"/>
          </a:solidFill>
          <a:ln w="12700">
            <a:solidFill>
              <a:srgbClr val="59656F"/>
            </a:solidFill>
            <a:prstDash val="solid"/>
          </a:ln>
        </p:spPr>
      </p:sp>
      <p:sp>
        <p:nvSpPr>
          <p:cNvPr id="21" name="Text 19"/>
          <p:cNvSpPr/>
          <p:nvPr/>
        </p:nvSpPr>
        <p:spPr>
          <a:xfrm>
            <a:off x="827532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5</a:t>
            </a:r>
            <a:endParaRPr lang="en-US" sz="1000" dirty="0"/>
          </a:p>
        </p:txBody>
      </p:sp>
      <p:sp>
        <p:nvSpPr>
          <p:cNvPr id="22" name="Text 20"/>
          <p:cNvSpPr/>
          <p:nvPr/>
        </p:nvSpPr>
        <p:spPr>
          <a:xfrm>
            <a:off x="841248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Find maximum</a:t>
            </a:r>
            <a:endParaRPr lang="en-US" sz="1020" dirty="0"/>
          </a:p>
        </p:txBody>
      </p:sp>
      <p:sp>
        <p:nvSpPr>
          <p:cNvPr id="23" name="Shape 21"/>
          <p:cNvSpPr/>
          <p:nvPr/>
        </p:nvSpPr>
        <p:spPr>
          <a:xfrm>
            <a:off x="9628632" y="2542032"/>
            <a:ext cx="338328" cy="0"/>
          </a:xfrm>
          <a:prstGeom prst="line">
            <a:avLst/>
          </a:prstGeom>
          <a:noFill/>
          <a:ln w="12700">
            <a:solidFill>
              <a:srgbClr val="E76F51"/>
            </a:solidFill>
            <a:prstDash val="solid"/>
            <a:headEnd type="none"/>
            <a:tailEnd type="triangle"/>
          </a:ln>
        </p:spPr>
      </p:sp>
      <p:sp>
        <p:nvSpPr>
          <p:cNvPr id="24" name="Shape 22"/>
          <p:cNvSpPr/>
          <p:nvPr/>
        </p:nvSpPr>
        <p:spPr>
          <a:xfrm>
            <a:off x="10058400" y="2057400"/>
            <a:ext cx="1417320" cy="960120"/>
          </a:xfrm>
          <a:prstGeom prst="roundRect">
            <a:avLst>
              <a:gd name="adj" fmla="val 11429"/>
            </a:avLst>
          </a:prstGeom>
          <a:solidFill>
            <a:srgbClr val="E6F4EE"/>
          </a:solidFill>
          <a:ln w="12700">
            <a:solidFill>
              <a:srgbClr val="0B7A75"/>
            </a:solidFill>
            <a:prstDash val="solid"/>
          </a:ln>
        </p:spPr>
      </p:sp>
      <p:sp>
        <p:nvSpPr>
          <p:cNvPr id="25" name="Text 23"/>
          <p:cNvSpPr/>
          <p:nvPr/>
        </p:nvSpPr>
        <p:spPr>
          <a:xfrm>
            <a:off x="10149840" y="2157984"/>
            <a:ext cx="228600" cy="164592"/>
          </a:xfrm>
          <a:prstGeom prst="rect">
            <a:avLst/>
          </a:prstGeom>
          <a:noFill/>
          <a:ln/>
        </p:spPr>
        <p:txBody>
          <a:bodyPr wrap="square" lIns="0" tIns="0" rIns="0" bIns="0" rtlCol="0" anchor="ctr"/>
          <a:lstStyle/>
          <a:p>
            <a:pPr indent="0" marL="0">
              <a:buNone/>
            </a:pPr>
            <a:r>
              <a:rPr lang="en-US" sz="1000" b="1" dirty="0">
                <a:solidFill>
                  <a:srgbClr val="0B7A75"/>
                </a:solidFill>
              </a:rPr>
              <a:t>6</a:t>
            </a:r>
            <a:endParaRPr lang="en-US" sz="1000" dirty="0"/>
          </a:p>
        </p:txBody>
      </p:sp>
      <p:sp>
        <p:nvSpPr>
          <p:cNvPr id="26" name="Text 24"/>
          <p:cNvSpPr/>
          <p:nvPr/>
        </p:nvSpPr>
        <p:spPr>
          <a:xfrm>
            <a:off x="1028700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Select equipment</a:t>
            </a:r>
            <a:endParaRPr lang="en-US" sz="1020" dirty="0"/>
          </a:p>
        </p:txBody>
      </p:sp>
      <p:sp>
        <p:nvSpPr>
          <p:cNvPr id="27" name="Shape 25"/>
          <p:cNvSpPr/>
          <p:nvPr/>
        </p:nvSpPr>
        <p:spPr>
          <a:xfrm>
            <a:off x="1645920" y="4069080"/>
            <a:ext cx="8686800" cy="658368"/>
          </a:xfrm>
          <a:prstGeom prst="roundRect">
            <a:avLst>
              <a:gd name="adj" fmla="val 11111"/>
            </a:avLst>
          </a:prstGeom>
          <a:solidFill>
            <a:srgbClr val="FFF1C7"/>
          </a:solidFill>
          <a:ln w="12700">
            <a:solidFill>
              <a:srgbClr val="F2C14E"/>
            </a:solidFill>
            <a:prstDash val="solid"/>
          </a:ln>
        </p:spPr>
      </p:sp>
      <p:sp>
        <p:nvSpPr>
          <p:cNvPr id="28" name="Text 26"/>
          <p:cNvSpPr/>
          <p:nvPr/>
        </p:nvSpPr>
        <p:spPr>
          <a:xfrm>
            <a:off x="1874520" y="4315968"/>
            <a:ext cx="8229600" cy="146304"/>
          </a:xfrm>
          <a:prstGeom prst="rect">
            <a:avLst/>
          </a:prstGeom>
          <a:noFill/>
          <a:ln/>
        </p:spPr>
        <p:txBody>
          <a:bodyPr wrap="square" lIns="0" tIns="0" rIns="0" bIns="0" rtlCol="0" anchor="ctr"/>
          <a:lstStyle/>
          <a:p>
            <a:pPr algn="ctr" indent="0" marL="0">
              <a:buNone/>
            </a:pPr>
            <a:r>
              <a:rPr lang="en-US" sz="1350" b="1" dirty="0">
                <a:solidFill>
                  <a:srgbClr val="153243"/>
                </a:solidFill>
              </a:rPr>
              <a:t>Do not size equipment from rules of thumb when actual survey and load data are available.</a:t>
            </a:r>
            <a:endParaRPr lang="en-US" sz="13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32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3"/>
          </a:solidFill>
          <a:ln w="12700">
            <a:solidFill>
              <a:srgbClr val="153243"/>
            </a:solidFill>
            <a:prstDash val="solid"/>
          </a:ln>
        </p:spPr>
      </p:sp>
      <p:sp>
        <p:nvSpPr>
          <p:cNvPr id="3" name="Text 1"/>
          <p:cNvSpPr/>
          <p:nvPr/>
        </p:nvSpPr>
        <p:spPr>
          <a:xfrm>
            <a:off x="731520" y="685800"/>
            <a:ext cx="6217920" cy="320040"/>
          </a:xfrm>
          <a:prstGeom prst="rect">
            <a:avLst/>
          </a:prstGeom>
          <a:noFill/>
          <a:ln/>
        </p:spPr>
        <p:txBody>
          <a:bodyPr wrap="square" lIns="0" tIns="0" rIns="0" bIns="0" rtlCol="0" anchor="ctr"/>
          <a:lstStyle/>
          <a:p>
            <a:pPr indent="0" marL="0">
              <a:buNone/>
            </a:pPr>
            <a:r>
              <a:rPr lang="en-US" sz="2500" b="1" dirty="0">
                <a:solidFill>
                  <a:srgbClr val="FFFFFF"/>
                </a:solidFill>
              </a:rPr>
              <a:t>Quick check before moving on</a:t>
            </a:r>
            <a:endParaRPr lang="en-US" sz="2500" dirty="0"/>
          </a:p>
        </p:txBody>
      </p:sp>
      <p:sp>
        <p:nvSpPr>
          <p:cNvPr id="4" name="Shape 2"/>
          <p:cNvSpPr/>
          <p:nvPr/>
        </p:nvSpPr>
        <p:spPr>
          <a:xfrm>
            <a:off x="1005840" y="1508760"/>
            <a:ext cx="384048" cy="384048"/>
          </a:xfrm>
          <a:prstGeom prst="ellipse">
            <a:avLst/>
          </a:prstGeom>
          <a:solidFill>
            <a:srgbClr val="6BBF9B"/>
          </a:solidFill>
          <a:ln w="12700">
            <a:solidFill>
              <a:srgbClr val="6BBF9B"/>
            </a:solidFill>
            <a:prstDash val="solid"/>
          </a:ln>
        </p:spPr>
      </p:sp>
      <p:sp>
        <p:nvSpPr>
          <p:cNvPr id="5" name="Text 3"/>
          <p:cNvSpPr/>
          <p:nvPr/>
        </p:nvSpPr>
        <p:spPr>
          <a:xfrm>
            <a:off x="1133856" y="1609344"/>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1</a:t>
            </a:r>
            <a:endParaRPr lang="en-US" sz="900" dirty="0"/>
          </a:p>
        </p:txBody>
      </p:sp>
      <p:sp>
        <p:nvSpPr>
          <p:cNvPr id="6" name="Text 4"/>
          <p:cNvSpPr/>
          <p:nvPr/>
        </p:nvSpPr>
        <p:spPr>
          <a:xfrm>
            <a:off x="1600200" y="1554480"/>
            <a:ext cx="6583680" cy="164592"/>
          </a:xfrm>
          <a:prstGeom prst="rect">
            <a:avLst/>
          </a:prstGeom>
          <a:noFill/>
          <a:ln/>
        </p:spPr>
        <p:txBody>
          <a:bodyPr wrap="square" lIns="0" tIns="0" rIns="0" bIns="0" rtlCol="0" anchor="ctr">
            <a:normAutofit/>
          </a:bodyPr>
          <a:lstStyle/>
          <a:p>
            <a:pPr indent="0" marL="0">
              <a:buNone/>
            </a:pPr>
            <a:r>
              <a:rPr lang="en-US" sz="1500" b="1" dirty="0">
                <a:solidFill>
                  <a:srgbClr val="FFFFFF"/>
                </a:solidFill>
              </a:rPr>
              <a:t>Why is peak load not always at noon?</a:t>
            </a:r>
            <a:endParaRPr lang="en-US" sz="1500" dirty="0"/>
          </a:p>
        </p:txBody>
      </p:sp>
      <p:sp>
        <p:nvSpPr>
          <p:cNvPr id="7" name="Shape 5"/>
          <p:cNvSpPr/>
          <p:nvPr/>
        </p:nvSpPr>
        <p:spPr>
          <a:xfrm>
            <a:off x="1005840" y="2313432"/>
            <a:ext cx="384048" cy="384048"/>
          </a:xfrm>
          <a:prstGeom prst="ellipse">
            <a:avLst/>
          </a:prstGeom>
          <a:solidFill>
            <a:srgbClr val="E76F51"/>
          </a:solidFill>
          <a:ln w="12700">
            <a:solidFill>
              <a:srgbClr val="E76F51"/>
            </a:solidFill>
            <a:prstDash val="solid"/>
          </a:ln>
        </p:spPr>
      </p:sp>
      <p:sp>
        <p:nvSpPr>
          <p:cNvPr id="8" name="Text 6"/>
          <p:cNvSpPr/>
          <p:nvPr/>
        </p:nvSpPr>
        <p:spPr>
          <a:xfrm>
            <a:off x="1133856" y="2414016"/>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2</a:t>
            </a:r>
            <a:endParaRPr lang="en-US" sz="900" dirty="0"/>
          </a:p>
        </p:txBody>
      </p:sp>
      <p:sp>
        <p:nvSpPr>
          <p:cNvPr id="9" name="Text 7"/>
          <p:cNvSpPr/>
          <p:nvPr/>
        </p:nvSpPr>
        <p:spPr>
          <a:xfrm>
            <a:off x="1600200" y="2359152"/>
            <a:ext cx="6583680" cy="164592"/>
          </a:xfrm>
          <a:prstGeom prst="rect">
            <a:avLst/>
          </a:prstGeom>
          <a:noFill/>
          <a:ln/>
        </p:spPr>
        <p:txBody>
          <a:bodyPr wrap="square" lIns="0" tIns="0" rIns="0" bIns="0" rtlCol="0" anchor="ctr">
            <a:normAutofit/>
          </a:bodyPr>
          <a:lstStyle/>
          <a:p>
            <a:pPr indent="0" marL="0">
              <a:buNone/>
            </a:pPr>
            <a:r>
              <a:rPr lang="en-US" sz="1500" b="1" dirty="0">
                <a:solidFill>
                  <a:srgbClr val="FFFFFF"/>
                </a:solidFill>
              </a:rPr>
              <a:t>Why can an oversized system feel “cold but sticky”?</a:t>
            </a:r>
            <a:endParaRPr lang="en-US" sz="1500" dirty="0"/>
          </a:p>
        </p:txBody>
      </p:sp>
      <p:sp>
        <p:nvSpPr>
          <p:cNvPr id="10" name="Shape 8"/>
          <p:cNvSpPr/>
          <p:nvPr/>
        </p:nvSpPr>
        <p:spPr>
          <a:xfrm>
            <a:off x="1005840" y="3118104"/>
            <a:ext cx="384048" cy="384048"/>
          </a:xfrm>
          <a:prstGeom prst="ellipse">
            <a:avLst/>
          </a:prstGeom>
          <a:solidFill>
            <a:srgbClr val="6BBF9B"/>
          </a:solidFill>
          <a:ln w="12700">
            <a:solidFill>
              <a:srgbClr val="6BBF9B"/>
            </a:solidFill>
            <a:prstDash val="solid"/>
          </a:ln>
        </p:spPr>
      </p:sp>
      <p:sp>
        <p:nvSpPr>
          <p:cNvPr id="11" name="Text 9"/>
          <p:cNvSpPr/>
          <p:nvPr/>
        </p:nvSpPr>
        <p:spPr>
          <a:xfrm>
            <a:off x="1133856" y="3218688"/>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3</a:t>
            </a:r>
            <a:endParaRPr lang="en-US" sz="900" dirty="0"/>
          </a:p>
        </p:txBody>
      </p:sp>
      <p:sp>
        <p:nvSpPr>
          <p:cNvPr id="12" name="Text 10"/>
          <p:cNvSpPr/>
          <p:nvPr/>
        </p:nvSpPr>
        <p:spPr>
          <a:xfrm>
            <a:off x="1600200" y="3163824"/>
            <a:ext cx="6583680" cy="164592"/>
          </a:xfrm>
          <a:prstGeom prst="rect">
            <a:avLst/>
          </a:prstGeom>
          <a:noFill/>
          <a:ln/>
        </p:spPr>
        <p:txBody>
          <a:bodyPr wrap="square" lIns="0" tIns="0" rIns="0" bIns="0" rtlCol="0" anchor="ctr">
            <a:normAutofit/>
          </a:bodyPr>
          <a:lstStyle/>
          <a:p>
            <a:pPr indent="0" marL="0">
              <a:buNone/>
            </a:pPr>
            <a:r>
              <a:rPr lang="en-US" sz="1500" b="1" dirty="0">
                <a:solidFill>
                  <a:srgbClr val="FFFFFF"/>
                </a:solidFill>
              </a:rPr>
              <a:t>Which load family dominates a full nightclub?</a:t>
            </a:r>
            <a:endParaRPr lang="en-US" sz="1500" dirty="0"/>
          </a:p>
        </p:txBody>
      </p:sp>
      <p:sp>
        <p:nvSpPr>
          <p:cNvPr id="13" name="Shape 11"/>
          <p:cNvSpPr/>
          <p:nvPr/>
        </p:nvSpPr>
        <p:spPr>
          <a:xfrm>
            <a:off x="1005840" y="3922776"/>
            <a:ext cx="384048" cy="384048"/>
          </a:xfrm>
          <a:prstGeom prst="ellipse">
            <a:avLst/>
          </a:prstGeom>
          <a:solidFill>
            <a:srgbClr val="E76F51"/>
          </a:solidFill>
          <a:ln w="12700">
            <a:solidFill>
              <a:srgbClr val="E76F51"/>
            </a:solidFill>
            <a:prstDash val="solid"/>
          </a:ln>
        </p:spPr>
      </p:sp>
      <p:sp>
        <p:nvSpPr>
          <p:cNvPr id="14" name="Text 12"/>
          <p:cNvSpPr/>
          <p:nvPr/>
        </p:nvSpPr>
        <p:spPr>
          <a:xfrm>
            <a:off x="1133856" y="4023360"/>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4</a:t>
            </a:r>
            <a:endParaRPr lang="en-US" sz="900" dirty="0"/>
          </a:p>
        </p:txBody>
      </p:sp>
      <p:sp>
        <p:nvSpPr>
          <p:cNvPr id="15" name="Text 13"/>
          <p:cNvSpPr/>
          <p:nvPr/>
        </p:nvSpPr>
        <p:spPr>
          <a:xfrm>
            <a:off x="1600200" y="3968496"/>
            <a:ext cx="6583680" cy="164592"/>
          </a:xfrm>
          <a:prstGeom prst="rect">
            <a:avLst/>
          </a:prstGeom>
          <a:noFill/>
          <a:ln/>
        </p:spPr>
        <p:txBody>
          <a:bodyPr wrap="square" lIns="0" tIns="0" rIns="0" bIns="0" rtlCol="0" anchor="ctr">
            <a:normAutofit/>
          </a:bodyPr>
          <a:lstStyle/>
          <a:p>
            <a:pPr indent="0" marL="0">
              <a:buNone/>
            </a:pPr>
            <a:r>
              <a:rPr lang="en-US" sz="1500" b="1" dirty="0">
                <a:solidFill>
                  <a:srgbClr val="FFFFFF"/>
                </a:solidFill>
              </a:rPr>
              <a:t>What data must come before load calculation?</a:t>
            </a:r>
            <a:endParaRPr lang="en-US" sz="1500" dirty="0"/>
          </a:p>
        </p:txBody>
      </p:sp>
      <p:sp>
        <p:nvSpPr>
          <p:cNvPr id="16" name="Shape 14"/>
          <p:cNvSpPr/>
          <p:nvPr/>
        </p:nvSpPr>
        <p:spPr>
          <a:xfrm>
            <a:off x="7498080" y="5166360"/>
            <a:ext cx="3611880" cy="530352"/>
          </a:xfrm>
          <a:prstGeom prst="roundRect">
            <a:avLst>
              <a:gd name="adj" fmla="val 13793"/>
            </a:avLst>
          </a:prstGeom>
          <a:solidFill>
            <a:srgbClr val="E76F51"/>
          </a:solidFill>
          <a:ln w="12700">
            <a:solidFill>
              <a:srgbClr val="E76F51"/>
            </a:solidFill>
            <a:prstDash val="solid"/>
          </a:ln>
        </p:spPr>
      </p:sp>
      <p:sp>
        <p:nvSpPr>
          <p:cNvPr id="17" name="Text 15"/>
          <p:cNvSpPr/>
          <p:nvPr/>
        </p:nvSpPr>
        <p:spPr>
          <a:xfrm>
            <a:off x="7680960" y="5340096"/>
            <a:ext cx="3246120" cy="137160"/>
          </a:xfrm>
          <a:prstGeom prst="rect">
            <a:avLst/>
          </a:prstGeom>
          <a:noFill/>
          <a:ln/>
        </p:spPr>
        <p:txBody>
          <a:bodyPr wrap="square" lIns="0" tIns="0" rIns="0" bIns="0" rtlCol="0" anchor="ctr"/>
          <a:lstStyle/>
          <a:p>
            <a:pPr algn="ctr" indent="0" marL="0">
              <a:buNone/>
            </a:pPr>
            <a:r>
              <a:rPr lang="en-US" sz="1150" b="1" dirty="0">
                <a:solidFill>
                  <a:srgbClr val="FFFFFF"/>
                </a:solidFill>
              </a:rPr>
              <a:t>Next: building survey and load inputs</a:t>
            </a:r>
            <a:endParaRPr lang="en-US" sz="11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Peak Cooling Load — Concept and Design Basis</dc:title>
  <dc:subject>Air Conditioning Engineering Topic 1.2</dc:subject>
  <dc:creator>Gaia for Piakman</dc:creator>
  <cp:lastModifiedBy>Gaia for Piakman</cp:lastModifiedBy>
  <cp:revision>1</cp:revision>
  <dcterms:created xsi:type="dcterms:W3CDTF">2026-06-14T12:09:10Z</dcterms:created>
  <dcterms:modified xsi:type="dcterms:W3CDTF">2026-06-14T12:09:10Z</dcterms:modified>
</cp:coreProperties>
</file>