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961120" y="201168"/>
            <a:ext cx="3227832" cy="224028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92640" y="4343400"/>
            <a:ext cx="2496312" cy="251460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53035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566928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700" b="1" i="0">
                <a:solidFill>
                  <a:srgbClr val="11374B"/>
                </a:solidFill>
                <a:latin typeface="Aptos Display"/>
              </a:rPr>
              <a:t>1.4 Main Equipment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Compressors, condensers, expansion devices, AHU and FCU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5257800" cy="7772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232D37"/>
                </a:solidFill>
                <a:latin typeface="Aptos Display"/>
              </a:rPr>
              <a:t>The same refrigeration cycle becomes different equipment choices in real buildings.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423367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E76F51"/>
                </a:solidFill>
                <a:latin typeface="Aptos Display"/>
              </a:rPr>
              <a:t>Compressor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45536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64408" y="423367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4229100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57B9D"/>
                </a:solidFill>
                <a:latin typeface="Aptos Display"/>
              </a:rPr>
              <a:t>Condenser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2A9D8F"/>
                </a:solidFill>
                <a:latin typeface="Aptos Display"/>
              </a:rPr>
              <a:t>Expansion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5536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64408" y="4800600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4796028"/>
            <a:ext cx="1664208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1" i="0">
                <a:solidFill>
                  <a:srgbClr val="4CAF50"/>
                </a:solidFill>
                <a:latin typeface="Aptos Display"/>
              </a:rPr>
              <a:t>AHU/FCU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115568"/>
            <a:ext cx="50749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92440" y="1965960"/>
            <a:ext cx="1463040" cy="146304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423160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 Display"/>
              </a:rPr>
              <a:t>1.4</a:t>
            </a:r>
          </a:p>
        </p:txBody>
      </p:sp>
      <p:sp>
        <p:nvSpPr>
          <p:cNvPr id="24" name="Oval 23"/>
          <p:cNvSpPr/>
          <p:nvPr/>
        </p:nvSpPr>
        <p:spPr>
          <a:xfrm>
            <a:off x="6903720" y="1828800"/>
            <a:ext cx="694944" cy="694944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10287000" y="1828800"/>
            <a:ext cx="694944" cy="694944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029968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6903720" y="4434840"/>
            <a:ext cx="694944" cy="69494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10287000" y="4434840"/>
            <a:ext cx="694944" cy="694944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4636007"/>
            <a:ext cx="694944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074920"/>
            <a:ext cx="384048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Concept-first slides with teaching detail in the card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Equipment follows the same four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Names change, but the thermodynamic jobs remain the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EQUIPMENT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Match hardware to the cycle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Pressure 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compressor family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Heat rejection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condenser type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Metering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expansion device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1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09393"/>
            <a:ext cx="5760720" cy="36164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Main equipment groups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Compressor type follows capacity and load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Do not select compressor type from capacity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COMPRESSOR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Small rooms and large plants need different machines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315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Reciprocating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small, simple, serviceable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94760"/>
            <a:ext cx="3904487" cy="7315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935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5993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0448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Scroll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6052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quiet residential/light commercial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26864"/>
            <a:ext cx="3904487" cy="7315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91456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92040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36592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Screw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92624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medium-large; strong part-load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3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617470"/>
            <a:ext cx="5760720" cy="24003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Compressor type comparison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Compressor selection: quick screening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Use this slide to narrate a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Reciprocating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cheap, simple; vibration/noise trade-off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Scroll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few moving parts; common in split/VRF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Screw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reliable for mid-large chillers and variable load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Centrifugal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excellent for large steady loads; watch surge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Hotel 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part-load operation favors screw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76472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74152" y="395935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74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9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District cooling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large steady load favors centrifugal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Condenser type controls the heat sink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Lower condensing temperature generally improves COP.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HEAT REJECTION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The condenser decides how heat leaves the building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Air-cooled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simple; hotter on hot days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Water-cooled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lower condensing temperature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Evaporative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approaches wet-bulb temperature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4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1428"/>
            <a:ext cx="5760720" cy="3072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Condensing temperature comparison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Air-cooled vs water-cooled is a life-cycle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First cost and operating cost point in different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Air-cooled 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no tower, pump, or water treatment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Air-cooled weakness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COP falls during hot outdoor conditions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Water-cooled strength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often 20–40% more efficient at scale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Water-cooled weakness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maintenance, water, and plant complexity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776472"/>
            <a:ext cx="2971800" cy="123444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45152" y="3959352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0368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Thailand 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hot climate increases value of lower condensing temp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Expansion devices control refrigerant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The device must fill the evaporator without flooding the compressor.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METERING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Control precision affects efficiency and reliability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Capillary tube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fixed, cheap, charge-sensitive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TXV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mechanical superheat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EEV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fast, precise, inverter/VRF friendly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6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89453"/>
            <a:ext cx="5760720" cy="26563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Expansion device comparison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TXV superheat is a teaching bridge to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One setting explains capacity and compressor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Too 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wet vapor/liquid risk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Correct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evaporator full but compressor dry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Too 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starved evaporator; less capacity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Field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charge, airflow, bulb position, valve response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AHU and FCU solve different air-distribution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Central air handling and room-by-room control are not interchangeable.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AIR 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Choose distribution based on zone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41248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27832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AHU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28416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large zones, ducts, filtration, fresh air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904488"/>
            <a:ext cx="3904487" cy="841248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69080"/>
            <a:ext cx="384048" cy="38404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69664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4014216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FCU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70248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small zones, individual room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846320"/>
            <a:ext cx="3904487" cy="841248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501091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111496"/>
            <a:ext cx="384048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56048"/>
            <a:ext cx="3172968" cy="19202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Fresh 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often needs AHU/DOAS coordination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7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120" y="1874519"/>
            <a:ext cx="5181599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AHU vs FCU strategies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Pause question: choose equipment for a hospital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10972800" cy="31089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50" b="0" i="0">
                <a:solidFill>
                  <a:srgbClr val="5A6973"/>
                </a:solidFill>
                <a:latin typeface="Aptos"/>
              </a:rPr>
              <a:t>Quiet operation, reliability, filtration, and 24/7 service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10698480" cy="4462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084831"/>
            <a:ext cx="2971800" cy="123444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6151" y="2267712"/>
            <a:ext cx="457200" cy="45720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6151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7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redundant chillers rather than one small unit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84831"/>
            <a:ext cx="2971800" cy="123444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2" y="22677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water-cooled if lifecycle energy supports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084831"/>
            <a:ext cx="2971800" cy="123444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2" y="2267712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395727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249424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Air side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798063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AHU for filtration and fresh air control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3776472"/>
            <a:ext cx="2971800" cy="123444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16151" y="395935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6151" y="4087368"/>
            <a:ext cx="457200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7" y="3941063"/>
            <a:ext cx="192024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80" b="1" i="0">
                <a:solidFill>
                  <a:srgbClr val="232D37"/>
                </a:solidFill>
                <a:latin typeface="Aptos Display"/>
              </a:rPr>
              <a:t>Maintenance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1016" y="4489704"/>
            <a:ext cx="2514600" cy="30175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access and monitoring are design requirements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800" b="1" i="0">
                <a:solidFill>
                  <a:srgbClr val="11374B"/>
                </a:solidFill>
                <a:latin typeface="Aptos Display"/>
              </a:rPr>
              <a:t>Topic 1.4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91640"/>
            <a:ext cx="10716768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Equipment maps to cycle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each machine has a thermodynamic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Selection is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capacity, part-load, first cost, efficiency, maintenance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47872"/>
            <a:ext cx="2514600" cy="3291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50" b="1" i="0">
                <a:solidFill>
                  <a:srgbClr val="232D37"/>
                </a:solidFill>
                <a:latin typeface="Aptos Display"/>
              </a:rPr>
              <a:t>Air-side design shapes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80" b="0" i="0">
                <a:solidFill>
                  <a:srgbClr val="5A6973"/>
                </a:solidFill>
                <a:latin typeface="Aptos"/>
              </a:rPr>
              <a:t>AHU for central control; FCU for distributed rooms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