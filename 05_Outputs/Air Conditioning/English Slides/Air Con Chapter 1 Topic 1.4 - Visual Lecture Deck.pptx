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8869680" y="201168"/>
            <a:ext cx="3319272" cy="2377440"/>
          </a:xfrm>
          <a:prstGeom prst="rtTriangle">
            <a:avLst/>
          </a:prstGeom>
          <a:solidFill>
            <a:srgbClr val="E6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>
            <a:off x="9601200" y="4389120"/>
            <a:ext cx="2587752" cy="2468880"/>
          </a:xfrm>
          <a:prstGeom prst="rtTriangle">
            <a:avLst/>
          </a:prstGeom>
          <a:solidFill>
            <a:srgbClr val="FF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749808"/>
            <a:ext cx="530352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00" b="1" i="0">
                <a:solidFill>
                  <a:srgbClr val="2A9D8F"/>
                </a:solidFill>
                <a:latin typeface="Aptos Display"/>
              </a:rPr>
              <a:t>AIR CONDITIONING · CHAPTER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143000"/>
            <a:ext cx="5760720" cy="8686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3600" b="1" i="0">
                <a:solidFill>
                  <a:srgbClr val="11374B"/>
                </a:solidFill>
                <a:latin typeface="Aptos Display"/>
              </a:rPr>
              <a:t>1.4 Main Equipment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67712"/>
            <a:ext cx="5394960" cy="36576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800" b="0" i="0">
                <a:solidFill>
                  <a:srgbClr val="5A6973"/>
                </a:solidFill>
                <a:latin typeface="Aptos"/>
              </a:rPr>
              <a:t>Compressors, condensers, expansion devices, AHU/FCU, and equipment selection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944368"/>
            <a:ext cx="5349240" cy="6400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900" b="1" i="0">
                <a:solidFill>
                  <a:srgbClr val="232D37"/>
                </a:solidFill>
                <a:latin typeface="Aptos Display"/>
              </a:rPr>
              <a:t>30-minute visual lecture deck: concept → engineering judgement → quick check.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3977639"/>
            <a:ext cx="224028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32104" y="4078224"/>
            <a:ext cx="182880" cy="18288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073652"/>
            <a:ext cx="1700784" cy="15544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69" b="1" i="0">
                <a:solidFill>
                  <a:srgbClr val="2A9D8F"/>
                </a:solidFill>
                <a:latin typeface="Aptos Display"/>
              </a:rPr>
              <a:t>Compressor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3977639"/>
            <a:ext cx="224028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5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346704" y="4078224"/>
            <a:ext cx="182880" cy="18288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4073652"/>
            <a:ext cx="1700784" cy="15544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69" b="1" i="0">
                <a:solidFill>
                  <a:srgbClr val="457B9D"/>
                </a:solidFill>
                <a:latin typeface="Aptos Display"/>
              </a:rPr>
              <a:t>Condenser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4544568"/>
            <a:ext cx="224028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2104" y="4645152"/>
            <a:ext cx="182880" cy="18288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640580"/>
            <a:ext cx="1700784" cy="15544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69" b="1" i="0">
                <a:solidFill>
                  <a:srgbClr val="E76F51"/>
                </a:solidFill>
                <a:latin typeface="Aptos Display"/>
              </a:rPr>
              <a:t>TXV/EEV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27832" y="4544568"/>
            <a:ext cx="224028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346704" y="4645152"/>
            <a:ext cx="182880" cy="18288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1880" y="4640580"/>
            <a:ext cx="1700784" cy="15544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69" b="1" i="0">
                <a:solidFill>
                  <a:srgbClr val="4CAF50"/>
                </a:solidFill>
                <a:latin typeface="Aptos Display"/>
              </a:rPr>
              <a:t>AHU/FCU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46520" y="1170432"/>
            <a:ext cx="452628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45552" y="1847088"/>
            <a:ext cx="1737360" cy="1737360"/>
          </a:xfrm>
          <a:prstGeom prst="ellipse">
            <a:avLst/>
          </a:prstGeom>
          <a:solidFill>
            <a:srgbClr val="E6F4F7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92440" y="2331720"/>
            <a:ext cx="1234440" cy="32004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2800" b="1" i="0">
                <a:solidFill>
                  <a:srgbClr val="11374B"/>
                </a:solidFill>
                <a:latin typeface="Aptos Display"/>
              </a:rPr>
              <a:t>1.4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956048"/>
            <a:ext cx="342900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200" b="1" i="0">
                <a:solidFill>
                  <a:srgbClr val="5A6973"/>
                </a:solidFill>
                <a:latin typeface="Aptos Display"/>
              </a:rPr>
              <a:t>Enough detail for discussion, examples, and Q&amp;A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10698480" cy="47548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500" b="1" i="0">
                <a:solidFill>
                  <a:srgbClr val="11374B"/>
                </a:solidFill>
                <a:latin typeface="Aptos Display"/>
              </a:rPr>
              <a:t>Learning outcomes for a 30-minute lecture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50976"/>
            <a:ext cx="1033272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30" b="0" i="0">
                <a:solidFill>
                  <a:srgbClr val="5A6973"/>
                </a:solidFill>
                <a:latin typeface="Aptos"/>
              </a:rPr>
              <a:t>Students should connect equipment choice to design conditions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600200"/>
            <a:ext cx="3383279" cy="1645920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1832" y="1783080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047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Name equipment groups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compressor, condenser, expansion device, evaporator-side unit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600200"/>
            <a:ext cx="3383279" cy="1645920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1783080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5663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Select compressor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by capacity and load profile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600200"/>
            <a:ext cx="3383279" cy="1645920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074152" y="1783080"/>
            <a:ext cx="438912" cy="438912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2279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Compare condensers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072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air-cooled vs water-cooled vs evaporative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657600"/>
            <a:ext cx="3383279" cy="1645920"/>
          </a:xfrm>
          <a:prstGeom prst="roundRect">
            <a:avLst/>
          </a:prstGeom>
          <a:solidFill>
            <a:srgbClr val="ECF8EE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2" y="3840480"/>
            <a:ext cx="438912" cy="438912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39593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90472" y="38404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Choose expansion device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" y="44074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capillary, TXV, or EEV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3657600"/>
            <a:ext cx="3383279" cy="1645920"/>
          </a:xfrm>
          <a:prstGeom prst="roundRect">
            <a:avLst/>
          </a:prstGeom>
          <a:solidFill>
            <a:srgbClr val="FFF7E2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07992" y="3840480"/>
            <a:ext cx="438912" cy="438912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07992" y="39593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56632" y="38404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Decide AHU/FCU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44568" y="44074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central air distribution vs room control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10698480" cy="47548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500" b="1" i="0">
                <a:solidFill>
                  <a:srgbClr val="11374B"/>
                </a:solidFill>
                <a:latin typeface="Aptos Display"/>
              </a:rPr>
              <a:t>Equipment follows the refrigeration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50976"/>
            <a:ext cx="1033272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30" b="0" i="0">
                <a:solidFill>
                  <a:srgbClr val="5A6973"/>
                </a:solidFill>
                <a:latin typeface="Aptos"/>
              </a:rPr>
              <a:t>Every practical system implements the same four functions.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4590288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109728" cy="44439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92808"/>
            <a:ext cx="3950207" cy="2103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30" b="1" i="0">
                <a:solidFill>
                  <a:srgbClr val="2A9D8F"/>
                </a:solidFill>
                <a:latin typeface="Aptos Display"/>
              </a:rPr>
              <a:t>EQUIPMENT 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157984"/>
            <a:ext cx="3950207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000" b="1" i="0">
                <a:solidFill>
                  <a:srgbClr val="11374B"/>
                </a:solidFill>
                <a:latin typeface="Aptos Display"/>
              </a:rPr>
              <a:t>Same thermodynamics, different hardware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2944368"/>
            <a:ext cx="3904487" cy="713232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3108960"/>
            <a:ext cx="365760" cy="36576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200400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044951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20" b="1" i="0">
                <a:solidFill>
                  <a:srgbClr val="232D37"/>
                </a:solidFill>
                <a:latin typeface="Aptos Display"/>
              </a:rPr>
              <a:t>Pressure rise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291839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compressor family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767328"/>
            <a:ext cx="3904487" cy="713232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3931920"/>
            <a:ext cx="365760" cy="36576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023360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867912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20" b="1" i="0">
                <a:solidFill>
                  <a:srgbClr val="232D37"/>
                </a:solidFill>
                <a:latin typeface="Aptos Display"/>
              </a:rPr>
              <a:t>Heat rejection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114800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condenser type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4590288"/>
            <a:ext cx="3904487" cy="713232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0704" y="4754879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4846320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690872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20" b="1" i="0">
                <a:solidFill>
                  <a:srgbClr val="232D37"/>
                </a:solidFill>
                <a:latin typeface="Aptos Display"/>
              </a:rPr>
              <a:t>Flow control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4937759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expansion device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1664208"/>
            <a:ext cx="6126480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content_fig01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009393"/>
            <a:ext cx="5760720" cy="361645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715000" y="5870448"/>
            <a:ext cx="5577840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60" b="0" i="0">
                <a:solidFill>
                  <a:srgbClr val="5A6973"/>
                </a:solidFill>
                <a:latin typeface="Aptos"/>
              </a:rPr>
              <a:t>Main equipment groups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10698480" cy="47548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500" b="1" i="0">
                <a:solidFill>
                  <a:srgbClr val="11374B"/>
                </a:solidFill>
                <a:latin typeface="Aptos Display"/>
              </a:rPr>
              <a:t>Compressor type depends on capacity and load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50976"/>
            <a:ext cx="1033272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30" b="0" i="0">
                <a:solidFill>
                  <a:srgbClr val="5A6973"/>
                </a:solidFill>
                <a:latin typeface="Aptos"/>
              </a:rPr>
              <a:t>Small split units and large plants do not use the same machine.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4590288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109728" cy="44439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92808"/>
            <a:ext cx="3950207" cy="2103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30" b="1" i="0">
                <a:solidFill>
                  <a:srgbClr val="2A9D8F"/>
                </a:solidFill>
                <a:latin typeface="Aptos Display"/>
              </a:rPr>
              <a:t>COMPRESSORS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157984"/>
            <a:ext cx="3950207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000" b="1" i="0">
                <a:solidFill>
                  <a:srgbClr val="11374B"/>
                </a:solidFill>
                <a:latin typeface="Aptos Display"/>
              </a:rPr>
              <a:t>Select by capacity range and operating pattern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2944368"/>
            <a:ext cx="3904487" cy="713232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3108960"/>
            <a:ext cx="365760" cy="36576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200400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044951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20" b="1" i="0">
                <a:solidFill>
                  <a:srgbClr val="232D37"/>
                </a:solidFill>
                <a:latin typeface="Aptos Display"/>
              </a:rPr>
              <a:t>Reciprocating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291839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small, simple, noisy/vibrating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767328"/>
            <a:ext cx="3904487" cy="713232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393192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023360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867912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20" b="1" i="0">
                <a:solidFill>
                  <a:srgbClr val="232D37"/>
                </a:solidFill>
                <a:latin typeface="Aptos Display"/>
              </a:rPr>
              <a:t>Scroll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114800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quiet residential/light commercial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4590288"/>
            <a:ext cx="3904487" cy="713232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0704" y="4754879"/>
            <a:ext cx="365760" cy="36576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4846320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690872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20" b="1" i="0">
                <a:solidFill>
                  <a:srgbClr val="232D37"/>
                </a:solidFill>
                <a:latin typeface="Aptos Display"/>
              </a:rPr>
              <a:t>Screw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4937759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medium-large; strong part-load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1664208"/>
            <a:ext cx="6126480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content_fig03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617470"/>
            <a:ext cx="5760720" cy="24003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715000" y="5870448"/>
            <a:ext cx="5577840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60" b="0" i="0">
                <a:solidFill>
                  <a:srgbClr val="5A6973"/>
                </a:solidFill>
                <a:latin typeface="Aptos"/>
              </a:rPr>
              <a:t>Compressor types and applications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10698480" cy="47548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500" b="1" i="0">
                <a:solidFill>
                  <a:srgbClr val="11374B"/>
                </a:solidFill>
                <a:latin typeface="Aptos Display"/>
              </a:rPr>
              <a:t>Compressor selection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50976"/>
            <a:ext cx="1033272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30" b="0" i="0">
                <a:solidFill>
                  <a:srgbClr val="5A6973"/>
                </a:solidFill>
                <a:latin typeface="Aptos"/>
              </a:rPr>
              <a:t>Useful for quick engineering screening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508760"/>
            <a:ext cx="10835640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32688" y="1783080"/>
            <a:ext cx="2528316" cy="457200"/>
          </a:xfrm>
          <a:prstGeom prst="round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1929384"/>
            <a:ext cx="2436876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60" b="1" i="0">
                <a:solidFill>
                  <a:srgbClr val="FFFFFF"/>
                </a:solidFill>
                <a:latin typeface="Aptos Display"/>
              </a:rPr>
              <a:t>Type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5868" y="1783080"/>
            <a:ext cx="2528316" cy="457200"/>
          </a:xfrm>
          <a:prstGeom prst="round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1588" y="1929384"/>
            <a:ext cx="2436876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60" b="1" i="0">
                <a:solidFill>
                  <a:srgbClr val="FFFFFF"/>
                </a:solidFill>
                <a:latin typeface="Aptos Display"/>
              </a:rPr>
              <a:t>Typical scale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9048" y="1783080"/>
            <a:ext cx="2528316" cy="457200"/>
          </a:xfrm>
          <a:prstGeom prst="round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929384"/>
            <a:ext cx="2436876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60" b="1" i="0">
                <a:solidFill>
                  <a:srgbClr val="FFFFFF"/>
                </a:solidFill>
                <a:latin typeface="Aptos Display"/>
              </a:rPr>
              <a:t>Strength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2228" y="1783080"/>
            <a:ext cx="2528316" cy="457200"/>
          </a:xfrm>
          <a:prstGeom prst="round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27948" y="1929384"/>
            <a:ext cx="2436876" cy="1097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60" b="1" i="0">
                <a:solidFill>
                  <a:srgbClr val="FFFFFF"/>
                </a:solidFill>
                <a:latin typeface="Aptos Display"/>
              </a:rPr>
              <a:t>Watchout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2688" y="2377440"/>
            <a:ext cx="2528316" cy="45720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" y="2496312"/>
            <a:ext cx="2455164" cy="13716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780" b="0" i="0">
                <a:solidFill>
                  <a:srgbClr val="232D37"/>
                </a:solidFill>
                <a:latin typeface="Aptos"/>
              </a:rPr>
              <a:t>Reciprocating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15868" y="2377440"/>
            <a:ext cx="2528316" cy="45720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52444" y="2496312"/>
            <a:ext cx="2455164" cy="13716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780" b="0" i="0">
                <a:solidFill>
                  <a:srgbClr val="232D37"/>
                </a:solidFill>
                <a:latin typeface="Aptos"/>
              </a:rPr>
              <a:t>0.5–30 TR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99048" y="2377440"/>
            <a:ext cx="2528316" cy="45720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35624" y="2496312"/>
            <a:ext cx="2455164" cy="13716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780" b="0" i="0">
                <a:solidFill>
                  <a:srgbClr val="232D37"/>
                </a:solidFill>
                <a:latin typeface="Aptos"/>
              </a:rPr>
              <a:t>low cost / serviceable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2228" y="2377440"/>
            <a:ext cx="2528316" cy="45720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18804" y="2496312"/>
            <a:ext cx="2455164" cy="13716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780" b="0" i="0">
                <a:solidFill>
                  <a:srgbClr val="232D37"/>
                </a:solidFill>
                <a:latin typeface="Aptos"/>
              </a:rPr>
              <a:t>noise + wear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2688" y="2944368"/>
            <a:ext cx="2528316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9264" y="3063240"/>
            <a:ext cx="2455164" cy="13716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780" b="0" i="0">
                <a:solidFill>
                  <a:srgbClr val="232D37"/>
                </a:solidFill>
                <a:latin typeface="Aptos"/>
              </a:rPr>
              <a:t>Scroll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15868" y="2944368"/>
            <a:ext cx="2528316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2444" y="3063240"/>
            <a:ext cx="2455164" cy="13716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780" b="0" i="0">
                <a:solidFill>
                  <a:srgbClr val="232D37"/>
                </a:solidFill>
                <a:latin typeface="Aptos"/>
              </a:rPr>
              <a:t>1–60 TR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99048" y="2944368"/>
            <a:ext cx="2528316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35624" y="3063240"/>
            <a:ext cx="2455164" cy="13716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780" b="0" i="0">
                <a:solidFill>
                  <a:srgbClr val="232D37"/>
                </a:solidFill>
                <a:latin typeface="Aptos"/>
              </a:rPr>
              <a:t>quiet / compact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82228" y="2944368"/>
            <a:ext cx="2528316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18804" y="3063240"/>
            <a:ext cx="2455164" cy="13716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780" b="0" i="0">
                <a:solidFill>
                  <a:srgbClr val="232D37"/>
                </a:solidFill>
                <a:latin typeface="Aptos"/>
              </a:rPr>
              <a:t>sealed, less field repair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32688" y="3511296"/>
            <a:ext cx="2528316" cy="45720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9264" y="3630168"/>
            <a:ext cx="2455164" cy="13716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780" b="0" i="0">
                <a:solidFill>
                  <a:srgbClr val="232D37"/>
                </a:solidFill>
                <a:latin typeface="Aptos"/>
              </a:rPr>
              <a:t>Screw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515868" y="3511296"/>
            <a:ext cx="2528316" cy="45720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52444" y="3630168"/>
            <a:ext cx="2455164" cy="13716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780" b="0" i="0">
                <a:solidFill>
                  <a:srgbClr val="232D37"/>
                </a:solidFill>
                <a:latin typeface="Aptos"/>
              </a:rPr>
              <a:t>20–1000 TR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99048" y="3511296"/>
            <a:ext cx="2528316" cy="45720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35624" y="3630168"/>
            <a:ext cx="2455164" cy="13716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780" b="0" i="0">
                <a:solidFill>
                  <a:srgbClr val="232D37"/>
                </a:solidFill>
                <a:latin typeface="Aptos"/>
              </a:rPr>
              <a:t>part-load stability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82228" y="3511296"/>
            <a:ext cx="2528316" cy="45720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18804" y="3630168"/>
            <a:ext cx="2455164" cy="13716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780" b="0" i="0">
                <a:solidFill>
                  <a:srgbClr val="232D37"/>
                </a:solidFill>
                <a:latin typeface="Aptos"/>
              </a:rPr>
              <a:t>precision/oil system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32688" y="4078224"/>
            <a:ext cx="2528316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9264" y="4197096"/>
            <a:ext cx="2455164" cy="13716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780" b="0" i="0">
                <a:solidFill>
                  <a:srgbClr val="232D37"/>
                </a:solidFill>
                <a:latin typeface="Aptos"/>
              </a:rPr>
              <a:t>Centrifugal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515868" y="4078224"/>
            <a:ext cx="2528316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52444" y="4197096"/>
            <a:ext cx="2455164" cy="13716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780" b="0" i="0">
                <a:solidFill>
                  <a:srgbClr val="232D37"/>
                </a:solidFill>
                <a:latin typeface="Aptos"/>
              </a:rPr>
              <a:t>100–5000+ TR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099048" y="4078224"/>
            <a:ext cx="2528316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35624" y="4197096"/>
            <a:ext cx="2455164" cy="13716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780" b="0" i="0">
                <a:solidFill>
                  <a:srgbClr val="232D37"/>
                </a:solidFill>
                <a:latin typeface="Aptos"/>
              </a:rPr>
              <a:t>high COP at scale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682228" y="4078224"/>
            <a:ext cx="2528316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718804" y="4197096"/>
            <a:ext cx="2455164" cy="13716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780" b="0" i="0">
                <a:solidFill>
                  <a:srgbClr val="232D37"/>
                </a:solidFill>
                <a:latin typeface="Aptos"/>
              </a:rPr>
              <a:t>surge, high first cost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10698480" cy="47548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500" b="1" i="0">
                <a:solidFill>
                  <a:srgbClr val="11374B"/>
                </a:solidFill>
                <a:latin typeface="Aptos Display"/>
              </a:rPr>
              <a:t>Condenser choice changes system efficiency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50976"/>
            <a:ext cx="1033272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30" b="0" i="0">
                <a:solidFill>
                  <a:srgbClr val="5A6973"/>
                </a:solidFill>
                <a:latin typeface="Aptos"/>
              </a:rPr>
              <a:t>Lower condensing temperature usually means higher COP.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4590288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109728" cy="44439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92808"/>
            <a:ext cx="3950207" cy="2103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30" b="1" i="0">
                <a:solidFill>
                  <a:srgbClr val="2A9D8F"/>
                </a:solidFill>
                <a:latin typeface="Aptos Display"/>
              </a:rPr>
              <a:t>HEAT REJECTION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157984"/>
            <a:ext cx="3950207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000" b="1" i="0">
                <a:solidFill>
                  <a:srgbClr val="11374B"/>
                </a:solidFill>
                <a:latin typeface="Aptos Display"/>
              </a:rPr>
              <a:t>The heat sink sets the pressure lift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2944368"/>
            <a:ext cx="3904487" cy="804672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3108960"/>
            <a:ext cx="365760" cy="36576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200400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044951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20" b="1" i="0">
                <a:solidFill>
                  <a:srgbClr val="232D37"/>
                </a:solidFill>
                <a:latin typeface="Aptos Display"/>
              </a:rPr>
              <a:t>Air-cooled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291839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simple and water-free; hotter condensing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858768"/>
            <a:ext cx="3904487" cy="804672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4023359"/>
            <a:ext cx="365760" cy="36576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114800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959352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20" b="1" i="0">
                <a:solidFill>
                  <a:srgbClr val="232D37"/>
                </a:solidFill>
                <a:latin typeface="Aptos Display"/>
              </a:rPr>
              <a:t>Water-cooled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206240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cooling tower gives lower condensing temp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4773168"/>
            <a:ext cx="3904487" cy="804672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0704" y="4937759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5029200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873752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20" b="1" i="0">
                <a:solidFill>
                  <a:srgbClr val="232D37"/>
                </a:solidFill>
                <a:latin typeface="Aptos Display"/>
              </a:rPr>
              <a:t>Evaporative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5120640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approaches wet-bulb temperature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1664208"/>
            <a:ext cx="6126480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content_fig04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281428"/>
            <a:ext cx="5760720" cy="307238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715000" y="5870448"/>
            <a:ext cx="5577840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60" b="0" i="0">
                <a:solidFill>
                  <a:srgbClr val="5A6973"/>
                </a:solidFill>
                <a:latin typeface="Aptos"/>
              </a:rPr>
              <a:t>Condensing temperature comparison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10698480" cy="47548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500" b="1" i="0">
                <a:solidFill>
                  <a:srgbClr val="11374B"/>
                </a:solidFill>
                <a:latin typeface="Aptos Display"/>
              </a:rPr>
              <a:t>Air-cooled vs water-cooled: teaching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50976"/>
            <a:ext cx="1033272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30" b="0" i="0">
                <a:solidFill>
                  <a:srgbClr val="5A6973"/>
                </a:solidFill>
                <a:latin typeface="Aptos"/>
              </a:rPr>
              <a:t>Use this to discuss Thai climate and operating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600200"/>
            <a:ext cx="3383279" cy="1645920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1832" y="1783080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047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Air-cooled advantage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simple installation; no water treatment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600200"/>
            <a:ext cx="3383279" cy="1645920"/>
          </a:xfrm>
          <a:prstGeom prst="roundRect">
            <a:avLst/>
          </a:prstGeom>
          <a:solidFill>
            <a:srgbClr val="FFEEEB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1783080"/>
            <a:ext cx="438912" cy="438912"/>
          </a:xfrm>
          <a:prstGeom prst="ellipse">
            <a:avLst/>
          </a:prstGeom>
          <a:solidFill>
            <a:srgbClr val="BE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5663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Air-cooled penalty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COP falls on hot days; roof space/noise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600200"/>
            <a:ext cx="3383279" cy="1645920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074152" y="1783080"/>
            <a:ext cx="438912" cy="438912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2279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Water-cooled advantage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072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lower condensing temperature; often 20–40% more efficient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657600"/>
            <a:ext cx="3383279" cy="1645920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2" y="3840480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39593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90472" y="38404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Water-cooled penalty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" y="44074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tower, pumps, water treatment, maintenance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3657600"/>
            <a:ext cx="3383279" cy="1645920"/>
          </a:xfrm>
          <a:prstGeom prst="roundRect">
            <a:avLst/>
          </a:prstGeom>
          <a:solidFill>
            <a:srgbClr val="ECF8EE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07992" y="3840480"/>
            <a:ext cx="438912" cy="438912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07992" y="39593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56632" y="38404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Decision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44568" y="44074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small/simple vs large/long operating hours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10698480" cy="47548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500" b="1" i="0">
                <a:solidFill>
                  <a:srgbClr val="11374B"/>
                </a:solidFill>
                <a:latin typeface="Aptos Display"/>
              </a:rPr>
              <a:t>Expansion devices meter liquid refrigerant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50976"/>
            <a:ext cx="1033272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30" b="0" i="0">
                <a:solidFill>
                  <a:srgbClr val="5A6973"/>
                </a:solidFill>
                <a:latin typeface="Aptos"/>
              </a:rPr>
              <a:t>Control precision increases from capillary tube to EEV.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4590288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109728" cy="44439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92808"/>
            <a:ext cx="3950207" cy="2103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30" b="1" i="0">
                <a:solidFill>
                  <a:srgbClr val="2A9D8F"/>
                </a:solidFill>
                <a:latin typeface="Aptos Display"/>
              </a:rPr>
              <a:t>METERING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157984"/>
            <a:ext cx="3950207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000" b="1" i="0">
                <a:solidFill>
                  <a:srgbClr val="11374B"/>
                </a:solidFill>
                <a:latin typeface="Aptos Display"/>
              </a:rPr>
              <a:t>Correct flow protects capacity and compressor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2944368"/>
            <a:ext cx="3904487" cy="804672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3108960"/>
            <a:ext cx="365760" cy="36576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200400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044951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20" b="1" i="0">
                <a:solidFill>
                  <a:srgbClr val="232D37"/>
                </a:solidFill>
                <a:latin typeface="Aptos Display"/>
              </a:rPr>
              <a:t>Capillary tube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291839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fixed, cheap, charge-sensitive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858768"/>
            <a:ext cx="3904487" cy="804672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4023359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114800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959352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20" b="1" i="0">
                <a:solidFill>
                  <a:srgbClr val="232D37"/>
                </a:solidFill>
                <a:latin typeface="Aptos Display"/>
              </a:rPr>
              <a:t>TXV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206240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mechanical superheat control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4773168"/>
            <a:ext cx="3904487" cy="804672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0704" y="4937759"/>
            <a:ext cx="365760" cy="36576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5029200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873752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20" b="1" i="0">
                <a:solidFill>
                  <a:srgbClr val="232D37"/>
                </a:solidFill>
                <a:latin typeface="Aptos Display"/>
              </a:rPr>
              <a:t>EEV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5120640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fast, precise, VRF/inverter friendly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1664208"/>
            <a:ext cx="6126480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content_fig06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489453"/>
            <a:ext cx="5760720" cy="265633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715000" y="5870448"/>
            <a:ext cx="5577840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60" b="0" i="0">
                <a:solidFill>
                  <a:srgbClr val="5A6973"/>
                </a:solidFill>
                <a:latin typeface="Aptos"/>
              </a:rPr>
              <a:t>Expansion device comparison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10698480" cy="47548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500" b="1" i="0">
                <a:solidFill>
                  <a:srgbClr val="11374B"/>
                </a:solidFill>
                <a:latin typeface="Aptos Display"/>
              </a:rPr>
              <a:t>TXV superheat: why technicians care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50976"/>
            <a:ext cx="1033272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30" b="0" i="0">
                <a:solidFill>
                  <a:srgbClr val="5A6973"/>
                </a:solidFill>
                <a:latin typeface="Aptos"/>
              </a:rPr>
              <a:t>Superheat is not just a number on a gauge 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600200"/>
            <a:ext cx="3383279" cy="1645920"/>
          </a:xfrm>
          <a:prstGeom prst="roundRect">
            <a:avLst/>
          </a:prstGeom>
          <a:solidFill>
            <a:srgbClr val="FFEEEB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1832" y="1783080"/>
            <a:ext cx="438912" cy="438912"/>
          </a:xfrm>
          <a:prstGeom prst="ellipse">
            <a:avLst/>
          </a:prstGeom>
          <a:solidFill>
            <a:srgbClr val="BE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047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Too 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wet vapor/liquid risk at compressor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600200"/>
            <a:ext cx="3383279" cy="1645920"/>
          </a:xfrm>
          <a:prstGeom prst="roundRect">
            <a:avLst/>
          </a:prstGeom>
          <a:solidFill>
            <a:srgbClr val="ECF8EE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1783080"/>
            <a:ext cx="438912" cy="438912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5663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Correct range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stable evaporation and compressor protection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600200"/>
            <a:ext cx="3383279" cy="1645920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074152" y="1783080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2279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Too high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072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starved evaporator; reduced capacity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657600"/>
            <a:ext cx="3383279" cy="1645920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2" y="3840480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39593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90472" y="38404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Field actions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" y="44074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check charge, airflow, bulb placement, valve setting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10698480" cy="47548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500" b="1" i="0">
                <a:solidFill>
                  <a:srgbClr val="11374B"/>
                </a:solidFill>
                <a:latin typeface="Aptos Display"/>
              </a:rPr>
              <a:t>AHU and FCU solve different distribution problems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50976"/>
            <a:ext cx="1033272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30" b="0" i="0">
                <a:solidFill>
                  <a:srgbClr val="5A6973"/>
                </a:solidFill>
                <a:latin typeface="Aptos"/>
              </a:rPr>
              <a:t>Centralized air handling vs room-by-room terminals.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4590288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109728" cy="44439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92808"/>
            <a:ext cx="3950207" cy="2103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30" b="1" i="0">
                <a:solidFill>
                  <a:srgbClr val="2A9D8F"/>
                </a:solidFill>
                <a:latin typeface="Aptos Display"/>
              </a:rPr>
              <a:t>AIR-SIDE EQUIPMENT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157984"/>
            <a:ext cx="3950207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000" b="1" i="0">
                <a:solidFill>
                  <a:srgbClr val="11374B"/>
                </a:solidFill>
                <a:latin typeface="Aptos Display"/>
              </a:rPr>
              <a:t>Choose the air distribution strategy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2944368"/>
            <a:ext cx="3904487" cy="804672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310896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200400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044951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20" b="1" i="0">
                <a:solidFill>
                  <a:srgbClr val="232D37"/>
                </a:solidFill>
                <a:latin typeface="Aptos Display"/>
              </a:rPr>
              <a:t>AHU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291839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large zones, ducts, central filtration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858768"/>
            <a:ext cx="3904487" cy="804672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4023359"/>
            <a:ext cx="365760" cy="36576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114800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959352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20" b="1" i="0">
                <a:solidFill>
                  <a:srgbClr val="232D37"/>
                </a:solidFill>
                <a:latin typeface="Aptos Display"/>
              </a:rPr>
              <a:t>FCU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206240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individual rooms, compact terminal unit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4773168"/>
            <a:ext cx="3904487" cy="804672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0704" y="4937759"/>
            <a:ext cx="365760" cy="36576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5029200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873752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20" b="1" i="0">
                <a:solidFill>
                  <a:srgbClr val="232D37"/>
                </a:solidFill>
                <a:latin typeface="Aptos Display"/>
              </a:rPr>
              <a:t>Fresh air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5120640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often needs AHU or DOAS coordination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1664208"/>
            <a:ext cx="6126480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content_fig07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3120" y="1874519"/>
            <a:ext cx="5181599" cy="38862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715000" y="5870448"/>
            <a:ext cx="5577840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60" b="0" i="0">
                <a:solidFill>
                  <a:srgbClr val="5A6973"/>
                </a:solidFill>
                <a:latin typeface="Aptos"/>
              </a:rPr>
              <a:t>AHU vs FCU strategies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10698480" cy="47548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500" b="1" i="0">
                <a:solidFill>
                  <a:srgbClr val="11374B"/>
                </a:solidFill>
                <a:latin typeface="Aptos Display"/>
              </a:rPr>
              <a:t>Selection scenario: 300 TR hotel chiller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50976"/>
            <a:ext cx="1033272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30" b="0" i="0">
                <a:solidFill>
                  <a:srgbClr val="5A6973"/>
                </a:solidFill>
                <a:latin typeface="Aptos"/>
              </a:rPr>
              <a:t>A 600 TR hotel plant with two 300 TR chillers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600200"/>
            <a:ext cx="3383279" cy="1645920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1832" y="1783080"/>
            <a:ext cx="438912" cy="438912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047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Candidate types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screw and centrifugal both cover 300 TR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600200"/>
            <a:ext cx="3383279" cy="1645920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1783080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5663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Hotel 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variable occupancy and part-load operation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600200"/>
            <a:ext cx="3383279" cy="1645920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074152" y="1783080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2279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Screw benefit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072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stable part-load without surge risk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657600"/>
            <a:ext cx="3383279" cy="1645920"/>
          </a:xfrm>
          <a:prstGeom prst="roundRect">
            <a:avLst/>
          </a:prstGeom>
          <a:solidFill>
            <a:srgbClr val="ECF8EE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2" y="3840480"/>
            <a:ext cx="438912" cy="438912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39593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90472" y="38404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Centrifugal benefit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" y="44074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higher full-load COP in large plants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3657600"/>
            <a:ext cx="3383279" cy="1645920"/>
          </a:xfrm>
          <a:prstGeom prst="roundRect">
            <a:avLst/>
          </a:prstGeom>
          <a:solidFill>
            <a:srgbClr val="FFF7E2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07992" y="3840480"/>
            <a:ext cx="438912" cy="438912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07992" y="39593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56632" y="38404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Engineering answer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44568" y="44074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justify selection by load profile, not capacity alone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10698480" cy="47548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500" b="1" i="0">
                <a:solidFill>
                  <a:srgbClr val="11374B"/>
                </a:solidFill>
                <a:latin typeface="Aptos Display"/>
              </a:rPr>
              <a:t>Pause question: choose the equipment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50976"/>
            <a:ext cx="1033272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30" b="0" i="0">
                <a:solidFill>
                  <a:srgbClr val="5A6973"/>
                </a:solidFill>
                <a:latin typeface="Aptos"/>
              </a:rPr>
              <a:t>A hospital needs quiet, reliable 24/7 operation and good filtration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600200"/>
            <a:ext cx="3383279" cy="1645920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1832" y="1783080"/>
            <a:ext cx="438912" cy="438912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047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Compressor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large chillers with redundancy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600200"/>
            <a:ext cx="3383279" cy="1645920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1783080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5663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Condenser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water-cooled if lifecycle energy justifies 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600200"/>
            <a:ext cx="3383279" cy="1645920"/>
          </a:xfrm>
          <a:prstGeom prst="roundRect">
            <a:avLst/>
          </a:prstGeom>
          <a:solidFill>
            <a:srgbClr val="ECF8EE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074152" y="1783080"/>
            <a:ext cx="438912" cy="438912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2279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Air side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072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AHU for filtration and fresh air control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657600"/>
            <a:ext cx="3383279" cy="1645920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2" y="3840480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39593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90472" y="38404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Controls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" y="44074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monitor superheat, condenser water, and alarms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10698480" cy="47548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500" b="1" i="0">
                <a:solidFill>
                  <a:srgbClr val="11374B"/>
                </a:solidFill>
                <a:latin typeface="Aptos Display"/>
              </a:rPr>
              <a:t>Field/maintenance checks that connect to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50976"/>
            <a:ext cx="1033272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30" b="0" i="0">
                <a:solidFill>
                  <a:srgbClr val="5A6973"/>
                </a:solidFill>
                <a:latin typeface="Aptos"/>
              </a:rPr>
              <a:t>Adds practical discussion time for technicians and engineers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600200"/>
            <a:ext cx="3383279" cy="1645920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1832" y="1783080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047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Compressor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listen for vibration, check current, suction/discharge pressures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600200"/>
            <a:ext cx="3383279" cy="1645920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1783080"/>
            <a:ext cx="438912" cy="438912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5663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Condenser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clean coil/tower, avoid hot-air recirculation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600200"/>
            <a:ext cx="3383279" cy="1645920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074152" y="1783080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2279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Expansion device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072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verify superheat response and bulb placement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657600"/>
            <a:ext cx="3383279" cy="1645920"/>
          </a:xfrm>
          <a:prstGeom prst="roundRect">
            <a:avLst/>
          </a:prstGeom>
          <a:solidFill>
            <a:srgbClr val="ECF8EE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2" y="3840480"/>
            <a:ext cx="438912" cy="438912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39593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90472" y="38404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AHU/FCU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" y="44074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filter condition, coil cleanliness, fan airflow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3657600"/>
            <a:ext cx="3383279" cy="1645920"/>
          </a:xfrm>
          <a:prstGeom prst="roundRect">
            <a:avLst/>
          </a:prstGeom>
          <a:solidFill>
            <a:srgbClr val="FFF7E2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07992" y="3840480"/>
            <a:ext cx="438912" cy="438912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07992" y="39593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56632" y="38404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Design lesson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44568" y="44074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maintenance access is part of equipment selection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10698480" cy="47548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500" b="1" i="0">
                <a:solidFill>
                  <a:srgbClr val="11374B"/>
                </a:solidFill>
                <a:latin typeface="Aptos Display"/>
              </a:rPr>
              <a:t>Topic 1.4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50976"/>
            <a:ext cx="1033272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30" b="0" i="0">
                <a:solidFill>
                  <a:srgbClr val="5A6973"/>
                </a:solidFill>
                <a:latin typeface="Aptos"/>
              </a:rPr>
              <a:t>What students should remember for design conversations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240280"/>
            <a:ext cx="3063240" cy="260604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57400" y="2578608"/>
            <a:ext cx="749808" cy="749808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2798064"/>
            <a:ext cx="749808" cy="14630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611880"/>
            <a:ext cx="2606040" cy="29260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400" b="1" i="0">
                <a:solidFill>
                  <a:srgbClr val="232D37"/>
                </a:solidFill>
                <a:latin typeface="Aptos Display"/>
              </a:rPr>
              <a:t>Equipment maps to cycle functions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05072"/>
            <a:ext cx="2423160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0" i="0">
                <a:solidFill>
                  <a:srgbClr val="5A6973"/>
                </a:solidFill>
                <a:latin typeface="Aptos"/>
              </a:rPr>
              <a:t>each machine implements a thermodynamic role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7720" y="2240280"/>
            <a:ext cx="3063240" cy="260604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760720" y="2578608"/>
            <a:ext cx="749808" cy="749808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0" y="2798064"/>
            <a:ext cx="749808" cy="14630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611880"/>
            <a:ext cx="2606040" cy="29260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400" b="1" i="0">
                <a:solidFill>
                  <a:srgbClr val="232D37"/>
                </a:solidFill>
                <a:latin typeface="Aptos Display"/>
              </a:rPr>
              <a:t>Selection is context-dependent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59" y="4005072"/>
            <a:ext cx="2423160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0" i="0">
                <a:solidFill>
                  <a:srgbClr val="5A6973"/>
                </a:solidFill>
                <a:latin typeface="Aptos"/>
              </a:rPr>
              <a:t>capacity, load profile, first cost, efficiency, maintenance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2240280"/>
            <a:ext cx="3063240" cy="260604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464040" y="2578608"/>
            <a:ext cx="749808" cy="749808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40" y="2798064"/>
            <a:ext cx="749808" cy="14630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3611880"/>
            <a:ext cx="2606040" cy="29260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400" b="1" i="0">
                <a:solidFill>
                  <a:srgbClr val="232D37"/>
                </a:solidFill>
                <a:latin typeface="Aptos Display"/>
              </a:rPr>
              <a:t>Air-side choice shapes operation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4005072"/>
            <a:ext cx="2423160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0" i="0">
                <a:solidFill>
                  <a:srgbClr val="5A6973"/>
                </a:solidFill>
                <a:latin typeface="Aptos"/>
              </a:rPr>
              <a:t>AHU for central control; FCU for distributed zones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