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869680" y="201168"/>
            <a:ext cx="3319272" cy="2377440"/>
          </a:xfrm>
          <a:prstGeom prst="rtTriangle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601200" y="4389120"/>
            <a:ext cx="2587752" cy="2468880"/>
          </a:xfrm>
          <a:prstGeom prst="rtTriangl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5303520" cy="25603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00" b="1" i="0">
                <a:solidFill>
                  <a:srgbClr val="2A9D8F"/>
                </a:solidFill>
                <a:latin typeface="Aptos Display"/>
              </a:rPr>
              <a:t>AIR CONDITIONING · 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5760720" cy="8686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3600" b="1" i="0">
                <a:solidFill>
                  <a:srgbClr val="11374B"/>
                </a:solidFill>
                <a:latin typeface="Aptos Display"/>
              </a:rPr>
              <a:t>1.4 Main Equipment in Air Conditioning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5394960" cy="3657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800" b="0" i="0">
                <a:solidFill>
                  <a:srgbClr val="5A6973"/>
                </a:solidFill>
                <a:latin typeface="Aptos"/>
              </a:rPr>
              <a:t>Compressors, condensers, expansion devices, AHU and FCU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44368"/>
            <a:ext cx="5349240" cy="6400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900" b="1" i="0">
                <a:solidFill>
                  <a:srgbClr val="232D37"/>
                </a:solidFill>
                <a:latin typeface="Aptos Display"/>
              </a:rPr>
              <a:t>A visual-led lecture deck for concept-first teaching and engineering discussion.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" y="4078224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73652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2A9D8F"/>
                </a:solidFill>
                <a:latin typeface="Aptos Display"/>
              </a:rPr>
              <a:t>Compressor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3977639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6704" y="4078224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073652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457B9D"/>
                </a:solidFill>
                <a:latin typeface="Aptos Display"/>
              </a:rPr>
              <a:t>Condenser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44568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" y="4645152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40580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E76F51"/>
                </a:solidFill>
                <a:latin typeface="Aptos Display"/>
              </a:rPr>
              <a:t>Expansion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4544568"/>
            <a:ext cx="22402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46704" y="4645152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640580"/>
            <a:ext cx="1700784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69" b="1" i="0">
                <a:solidFill>
                  <a:srgbClr val="4CAF50"/>
                </a:solidFill>
                <a:latin typeface="Aptos Display"/>
              </a:rPr>
              <a:t>AHU/FCU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170432"/>
            <a:ext cx="45262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45552" y="1847088"/>
            <a:ext cx="1737360" cy="1737360"/>
          </a:xfrm>
          <a:prstGeom prst="ellipse">
            <a:avLst/>
          </a:prstGeom>
          <a:solidFill>
            <a:srgbClr val="E6F4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1234440" cy="32004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2800" b="1" i="0">
                <a:solidFill>
                  <a:srgbClr val="11374B"/>
                </a:solidFill>
                <a:latin typeface="Aptos Display"/>
              </a:rPr>
              <a:t>1.4</a:t>
            </a:r>
          </a:p>
        </p:txBody>
      </p:sp>
      <p:sp>
        <p:nvSpPr>
          <p:cNvPr id="24" name="Oval 23"/>
          <p:cNvSpPr/>
          <p:nvPr/>
        </p:nvSpPr>
        <p:spPr>
          <a:xfrm>
            <a:off x="6995160" y="1645920"/>
            <a:ext cx="713232" cy="71323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84708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9372600" y="1645920"/>
            <a:ext cx="713232" cy="71323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184708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6995160" y="3886200"/>
            <a:ext cx="713232" cy="71323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408736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9372600" y="3886200"/>
            <a:ext cx="713232" cy="71323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4087368"/>
            <a:ext cx="713232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956048"/>
            <a:ext cx="342900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5A6973"/>
                </a:solidFill>
                <a:latin typeface="Aptos Display"/>
              </a:rPr>
              <a:t>From components → decisions → engineering judgement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Equipment follows the refrigeration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The four functions become real machines and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EQUIPMENT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Same physics, many equipment choices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1323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Pressure 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compressor family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85616"/>
            <a:ext cx="3904487" cy="71323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020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4164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9534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Heat rejection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4223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condenser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08576"/>
            <a:ext cx="3904487" cy="71323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7316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6460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1830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Flow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6519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expansion device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1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09393"/>
            <a:ext cx="5760720" cy="36164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Main equipment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Compressor type depends strongly 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Small units and large plants use different compression mechanisms.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COMPRESSOR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Match technology to capacity and load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1323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Reciprocating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small, simple, serviceable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85616"/>
            <a:ext cx="3904487" cy="71323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020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4164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89534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Scroll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4223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quiet residential/light commercial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08576"/>
            <a:ext cx="3904487" cy="71323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7316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6460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1830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Screw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6519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medium-large, good part 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3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617470"/>
            <a:ext cx="5760720" cy="2400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Compressor type capacity/application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Condenser choice changes system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Lower condensing temperature usually means higher COP.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HEAT REJECTION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Air-cooled vs water-cooled is an energy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Air-cooled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simple, no water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77056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4164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330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867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Water-cooled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336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lower condensing temperature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91456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5604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474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011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Evaporative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480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approaches wet-bulb temperature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4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81428"/>
            <a:ext cx="5760720" cy="3072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Condensing temperature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Expansion devices meter refrigerant into the evaporator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Control precision increases from capillary tube to EEV.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FLOW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The valve protects superheat and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Capillary 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fixed, cheap, charge-sensitive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77056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4164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330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867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TXV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336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mechanical superheat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91456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560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474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011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EEV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480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fast, precise, inverter/VRF friendly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6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489453"/>
            <a:ext cx="5760720" cy="26563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Expansion device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AHU and FCU solve different air-distribution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Centralized air handling versus room-by-room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AIR-SIDE EQUIPMENT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Choose distribution strategy by building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04672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186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AHU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192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large zones, ductwork, central filtration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877056"/>
            <a:ext cx="3904487" cy="804672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41648"/>
            <a:ext cx="365760" cy="36576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330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867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FCU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336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individual zones, compact terminal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791456"/>
            <a:ext cx="3904487" cy="804672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956048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047488"/>
            <a:ext cx="365760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01184"/>
            <a:ext cx="3172968" cy="1828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Fresh 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48072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often handled centrally or by DOAS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07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1874519"/>
            <a:ext cx="5181599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AHU vs FCU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69848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600" b="1" i="0">
                <a:solidFill>
                  <a:srgbClr val="11374B"/>
                </a:solidFill>
                <a:latin typeface="Aptos Display"/>
              </a:rPr>
              <a:t>Topic 1.4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0" i="0">
                <a:solidFill>
                  <a:srgbClr val="5A6973"/>
                </a:solidFill>
                <a:latin typeface="Aptos"/>
              </a:rPr>
              <a:t>What students should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0292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0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50" b="0" i="0">
                <a:solidFill>
                  <a:srgbClr val="78828C"/>
                </a:solidFill>
                <a:latin typeface="Aptos"/>
              </a:rPr>
              <a:t>Air Conditioning · Chapter 1 · Topic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50292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85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652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2880360" cy="23317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2633472"/>
            <a:ext cx="749808" cy="74980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852928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80"/>
            <a:ext cx="2423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Compressor sets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77639"/>
            <a:ext cx="228600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30" b="0" i="0">
                <a:solidFill>
                  <a:srgbClr val="5A6973"/>
                </a:solidFill>
                <a:latin typeface="Aptos"/>
              </a:rPr>
              <a:t>select by size, load profile, and efficiency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331720"/>
            <a:ext cx="2880360" cy="23317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2120" y="2633472"/>
            <a:ext cx="749808" cy="74980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852928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11880"/>
            <a:ext cx="2423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Condenser sets heat rejection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977639"/>
            <a:ext cx="228600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30" b="0" i="0">
                <a:solidFill>
                  <a:srgbClr val="5A6973"/>
                </a:solidFill>
                <a:latin typeface="Aptos"/>
              </a:rPr>
              <a:t>water-cooled can raise COP but adds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331720"/>
            <a:ext cx="2880360" cy="23317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0" y="2633472"/>
            <a:ext cx="749808" cy="74980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852928"/>
            <a:ext cx="749808" cy="14630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11880"/>
            <a:ext cx="242316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00" b="1" i="0">
                <a:solidFill>
                  <a:srgbClr val="232D37"/>
                </a:solidFill>
                <a:latin typeface="Aptos Display"/>
              </a:rPr>
              <a:t>Air-side choice affects operation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977639"/>
            <a:ext cx="228600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30" b="0" i="0">
                <a:solidFill>
                  <a:srgbClr val="5A6973"/>
                </a:solidFill>
                <a:latin typeface="Aptos"/>
              </a:rPr>
              <a:t>AHU for central zones; FCU for distributed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