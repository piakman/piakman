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8869680" y="201168"/>
            <a:ext cx="3319272" cy="2377440"/>
          </a:xfrm>
          <a:prstGeom prst="rtTriangle">
            <a:avLst/>
          </a:prstGeom>
          <a:solidFill>
            <a:srgbClr val="E6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ight Triangle 3"/>
          <p:cNvSpPr/>
          <p:nvPr/>
        </p:nvSpPr>
        <p:spPr>
          <a:xfrm>
            <a:off x="9601200" y="4389120"/>
            <a:ext cx="2587752" cy="2468880"/>
          </a:xfrm>
          <a:prstGeom prst="rtTriangle">
            <a:avLst/>
          </a:prstGeom>
          <a:solidFill>
            <a:srgbClr val="FFEF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749808"/>
            <a:ext cx="530352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00" b="1" i="0">
                <a:solidFill>
                  <a:srgbClr val="2A9D8F"/>
                </a:solidFill>
                <a:latin typeface="Aptos Display"/>
              </a:rPr>
              <a:t>AIR CONDITIONING · CHAPTER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43000"/>
            <a:ext cx="5760720" cy="8686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3600" b="1" i="0">
                <a:solidFill>
                  <a:srgbClr val="11374B"/>
                </a:solidFill>
                <a:latin typeface="Aptos Display"/>
              </a:rPr>
              <a:t>1.3 Vapor Compression Refrigeration Cycle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67712"/>
            <a:ext cx="5394960" cy="36576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800" b="0" i="0">
                <a:solidFill>
                  <a:srgbClr val="5A6973"/>
                </a:solidFill>
                <a:latin typeface="Aptos"/>
              </a:rPr>
              <a:t>Latent heat, component loop, P-h diagram, COP, and practical reliability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44368"/>
            <a:ext cx="5349240" cy="6400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900" b="1" i="0">
                <a:solidFill>
                  <a:srgbClr val="232D37"/>
                </a:solidFill>
                <a:latin typeface="Aptos Display"/>
              </a:rPr>
              <a:t>30-minute visual lecture deck: concept → engineering judgement → quick check.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2104" y="4078224"/>
            <a:ext cx="182880" cy="18288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2A9D8F"/>
                </a:solidFill>
                <a:latin typeface="Aptos Display"/>
              </a:rPr>
              <a:t>Latent heat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7832" y="3977639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57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46704" y="4078224"/>
            <a:ext cx="182880" cy="18288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4073652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57B9D"/>
                </a:solidFill>
                <a:latin typeface="Aptos Display"/>
              </a:rPr>
              <a:t>P-h diagram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132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2104" y="4645152"/>
            <a:ext cx="182880" cy="1828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E76F51"/>
                </a:solidFill>
                <a:latin typeface="Aptos Display"/>
              </a:rPr>
              <a:t>COP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27832" y="4544568"/>
            <a:ext cx="2240280" cy="3931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CAF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46704" y="4645152"/>
            <a:ext cx="182880" cy="18288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640580"/>
            <a:ext cx="1700784" cy="15544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69" b="1" i="0">
                <a:solidFill>
                  <a:srgbClr val="4CAF50"/>
                </a:solidFill>
                <a:latin typeface="Aptos Display"/>
              </a:rPr>
              <a:t>Superheat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1170432"/>
            <a:ext cx="4526280" cy="434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845552" y="1847088"/>
            <a:ext cx="1737360" cy="1737360"/>
          </a:xfrm>
          <a:prstGeom prst="ellipse">
            <a:avLst/>
          </a:prstGeom>
          <a:solidFill>
            <a:srgbClr val="E6F4F7"/>
          </a:solidFill>
          <a:ln w="25400">
            <a:solidFill>
              <a:srgbClr val="2A9D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92440" y="2331720"/>
            <a:ext cx="1234440" cy="32004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2800" b="1" i="0">
                <a:solidFill>
                  <a:srgbClr val="11374B"/>
                </a:solidFill>
                <a:latin typeface="Aptos Display"/>
              </a:rPr>
              <a:t>1.3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956048"/>
            <a:ext cx="342900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200" b="1" i="0">
                <a:solidFill>
                  <a:srgbClr val="5A6973"/>
                </a:solidFill>
                <a:latin typeface="Aptos Display"/>
              </a:rPr>
              <a:t>Enough detail for discussion, examples, and 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Learning outcomes for a 30-minute lecture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By the end, students should be able to explain and use these ideas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Explain latent heat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why phase change lets AC move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Trace the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compressor → condenser → expansion → evaporator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Read a P-h diagram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identify directions and enthalpy differences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Estimate performance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COP, EER, mass flow, condenser heat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Discuss reliability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subcooling and superheat protect operation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Latent heat is the basis of refrigeration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Phase change moves large heat at nearly constant temperature.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FOUNDATION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Cooling comes from evaporation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80467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Evaporation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absorbs heat from indoor air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858768"/>
            <a:ext cx="3904487" cy="80467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4023359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1148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9593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Condensation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2062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rejects heat outdoors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773168"/>
            <a:ext cx="3904487" cy="80467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93775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50292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87375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Pressure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512064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sets boiling temperature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1_laten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500292"/>
            <a:ext cx="5760720" cy="63465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Latent heat during phase change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Four components form a closed refrigerant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Each part changes pressure, phase, or heat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CYCLE ANATOMY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Follow the refrigerant, not the air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Compressor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low-pressure vapor → high-pressure vapor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Condenser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vapor rejects heat and becomes liquid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Expansion device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liquid pressure drops; partial flash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2_cycle_loo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8810" y="1874519"/>
            <a:ext cx="5570220" cy="38862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Four-component loop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Component functions in engineering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Use these phrases when explaining equipment operation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Compressor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adds work; raises pressure and saturation temperature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Condenser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must be hotter than outdoor sink to reject heat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Expansion device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throttles; enthalpy is approximately constant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Evaporator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must be colder than room air/dew point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Refrigerant lines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connect state points; insulation matters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3657600"/>
            <a:ext cx="3383279" cy="16459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74152" y="3840480"/>
            <a:ext cx="438912" cy="438912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7415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279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Controls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keep pressures and superheat in safe range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Four processes repeat continuously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The component loop can be read as a thermodynamic cycle.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PROCESS PATH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1→2→3→4→1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1→2 compression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pressure and enthalpy rise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2→3 condensation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constant-pressure heat rejection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3→4 expansion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pressure drops; throttling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3_process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3509010"/>
            <a:ext cx="5760720" cy="617219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Thermodynamic process map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The P-h diagram turns the cycle into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The horizontal distance is useful engineering information.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ANALYSIS TOOL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Read performance from enthalpy differences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qₑ = h₁ − h₄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refrigerating effect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w = h₂ − h₁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compressor work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qᶜ = h₂ − h₃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heat rejected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4_ph_diagram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976522"/>
            <a:ext cx="5760720" cy="368219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Pressure–enthalpy diagram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COP and EER are performance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Efficiency depends strongly on temperature lift.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664208"/>
            <a:ext cx="4590288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792" y="1664208"/>
            <a:ext cx="109728" cy="4443984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92808"/>
            <a:ext cx="3950207" cy="21031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30" b="1" i="0">
                <a:solidFill>
                  <a:srgbClr val="2A9D8F"/>
                </a:solidFill>
                <a:latin typeface="Aptos Display"/>
              </a:rPr>
              <a:t>EFFICIENCY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157984"/>
            <a:ext cx="3950207" cy="56692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000" b="1" i="0">
                <a:solidFill>
                  <a:srgbClr val="11374B"/>
                </a:solidFill>
                <a:latin typeface="Aptos Display"/>
              </a:rPr>
              <a:t>Cooling output per energy 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112" y="2944368"/>
            <a:ext cx="3904487" cy="713232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3108960"/>
            <a:ext cx="365760" cy="36576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320040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81912" y="3044951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COP = Q̇ₑ / Ẇ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29183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dimensionless ratio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112" y="3767328"/>
            <a:ext cx="3904487" cy="713232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0704" y="3931920"/>
            <a:ext cx="365760" cy="365760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0704" y="402336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6791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EER = COP × 3.412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1912" y="4114800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IP catalogue relation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4590288"/>
            <a:ext cx="3904487" cy="713232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E6EB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60704" y="4754879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846320"/>
            <a:ext cx="365760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690872"/>
            <a:ext cx="3172968" cy="18288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20" b="1" i="0">
                <a:solidFill>
                  <a:srgbClr val="232D37"/>
                </a:solidFill>
                <a:latin typeface="Aptos Display"/>
              </a:rPr>
              <a:t>Higher lift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1912" y="4937759"/>
            <a:ext cx="3127247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80" b="0" i="0">
                <a:solidFill>
                  <a:srgbClr val="5A6973"/>
                </a:solidFill>
                <a:latin typeface="Aptos"/>
              </a:rPr>
              <a:t>lower COP when condenser gets hotter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1664208"/>
            <a:ext cx="6126480" cy="444398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fig_15_cop_rang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2457623"/>
            <a:ext cx="5760720" cy="27199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715000" y="5870448"/>
            <a:ext cx="5577840" cy="16459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860" b="0" i="0">
                <a:solidFill>
                  <a:srgbClr val="5A6973"/>
                </a:solidFill>
                <a:latin typeface="Aptos"/>
              </a:rPr>
              <a:t>Typical COP ranges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Worked example structure: reading a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A 3 TR unit can be analyzed from four enthalpy values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read h₁, h₂, h₃, h₄ from P-h diagram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Step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qₑ = h₁ − h₄ gives cooling per kg/lb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w = h₂ − h₁ gives compressor input per kg/lb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Step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COP = qₑ / w; compare to expected 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Step 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ṁ = capacity / qₑ gives refrigerant flow rate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3657600"/>
            <a:ext cx="3383279" cy="16459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74152" y="3840480"/>
            <a:ext cx="438912" cy="438912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7415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279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Step 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qᶜ = qₑ + w verifies heat balance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Practical modifications: subcooling and superheating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Real systems add margins for reliability and efficiency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Subcooling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liquid below saturation before expansion device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Why subcool?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prevents flash gas in liquid line and increases effect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Superheating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vapor above saturation before compressor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Why superheat?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prevents liquid slugging and protects compressor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Typical values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subcooling 3–8°C; superheat 6–11°C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07415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7415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2279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Teaching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1072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too much margin can reduce efficiency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Pause question for students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If outdoor temperature rises sharply in afternoon, what happens?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Condensing temp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usually increases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Compressor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increases because pressure ratio rises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COP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decreases for the same cooling load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Design response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improve condenser heat rejection and airflow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Instructor board exercise: 10 TR cycle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Use this slide to spend 4–5 minutes calculating with students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Given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Q̇ₑ = 120,000 Btu/h; read h values from P-h diagram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Find qₑ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h₁ − h₄: cooling per lb of refrigerant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Find Ẇ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ṁ × (h₂ − h₁): compressor power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Find COP/EER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compare answer with expected range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FFF7E2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Verify heat balance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qᶜ = qₑ + w at condenser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Troubleshooting discussion: what changed in the cycle?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Use symptoms to connect field measurements back to thermodynamics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383279" cy="1645920"/>
          </a:xfrm>
          <a:prstGeom prst="roundRect">
            <a:avLst/>
          </a:prstGeom>
          <a:solidFill>
            <a:srgbClr val="FFF1E8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832" y="178308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047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Dirty condenser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condensing pressure rises; COP falls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00200"/>
            <a:ext cx="3383279" cy="1645920"/>
          </a:xfrm>
          <a:prstGeom prst="roundRect">
            <a:avLst/>
          </a:prstGeom>
          <a:solidFill>
            <a:srgbClr val="EBF4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07992" y="1783080"/>
            <a:ext cx="438912" cy="438912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799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663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Low airflow at evaporator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evaporating pressure drops; coil may freeze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600200"/>
            <a:ext cx="3383279" cy="1645920"/>
          </a:xfrm>
          <a:prstGeom prst="roundRect">
            <a:avLst/>
          </a:prstGeom>
          <a:solidFill>
            <a:srgbClr val="FFEEEB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4152" y="1783080"/>
            <a:ext cx="438912" cy="438912"/>
          </a:xfrm>
          <a:prstGeom prst="ellipse">
            <a:avLst/>
          </a:prstGeom>
          <a:solidFill>
            <a:srgbClr val="BE4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4152" y="19019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22792" y="17830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Low refrigerant charge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0728" y="23500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superheat rises; capacity drops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7240" y="3657600"/>
            <a:ext cx="3383279" cy="1645920"/>
          </a:xfrm>
          <a:prstGeom prst="roundRect">
            <a:avLst/>
          </a:prstGeom>
          <a:solidFill>
            <a:srgbClr val="E6F4F7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41832" y="384048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9047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Overcharge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subcooling/pressure may rise; compressor stress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3657600"/>
            <a:ext cx="3383279" cy="1645920"/>
          </a:xfrm>
          <a:prstGeom prst="roundRect">
            <a:avLst/>
          </a:prstGeom>
          <a:solidFill>
            <a:srgbClr val="ECF8EE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507992" y="3840480"/>
            <a:ext cx="438912" cy="438912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07992" y="3959352"/>
            <a:ext cx="438912" cy="10058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ptos Display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6632" y="3840480"/>
            <a:ext cx="2514600" cy="256032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300" b="1" i="0">
                <a:solidFill>
                  <a:srgbClr val="232D37"/>
                </a:solidFill>
                <a:latin typeface="Aptos Display"/>
              </a:rPr>
              <a:t>Good diagnosis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4568" y="4407408"/>
            <a:ext cx="2999232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919" b="0" i="0">
                <a:solidFill>
                  <a:srgbClr val="5A6973"/>
                </a:solidFill>
                <a:latin typeface="Aptos"/>
              </a:rPr>
              <a:t>requires temperatures, pressures, and electrical input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201168"/>
          </a:xfrm>
          <a:prstGeom prst="rect">
            <a:avLst/>
          </a:prstGeom>
          <a:solidFill>
            <a:srgbClr val="1137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38912"/>
            <a:ext cx="10698480" cy="47548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2500" b="1" i="0">
                <a:solidFill>
                  <a:srgbClr val="11374B"/>
                </a:solidFill>
                <a:latin typeface="Aptos Display"/>
              </a:rPr>
              <a:t>Topic 1.3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950976"/>
            <a:ext cx="10332720" cy="2743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1230" b="0" i="0">
                <a:solidFill>
                  <a:srgbClr val="5A6973"/>
                </a:solidFill>
                <a:latin typeface="Aptos"/>
              </a:rPr>
              <a:t>What students should remember for design conversations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5029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100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55664"/>
            <a:ext cx="777240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r>
              <a:rPr sz="850" b="0" i="0">
                <a:solidFill>
                  <a:srgbClr val="78828C"/>
                </a:solidFill>
                <a:latin typeface="Aptos"/>
              </a:rPr>
              <a:t>Air Conditioning · Chapter 1 · Topic 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92840" y="6455664"/>
            <a:ext cx="502920" cy="20116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r"/>
            <a:r>
              <a:rPr sz="850" b="0" i="0">
                <a:solidFill>
                  <a:srgbClr val="78828C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57400" y="2578608"/>
            <a:ext cx="749808" cy="749808"/>
          </a:xfrm>
          <a:prstGeom prst="ellipse">
            <a:avLst/>
          </a:prstGeom>
          <a:solidFill>
            <a:srgbClr val="457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Phase change moves heat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evaporation cools indoor air; condensation rejects heat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0720" y="2578608"/>
            <a:ext cx="749808" cy="749808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4632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P-h diagram quantifies cycle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59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read qₑ, w, qᶜ, mass flow, and COP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2240280"/>
            <a:ext cx="3063240" cy="2606040"/>
          </a:xfrm>
          <a:prstGeom prst="roundRect">
            <a:avLst/>
          </a:prstGeom>
          <a:solidFill>
            <a:srgbClr val="F5F9FA"/>
          </a:solidFill>
          <a:ln w="12700">
            <a:solidFill>
              <a:srgbClr val="DC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464040" y="2578608"/>
            <a:ext cx="749808" cy="749808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0" y="2798064"/>
            <a:ext cx="749808" cy="146304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611880"/>
            <a:ext cx="2606040" cy="292608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1400" b="1" i="0">
                <a:solidFill>
                  <a:srgbClr val="232D37"/>
                </a:solidFill>
                <a:latin typeface="Aptos Display"/>
              </a:rPr>
              <a:t>Reliability margins matter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4005072"/>
            <a:ext cx="2423160" cy="502920"/>
          </a:xfrm>
          <a:prstGeom prst="rect">
            <a:avLst/>
          </a:prstGeom>
          <a:noFill/>
        </p:spPr>
        <p:txBody>
          <a:bodyPr wrap="square" lIns="27432" rIns="27432" tIns="9144" bIns="9144">
            <a:noAutofit/>
          </a:bodyPr>
          <a:lstStyle/>
          <a:p>
            <a:pPr algn="ctr"/>
            <a:r>
              <a:rPr sz="950" b="0" i="0">
                <a:solidFill>
                  <a:srgbClr val="5A6973"/>
                </a:solidFill>
                <a:latin typeface="Aptos"/>
              </a:rPr>
              <a:t>superheat protects compressor; subcooling protects liquid feed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