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869680" y="201168"/>
            <a:ext cx="3319272" cy="2377440"/>
          </a:xfrm>
          <a:prstGeom prst="rtTriangle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9601200" y="4389120"/>
            <a:ext cx="2587752" cy="2468880"/>
          </a:xfrm>
          <a:prstGeom prst="rtTriangl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530352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00" b="1" i="0">
                <a:solidFill>
                  <a:srgbClr val="2A9D8F"/>
                </a:solidFill>
                <a:latin typeface="Aptos Display"/>
              </a:rPr>
              <a:t>AIR CONDITIONING · 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5760720" cy="8686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3600" b="1" i="0">
                <a:solidFill>
                  <a:srgbClr val="11374B"/>
                </a:solidFill>
                <a:latin typeface="Aptos Display"/>
              </a:rPr>
              <a:t>1.3 Vapor Compression Refrigeration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5394960" cy="3657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800" b="0" i="0">
                <a:solidFill>
                  <a:srgbClr val="5A6973"/>
                </a:solidFill>
                <a:latin typeface="Aptos"/>
              </a:rPr>
              <a:t>Latent heat, four components, P-h diagram, and COP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44368"/>
            <a:ext cx="5349240" cy="6400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900" b="1" i="0">
                <a:solidFill>
                  <a:srgbClr val="232D37"/>
                </a:solidFill>
                <a:latin typeface="Aptos Display"/>
              </a:rPr>
              <a:t>A visual-led lecture deck for concept-first teaching and engineering discussion.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977639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" y="4078224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73652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2A9D8F"/>
                </a:solidFill>
                <a:latin typeface="Aptos Display"/>
              </a:rPr>
              <a:t>Latent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3977639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46704" y="4078224"/>
            <a:ext cx="182880" cy="18288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4073652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457B9D"/>
                </a:solidFill>
                <a:latin typeface="Aptos Display"/>
              </a:rPr>
              <a:t>Compressor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544568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" y="4645152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40580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E76F51"/>
                </a:solidFill>
                <a:latin typeface="Aptos Display"/>
              </a:rPr>
              <a:t>P-h diagram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4544568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46704" y="4645152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640580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4CAF50"/>
                </a:solidFill>
                <a:latin typeface="Aptos Display"/>
              </a:rPr>
              <a:t>COP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170432"/>
            <a:ext cx="4526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45552" y="1847088"/>
            <a:ext cx="1737360" cy="1737360"/>
          </a:xfrm>
          <a:prstGeom prst="ellipse">
            <a:avLst/>
          </a:prstGeom>
          <a:solidFill>
            <a:srgbClr val="E6F4F7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331720"/>
            <a:ext cx="1234440" cy="32004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2800" b="1" i="0">
                <a:solidFill>
                  <a:srgbClr val="11374B"/>
                </a:solidFill>
                <a:latin typeface="Aptos Display"/>
              </a:rPr>
              <a:t>1.3</a:t>
            </a:r>
          </a:p>
        </p:txBody>
      </p:sp>
      <p:sp>
        <p:nvSpPr>
          <p:cNvPr id="24" name="Oval 23"/>
          <p:cNvSpPr/>
          <p:nvPr/>
        </p:nvSpPr>
        <p:spPr>
          <a:xfrm>
            <a:off x="6995160" y="1645920"/>
            <a:ext cx="713232" cy="71323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1847088"/>
            <a:ext cx="713232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9372600" y="1645920"/>
            <a:ext cx="713232" cy="713232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1847088"/>
            <a:ext cx="713232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6995160" y="3886200"/>
            <a:ext cx="713232" cy="71323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4087368"/>
            <a:ext cx="713232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9372600" y="3886200"/>
            <a:ext cx="713232" cy="71323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4087368"/>
            <a:ext cx="713232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956048"/>
            <a:ext cx="342900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5A6973"/>
                </a:solidFill>
                <a:latin typeface="Aptos Display"/>
              </a:rPr>
              <a:t>From components → decisions → engineering judgement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Latent heat is the basis of refrigeration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Phase change moves large amounts of heat at nearly constant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THERMODYNAMIC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Cooling comes from evaporation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Evaporation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refrigerant absorbs heat indoors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77056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4164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330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867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Condensation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336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refrigerant rejects heat outdoors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91456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5604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474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9011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Boiling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480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set by refrigerant pressure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_11_laten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500292"/>
            <a:ext cx="5760720" cy="63465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Latent heat: heat transfer during phase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The cycle has four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Each component performs one thermodynamic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CLOSED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Pressure and phase are controlled in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71323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Compressor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raises pressure and temperature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85616"/>
            <a:ext cx="3904487" cy="71323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5020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4164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89534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Condenser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4223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rejects heat; vapor → liquid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08576"/>
            <a:ext cx="3904487" cy="71323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7316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6460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71830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Expansion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6519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drops pressure and temperature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_12_cycle_loo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810" y="1874519"/>
            <a:ext cx="5570220" cy="3886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Four-component refrigeration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Four processes repeat continuously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The same loop can be read as thermodynamic processes.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PROCESS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1→2→3→4→1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71323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1→2 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pressure rises; work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85616"/>
            <a:ext cx="3904487" cy="71323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5020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4164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89534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2→3 Condensation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4223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heat rejected at high pressure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08576"/>
            <a:ext cx="3904487" cy="71323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7316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6460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71830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3→4 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6519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throttling; pressure drops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_13_process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509010"/>
            <a:ext cx="5760720" cy="61721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Four processes of the vapor compression cycle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The P-h diagram turns the cycle into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Enthalpy differences give capacity, work, and heat rejection.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P-H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Horizontal axis is enthalpy; vertical axis is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713232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Refrigerating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h1 − h4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85616"/>
            <a:ext cx="3904487" cy="71323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5020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4164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89534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Compressor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4223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h2 − h1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08576"/>
            <a:ext cx="3904487" cy="71323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7316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6460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71830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Condenser rejection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6519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h2 − h3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_14_ph_diagra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76522"/>
            <a:ext cx="5760720" cy="36821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Pressure–enthalpy diagram with cycle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COP measures cooling per input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Higher COP means less electrical power for the same cooling.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EFFICIENCY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COP = useful cooling ÷ compressor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Typical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about 2.5–7.5 by system and condition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77056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4164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330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867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EER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336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EER = COP × 3.412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91456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5604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474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9011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Temperature lift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480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higher condensing temperature lowers COP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_15_cop_rang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457623"/>
            <a:ext cx="5760720" cy="27199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Typical COP ranges for vapor compression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Topic 1.3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What students should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0652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331720"/>
            <a:ext cx="2880360" cy="23317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3120" y="2633472"/>
            <a:ext cx="749808" cy="74980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852928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11880"/>
            <a:ext cx="2423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Latent heat moves heat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977639"/>
            <a:ext cx="2286000" cy="4114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30" b="0" i="0">
                <a:solidFill>
                  <a:srgbClr val="5A6973"/>
                </a:solidFill>
                <a:latin typeface="Aptos"/>
              </a:rPr>
              <a:t>Evaporation absorbs; condensation rejects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331720"/>
            <a:ext cx="2880360" cy="23317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32120" y="2633472"/>
            <a:ext cx="749808" cy="74980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852928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11880"/>
            <a:ext cx="2423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Four components form the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977639"/>
            <a:ext cx="2286000" cy="4114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30" b="0" i="0">
                <a:solidFill>
                  <a:srgbClr val="5A6973"/>
                </a:solidFill>
                <a:latin typeface="Aptos"/>
              </a:rPr>
              <a:t>compressor → condenser → expansion → evaporator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331720"/>
            <a:ext cx="2880360" cy="23317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0" y="2633472"/>
            <a:ext cx="749808" cy="74980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852928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11880"/>
            <a:ext cx="2423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P-h diagram quantifies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3977639"/>
            <a:ext cx="2286000" cy="4114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30" b="0" i="0">
                <a:solidFill>
                  <a:srgbClr val="5A6973"/>
                </a:solidFill>
                <a:latin typeface="Aptos"/>
              </a:rPr>
              <a:t>read effect, work, heat rejection, and COP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