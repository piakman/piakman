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961120" y="201168"/>
            <a:ext cx="3227832" cy="224028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92640" y="4343400"/>
            <a:ext cx="2496312" cy="251460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53035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566928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700" b="1" i="0">
                <a:solidFill>
                  <a:srgbClr val="11374B"/>
                </a:solidFill>
                <a:latin typeface="Aptos Display"/>
              </a:rPr>
              <a:t>1.3 Vapor Compression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31720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Latent heat, four components, P-h diagram, and COP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5257800" cy="7772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232D37"/>
                </a:solidFill>
                <a:latin typeface="Aptos Display"/>
              </a:rPr>
              <a:t>Follow the refrigerant to see how an air conditioner moves heat from indoors to outdoors.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423367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4229100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457B9D"/>
                </a:solidFill>
                <a:latin typeface="Aptos Display"/>
              </a:rPr>
              <a:t>Latent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45536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64408" y="423367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4229100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E76F51"/>
                </a:solidFill>
                <a:latin typeface="Aptos Display"/>
              </a:rPr>
              <a:t>Compressor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4800600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4796028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2A9D8F"/>
                </a:solidFill>
                <a:latin typeface="Aptos Display"/>
              </a:rPr>
              <a:t>P-h diagram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5536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64408" y="4800600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4796028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4CAF50"/>
                </a:solidFill>
                <a:latin typeface="Aptos Display"/>
              </a:rPr>
              <a:t>COP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115568"/>
            <a:ext cx="50749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1965960"/>
            <a:ext cx="1463040" cy="146304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423160"/>
            <a:ext cx="109728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 Display"/>
              </a:rPr>
              <a:t>1.3</a:t>
            </a:r>
          </a:p>
        </p:txBody>
      </p:sp>
      <p:sp>
        <p:nvSpPr>
          <p:cNvPr id="24" name="Oval 23"/>
          <p:cNvSpPr/>
          <p:nvPr/>
        </p:nvSpPr>
        <p:spPr>
          <a:xfrm>
            <a:off x="6903720" y="1828800"/>
            <a:ext cx="694944" cy="694944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029968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10287000" y="1828800"/>
            <a:ext cx="694944" cy="694944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029968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6903720" y="4434840"/>
            <a:ext cx="694944" cy="69494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636007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10287000" y="4434840"/>
            <a:ext cx="694944" cy="694944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4636007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74920"/>
            <a:ext cx="384048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Concept-first slides with teaching detail in the card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Refrigeration starts with latent heat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Phase change absorbs or releases heat at nearly constant temperature.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CORE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Cooling is boiling in the right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Evaporation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liquid → vapor absorbs heat indoors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Condensation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vapor → liquid releases heat outdoors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Pressure sets 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engineer controls boiling point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1_laten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500292"/>
            <a:ext cx="5760720" cy="63465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Latent heat during phase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The refrigerant loop has four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Each component changes one thing: pressure, heat, or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CYCLE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Trace the loop before doing equations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Compressor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raises pressure and saturation temperature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Condenser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rejects heat; vapor becomes liquid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Expansion device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drops pressure; liquid becomes cold mix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2_cycle_loo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810" y="1874519"/>
            <a:ext cx="5570220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Four-component refrigeration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The same loop is four thermodynamic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This is the bridge from equipment to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PROCESS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1→2→3→4→1 repeats continuously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1→2 Compression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work input; pressure rises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2→3 Condensation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heat out at high pressure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3→4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throttle; pressure drops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3_process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509010"/>
            <a:ext cx="5760720" cy="61721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Four thermodynamic processes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The P-h diagram turns the cycle into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Horizontal distances become cooling, work, and heat rejection.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ANALYSIS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Read enthalpy differences, not only labels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qₑ = h₁ − h₄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cooling effect per kg/lb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 = h₂ − h₁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compressor work per kg/lb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qᶜ = h₂ − h₃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condenser heat rejection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4_ph_diagra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76522"/>
            <a:ext cx="5760720" cy="368219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Pressure–enthalpy diagram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COP tells how hard the system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A larger temperature lift makes the compressor work harder.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Useful cooling divided by input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Q̇ cooling / Ẇ compressor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COP × 3.412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Hot condenser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higher pressure ratio → lower COP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5_cop_rang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457623"/>
            <a:ext cx="5760720" cy="27199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Typical COP ranges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Board example: read one cycle from a P-h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Spend 4–5 minutes calculating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read h₁, h₂, h₃, h₄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qₑ = h₁ − h₄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w = h₂ − h₁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COP = qₑ / 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776472"/>
            <a:ext cx="2971800" cy="123444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45152" y="3959352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ṁ = capacity / qₑ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76472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74152" y="395935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74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9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Step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verify qᶜ = qₑ + 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Real cycles need safety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Subcooling improves liquid feed; superheating protects compressor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Subcooling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liquid cooler than saturation before valve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Benefit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prevents flash gas and increases effect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Superheating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vapor hotter than saturation before compressor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Benefit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prevents liquid slugging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776472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45152" y="395935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Typical teaching 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subcool 3–8°C; superheat 6–11°C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76472"/>
            <a:ext cx="2971800" cy="123444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74152" y="3959352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74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9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Caution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too much margin can reduce efficiency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Troubleshooting is cycle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Symptoms move the state points on the diagram.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FIELD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Ask: which pressure or heat transfer changed?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Dirty condenser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condensing pressure rises; COP falls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Low evaporator airflow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coil may freeze; capacity drops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Low refrigerant charge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superheat rises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89320" y="2331720"/>
            <a:ext cx="1828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277977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600" b="1" i="0">
                <a:solidFill>
                  <a:srgbClr val="11374B"/>
                </a:solidFill>
                <a:latin typeface="Aptos Display"/>
              </a:rPr>
              <a:t>Indoor air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09560" y="2697480"/>
            <a:ext cx="960120" cy="457200"/>
          </a:xfrm>
          <a:prstGeom prst="rightArrow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3218688"/>
            <a:ext cx="1051560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457B9D"/>
                </a:solidFill>
                <a:latin typeface="Aptos Display"/>
              </a:rPr>
              <a:t>heat 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70848" y="2331720"/>
            <a:ext cx="1828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08592" y="277977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600" b="1" i="0">
                <a:solidFill>
                  <a:srgbClr val="11374B"/>
                </a:solidFill>
                <a:latin typeface="Aptos Display"/>
              </a:rPr>
              <a:t>Refrigerant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275320" y="4023360"/>
            <a:ext cx="1600200" cy="411480"/>
          </a:xfrm>
          <a:prstGeom prst="rightArrow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4498848"/>
            <a:ext cx="310896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phase change carries energy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Field symptoms interpreted through the cycle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Pause question: afternoon outdoor temperature rises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Predict what changes before revealing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Condensing temperature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increases because heat rejection is harder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Compressor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increases due to pressure ratio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decreases for the same cooling load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Design response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increase airflow/coil area or improve heat sink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Topic 1.3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91640"/>
            <a:ext cx="1071676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Phase change moves heat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evaporation absorbs; condensation rejects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P-h diagram quantifies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read qₑ, w, qᶜ, mass flow, and COP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Field problems shift the cycle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superheat/subcooling and pressures reveal what changed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