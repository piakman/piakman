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Open by telling students that today we will not define air conditioning as “making a room cold.” We will build the definition by looking at what a controlled indoor environment must do. Point to the room visual: the room is the system boundary, and the air inside has multiple properties that can be controlled.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Ask: If a room is cold but humid, smelly, and stagnant, is it air-conditioned? Let students answer. Then reveal the four parameters. Emphasize “simultaneous.” A system that controls only temperature may still fail the engineering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Walk clockwise around the four quadrants. Do not read them as a list only; connect them. Example: lower temperature changes relative humidity; air circulation affects perceived comfort; filtration and outdoor air affect cleanliness. End with: the design target depends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Point to the room first. Tell a story: students complain even when the thermostat says 25 °C. Ask what could be wrong. Then reveal humidity, air movement, and cleanliness. This slide trains them not to diagnose comfort from temperature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Contrast people-centered design with product-centered design. Ask: In a textile mill, should we optimize for workers or threads? In a hospital operating room, comfort may matter, but infection control and procedure requirements dominate.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Use the body diagram. Explain metabolism generates heat continuously. Comfort means the body loses heat neither too slowly nor too quickly. This justifies why temperature, humidity, air velocity, and surrounding surfaces all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minutes. Tell three mini-stories. Textile: low RH breaks threads and causes static, so humidification can be the main AC function. Paper: humidity damages dimensional stability, so dehumidification is central. Seed storage: temperature and humidity protect biological viability. Ask students: which one is comfort AC?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Draw attention to the curve. Explain that equipment capacity must cover the peak, but most of the time the building operates below peak. Undersizing and oversizing both create problems. This introduces why load calculation is central to HVAC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Tell students that solar radiation may peak near noon, but cooling load can peak later because walls, roofs, and floors store heat. Add internal gains from occupants, lighting, and equipment. For an office, the design hour often becomes about 3–4 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Use the dark room as a contrast to the office. Solar heat is not the dominant term. The peak arrives when the crowd is largest and the lighting is fully on. Emphasize latent load from breathing and perspiration. This prepares students to think from use-case rather than rules of thumb.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Make the workflow feel like a chain. If the first link is weak, everything after it is compromised. Explain that survey data includes geometry, orientation, use schedule, people, lights, equipment, and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Treat this as an image of two buckets. External data describes how the outside world attacks the building. Internal data describes heat generated inside the space. Connect the terms to later chapters: Chapter 3 survey, Chapter 4 onward load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Explain the course boundary. Air conditioning in the broad engineering definition includes heating, cooling, humidification, and dehumidification. But in this course and in the Thailand context, the dominant design problem is cooling and moisture removal.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Hide the answers if presenting live by duplicating the slide or covering the right column. Ask students to diagnose each case. Then reveal the right column. The key is to make them think in terms of controlled variables and purpose, not equipment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Summarize without reading every word. Ask students to say the four parameters. Then ask: what comes first in design? Purpose, then survey, then load calculation, then equipment selection. Close by linking to the next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320040" y="6510528"/>
            <a:ext cx="11567160" cy="0"/>
          </a:xfrm>
          <a:prstGeom prst="line">
            <a:avLst/>
          </a:prstGeom>
          <a:noFill/>
          <a:ln w="12700">
            <a:solidFill>
              <a:srgbClr val="D8D0C6"/>
            </a:solidFill>
            <a:prstDash val="solid"/>
          </a:ln>
        </p:spPr>
      </p:sp>
      <p:sp>
        <p:nvSpPr>
          <p:cNvPr id="3" name="Text 1"/>
          <p:cNvSpPr/>
          <p:nvPr/>
        </p:nvSpPr>
        <p:spPr>
          <a:xfrm>
            <a:off x="411480" y="6556248"/>
            <a:ext cx="5303520" cy="164592"/>
          </a:xfrm>
          <a:prstGeom prst="rect">
            <a:avLst/>
          </a:prstGeom>
          <a:noFill/>
          <a:ln/>
        </p:spPr>
        <p:txBody>
          <a:bodyPr wrap="square" lIns="0" tIns="0" rIns="0" bIns="0" rtlCol="0" anchor="ctr"/>
          <a:lstStyle/>
          <a:p>
            <a:pPr indent="0" marL="0">
              <a:buNone/>
            </a:pPr>
            <a:r>
              <a:rPr lang="en-US" sz="650" dirty="0">
                <a:solidFill>
                  <a:srgbClr val="6B6B6B"/>
                </a:solidFill>
                <a:latin typeface="Aptos" pitchFamily="34" charset="0"/>
                <a:ea typeface="Aptos" pitchFamily="34" charset="-122"/>
                <a:cs typeface="Aptos" pitchFamily="34" charset="-120"/>
              </a:rPr>
              <a:t>Air Conditioning Engineering · Topic 1.1</a:t>
            </a:r>
            <a:endParaRPr lang="en-US" sz="650" dirty="0"/>
          </a:p>
        </p:txBody>
      </p:sp>
      <p:sp>
        <p:nvSpPr>
          <p:cNvPr id="4" name="Text 2"/>
          <p:cNvSpPr/>
          <p:nvPr/>
        </p:nvSpPr>
        <p:spPr>
          <a:xfrm>
            <a:off x="9235440" y="6556248"/>
            <a:ext cx="2560320" cy="164592"/>
          </a:xfrm>
          <a:prstGeom prst="rect">
            <a:avLst/>
          </a:prstGeom>
          <a:noFill/>
          <a:ln/>
        </p:spPr>
        <p:txBody>
          <a:bodyPr wrap="square" lIns="0" tIns="0" rIns="0" bIns="0" rtlCol="0" anchor="ctr"/>
          <a:lstStyle/>
          <a:p>
            <a:pPr algn="r" indent="0" marL="0">
              <a:buNone/>
            </a:pPr>
            <a:r>
              <a:rPr lang="en-US" sz="650" dirty="0">
                <a:solidFill>
                  <a:srgbClr val="6B6B6B"/>
                </a:solidFill>
                <a:latin typeface="Aptos" pitchFamily="34" charset="0"/>
                <a:ea typeface="Aptos" pitchFamily="34" charset="-122"/>
                <a:cs typeface="Aptos" pitchFamily="34" charset="-120"/>
              </a:rPr>
              <a:t>Visual lecture deck · ~30 min</a:t>
            </a:r>
            <a:endParaRPr lang="en-US" sz="6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324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3243"/>
          </a:solidFill>
          <a:ln w="12700">
            <a:solidFill>
              <a:srgbClr val="153243"/>
            </a:solidFill>
            <a:prstDash val="solid"/>
          </a:ln>
        </p:spPr>
      </p:sp>
      <p:sp>
        <p:nvSpPr>
          <p:cNvPr id="3" name="Shape 1"/>
          <p:cNvSpPr/>
          <p:nvPr/>
        </p:nvSpPr>
        <p:spPr>
          <a:xfrm>
            <a:off x="6217920" y="594360"/>
            <a:ext cx="4754880" cy="4754880"/>
          </a:xfrm>
          <a:prstGeom prst="arc">
            <a:avLst/>
          </a:prstGeom>
          <a:noFill/>
          <a:ln w="12700">
            <a:solidFill>
              <a:srgbClr val="6BBF9B">
                <a:alpha val="90000"/>
              </a:srgbClr>
            </a:solidFill>
            <a:prstDash val="solid"/>
          </a:ln>
        </p:spPr>
      </p:sp>
      <p:sp>
        <p:nvSpPr>
          <p:cNvPr id="4" name="Shape 2"/>
          <p:cNvSpPr/>
          <p:nvPr/>
        </p:nvSpPr>
        <p:spPr>
          <a:xfrm>
            <a:off x="6629400" y="1005840"/>
            <a:ext cx="3931920" cy="3931920"/>
          </a:xfrm>
          <a:prstGeom prst="arc">
            <a:avLst/>
          </a:prstGeom>
          <a:noFill/>
          <a:ln w="12700">
            <a:solidFill>
              <a:srgbClr val="E76F51">
                <a:alpha val="82000"/>
              </a:srgbClr>
            </a:solidFill>
            <a:prstDash val="solid"/>
          </a:ln>
        </p:spPr>
      </p:sp>
      <p:sp>
        <p:nvSpPr>
          <p:cNvPr id="5" name="Shape 3"/>
          <p:cNvSpPr/>
          <p:nvPr/>
        </p:nvSpPr>
        <p:spPr>
          <a:xfrm>
            <a:off x="6995160" y="1536192"/>
            <a:ext cx="3154680" cy="2331720"/>
          </a:xfrm>
          <a:prstGeom prst="roundRect">
            <a:avLst>
              <a:gd name="adj" fmla="val 5490"/>
            </a:avLst>
          </a:prstGeom>
          <a:solidFill>
            <a:srgbClr val="E8F3F3"/>
          </a:solidFill>
          <a:ln w="12700">
            <a:solidFill>
              <a:srgbClr val="153243"/>
            </a:solidFill>
            <a:prstDash val="solid"/>
          </a:ln>
        </p:spPr>
      </p:sp>
      <p:sp>
        <p:nvSpPr>
          <p:cNvPr id="6" name="Shape 4"/>
          <p:cNvSpPr/>
          <p:nvPr/>
        </p:nvSpPr>
        <p:spPr>
          <a:xfrm>
            <a:off x="7132320" y="3456432"/>
            <a:ext cx="2880360" cy="246888"/>
          </a:xfrm>
          <a:prstGeom prst="rect">
            <a:avLst/>
          </a:prstGeom>
          <a:solidFill>
            <a:srgbClr val="C9B79C"/>
          </a:solidFill>
          <a:ln w="12700">
            <a:solidFill>
              <a:srgbClr val="C9B79C"/>
            </a:solidFill>
            <a:prstDash val="solid"/>
          </a:ln>
        </p:spPr>
      </p:sp>
      <p:sp>
        <p:nvSpPr>
          <p:cNvPr id="7" name="Shape 5"/>
          <p:cNvSpPr/>
          <p:nvPr/>
        </p:nvSpPr>
        <p:spPr>
          <a:xfrm>
            <a:off x="8036204" y="3118104"/>
            <a:ext cx="1072591" cy="384048"/>
          </a:xfrm>
          <a:prstGeom prst="arc">
            <a:avLst/>
          </a:prstGeom>
          <a:noFill/>
          <a:ln w="12700">
            <a:solidFill>
              <a:srgbClr val="153243"/>
            </a:solidFill>
            <a:prstDash val="solid"/>
          </a:ln>
        </p:spPr>
      </p:sp>
      <p:sp>
        <p:nvSpPr>
          <p:cNvPr id="8" name="Shape 6"/>
          <p:cNvSpPr/>
          <p:nvPr/>
        </p:nvSpPr>
        <p:spPr>
          <a:xfrm>
            <a:off x="8130845" y="3273552"/>
            <a:ext cx="883310" cy="201168"/>
          </a:xfrm>
          <a:prstGeom prst="rect">
            <a:avLst/>
          </a:prstGeom>
          <a:solidFill>
            <a:srgbClr val="F7F4EF"/>
          </a:solidFill>
          <a:ln w="12700">
            <a:solidFill>
              <a:srgbClr val="153243"/>
            </a:solidFill>
            <a:prstDash val="solid"/>
          </a:ln>
        </p:spPr>
      </p:sp>
      <p:sp>
        <p:nvSpPr>
          <p:cNvPr id="9" name="Shape 7"/>
          <p:cNvSpPr/>
          <p:nvPr/>
        </p:nvSpPr>
        <p:spPr>
          <a:xfrm>
            <a:off x="9281160" y="1856232"/>
            <a:ext cx="502920" cy="868680"/>
          </a:xfrm>
          <a:prstGeom prst="rect">
            <a:avLst/>
          </a:prstGeom>
          <a:solidFill>
            <a:srgbClr val="FFFFFF">
              <a:alpha val="85000"/>
            </a:srgbClr>
          </a:solidFill>
          <a:ln w="12700">
            <a:solidFill>
              <a:srgbClr val="4A90A4"/>
            </a:solidFill>
            <a:prstDash val="solid"/>
          </a:ln>
        </p:spPr>
      </p:sp>
      <p:sp>
        <p:nvSpPr>
          <p:cNvPr id="10" name="Text 8"/>
          <p:cNvSpPr/>
          <p:nvPr/>
        </p:nvSpPr>
        <p:spPr>
          <a:xfrm>
            <a:off x="7878470" y="2724912"/>
            <a:ext cx="1419606" cy="320040"/>
          </a:xfrm>
          <a:prstGeom prst="rect">
            <a:avLst/>
          </a:prstGeom>
          <a:noFill/>
          <a:ln/>
        </p:spPr>
        <p:txBody>
          <a:bodyPr wrap="square" lIns="0" tIns="0" rIns="0" bIns="0" rtlCol="0" anchor="ctr"/>
          <a:lstStyle/>
          <a:p>
            <a:pPr algn="ctr" indent="0" marL="0">
              <a:buNone/>
            </a:pPr>
            <a:r>
              <a:rPr lang="en-US" sz="1200" b="1" dirty="0">
                <a:solidFill>
                  <a:srgbClr val="153243"/>
                </a:solidFill>
              </a:rPr>
              <a:t>occupied</a:t>
            </a:r>
            <a:endParaRPr lang="en-US" sz="1200" dirty="0"/>
          </a:p>
          <a:p>
            <a:pPr algn="ctr" indent="0" marL="0">
              <a:buNone/>
            </a:pPr>
            <a:r>
              <a:rPr lang="en-US" sz="1200" b="1" dirty="0">
                <a:solidFill>
                  <a:srgbClr val="153243"/>
                </a:solidFill>
              </a:rPr>
              <a:t>space</a:t>
            </a:r>
            <a:endParaRPr lang="en-US" sz="1200" dirty="0"/>
          </a:p>
        </p:txBody>
      </p:sp>
      <p:sp>
        <p:nvSpPr>
          <p:cNvPr id="11" name="Text 9"/>
          <p:cNvSpPr/>
          <p:nvPr/>
        </p:nvSpPr>
        <p:spPr>
          <a:xfrm>
            <a:off x="685800" y="685800"/>
            <a:ext cx="1005840" cy="320040"/>
          </a:xfrm>
          <a:prstGeom prst="rect">
            <a:avLst/>
          </a:prstGeom>
          <a:noFill/>
          <a:ln/>
        </p:spPr>
        <p:txBody>
          <a:bodyPr wrap="square" lIns="0" tIns="0" rIns="0" bIns="0" rtlCol="0" anchor="ctr"/>
          <a:lstStyle/>
          <a:p>
            <a:pPr indent="0" marL="0">
              <a:buNone/>
            </a:pPr>
            <a:r>
              <a:rPr lang="en-US" sz="1700" b="1" dirty="0">
                <a:solidFill>
                  <a:srgbClr val="6BBF9B"/>
                </a:solidFill>
              </a:rPr>
              <a:t>1.1</a:t>
            </a:r>
            <a:endParaRPr lang="en-US" sz="1700" dirty="0"/>
          </a:p>
        </p:txBody>
      </p:sp>
      <p:sp>
        <p:nvSpPr>
          <p:cNvPr id="12" name="Text 10"/>
          <p:cNvSpPr/>
          <p:nvPr/>
        </p:nvSpPr>
        <p:spPr>
          <a:xfrm>
            <a:off x="685800" y="1143000"/>
            <a:ext cx="5669280" cy="594360"/>
          </a:xfrm>
          <a:prstGeom prst="rect">
            <a:avLst/>
          </a:prstGeom>
          <a:noFill/>
          <a:ln/>
        </p:spPr>
        <p:txBody>
          <a:bodyPr wrap="square" lIns="0" tIns="0" rIns="0" bIns="0" rtlCol="0" anchor="ctr"/>
          <a:lstStyle/>
          <a:p>
            <a:pPr indent="0" marL="0">
              <a:buNone/>
            </a:pPr>
            <a:r>
              <a:rPr lang="en-US" sz="3400" b="1" dirty="0">
                <a:solidFill>
                  <a:srgbClr val="FFFFFF"/>
                </a:solidFill>
              </a:rPr>
              <a:t>Air Conditioning</a:t>
            </a:r>
            <a:endParaRPr lang="en-US" sz="3400" dirty="0"/>
          </a:p>
        </p:txBody>
      </p:sp>
      <p:sp>
        <p:nvSpPr>
          <p:cNvPr id="13" name="Text 11"/>
          <p:cNvSpPr/>
          <p:nvPr/>
        </p:nvSpPr>
        <p:spPr>
          <a:xfrm>
            <a:off x="704088" y="1874520"/>
            <a:ext cx="5303520" cy="347472"/>
          </a:xfrm>
          <a:prstGeom prst="rect">
            <a:avLst/>
          </a:prstGeom>
          <a:noFill/>
          <a:ln/>
        </p:spPr>
        <p:txBody>
          <a:bodyPr wrap="square" lIns="0" tIns="0" rIns="0" bIns="0" rtlCol="0" anchor="ctr"/>
          <a:lstStyle/>
          <a:p>
            <a:pPr indent="0" marL="0">
              <a:buNone/>
            </a:pPr>
            <a:r>
              <a:rPr lang="en-US" sz="1700" dirty="0">
                <a:solidFill>
                  <a:srgbClr val="DDECF0"/>
                </a:solidFill>
              </a:rPr>
              <a:t>Definition, Purpose, and Scope</a:t>
            </a:r>
            <a:endParaRPr lang="en-US" sz="1700" dirty="0"/>
          </a:p>
        </p:txBody>
      </p:sp>
      <p:sp>
        <p:nvSpPr>
          <p:cNvPr id="14" name="Shape 12"/>
          <p:cNvSpPr/>
          <p:nvPr/>
        </p:nvSpPr>
        <p:spPr>
          <a:xfrm>
            <a:off x="713232" y="2761488"/>
            <a:ext cx="4480560" cy="475488"/>
          </a:xfrm>
          <a:prstGeom prst="roundRect">
            <a:avLst>
              <a:gd name="adj" fmla="val 15385"/>
            </a:avLst>
          </a:prstGeom>
          <a:solidFill>
            <a:srgbClr val="E76F51"/>
          </a:solidFill>
          <a:ln w="12700">
            <a:solidFill>
              <a:srgbClr val="E76F51"/>
            </a:solidFill>
            <a:prstDash val="solid"/>
          </a:ln>
        </p:spPr>
      </p:sp>
      <p:sp>
        <p:nvSpPr>
          <p:cNvPr id="15" name="Text 13"/>
          <p:cNvSpPr/>
          <p:nvPr/>
        </p:nvSpPr>
        <p:spPr>
          <a:xfrm>
            <a:off x="896112" y="2907792"/>
            <a:ext cx="4023360" cy="137160"/>
          </a:xfrm>
          <a:prstGeom prst="rect">
            <a:avLst/>
          </a:prstGeom>
          <a:noFill/>
          <a:ln/>
        </p:spPr>
        <p:txBody>
          <a:bodyPr wrap="square" lIns="0" tIns="0" rIns="0" bIns="0" rtlCol="0" anchor="ctr"/>
          <a:lstStyle/>
          <a:p>
            <a:pPr indent="0" marL="0">
              <a:buNone/>
            </a:pPr>
            <a:r>
              <a:rPr lang="en-US" sz="1100" b="1" dirty="0">
                <a:solidFill>
                  <a:srgbClr val="FFFFFF"/>
                </a:solidFill>
              </a:rPr>
              <a:t>Visual lecture deck · ~30 minutes</a:t>
            </a:r>
            <a:endParaRPr lang="en-US" sz="1100" dirty="0"/>
          </a:p>
        </p:txBody>
      </p:sp>
      <p:sp>
        <p:nvSpPr>
          <p:cNvPr id="16" name="Text 14"/>
          <p:cNvSpPr/>
          <p:nvPr/>
        </p:nvSpPr>
        <p:spPr>
          <a:xfrm>
            <a:off x="713232" y="3886200"/>
            <a:ext cx="4937760" cy="457200"/>
          </a:xfrm>
          <a:prstGeom prst="rect">
            <a:avLst/>
          </a:prstGeom>
          <a:noFill/>
          <a:ln/>
        </p:spPr>
        <p:txBody>
          <a:bodyPr wrap="square" lIns="0" tIns="0" rIns="0" bIns="0" rtlCol="0" anchor="ctr">
            <a:normAutofit/>
          </a:bodyPr>
          <a:lstStyle/>
          <a:p>
            <a:pPr indent="0" marL="0">
              <a:buNone/>
            </a:pPr>
            <a:r>
              <a:rPr lang="en-US" sz="1500" b="1" dirty="0">
                <a:solidFill>
                  <a:srgbClr val="FFFFFF"/>
                </a:solidFill>
              </a:rPr>
              <a:t>Teaching stance: let students read the picture first, then explain the engineering.</a:t>
            </a:r>
            <a:endParaRPr lang="en-US" sz="15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Cooling alone is not air conditioning</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Start with the misconception and correct it visually.</a:t>
            </a:r>
            <a:endParaRPr lang="en-US" sz="950" dirty="0"/>
          </a:p>
        </p:txBody>
      </p:sp>
      <p:sp>
        <p:nvSpPr>
          <p:cNvPr id="4" name="Shape 2"/>
          <p:cNvSpPr/>
          <p:nvPr/>
        </p:nvSpPr>
        <p:spPr>
          <a:xfrm>
            <a:off x="640080" y="1234440"/>
            <a:ext cx="4846320" cy="3840480"/>
          </a:xfrm>
          <a:prstGeom prst="roundRect">
            <a:avLst>
              <a:gd name="adj" fmla="val 3333"/>
            </a:avLst>
          </a:prstGeom>
          <a:solidFill>
            <a:srgbClr val="EAF6F8"/>
          </a:solidFill>
          <a:ln w="12700">
            <a:solidFill>
              <a:srgbClr val="153243"/>
            </a:solidFill>
            <a:prstDash val="solid"/>
          </a:ln>
        </p:spPr>
      </p:sp>
      <p:sp>
        <p:nvSpPr>
          <p:cNvPr id="5" name="Shape 3"/>
          <p:cNvSpPr/>
          <p:nvPr/>
        </p:nvSpPr>
        <p:spPr>
          <a:xfrm>
            <a:off x="777240" y="4663440"/>
            <a:ext cx="4572000" cy="246888"/>
          </a:xfrm>
          <a:prstGeom prst="rect">
            <a:avLst/>
          </a:prstGeom>
          <a:solidFill>
            <a:srgbClr val="C9B79C"/>
          </a:solidFill>
          <a:ln w="12700">
            <a:solidFill>
              <a:srgbClr val="C9B79C"/>
            </a:solidFill>
            <a:prstDash val="solid"/>
          </a:ln>
        </p:spPr>
      </p:sp>
      <p:sp>
        <p:nvSpPr>
          <p:cNvPr id="6" name="Shape 4"/>
          <p:cNvSpPr/>
          <p:nvPr/>
        </p:nvSpPr>
        <p:spPr>
          <a:xfrm>
            <a:off x="2239366" y="4325112"/>
            <a:ext cx="1647749" cy="384048"/>
          </a:xfrm>
          <a:prstGeom prst="arc">
            <a:avLst/>
          </a:prstGeom>
          <a:noFill/>
          <a:ln w="12700">
            <a:solidFill>
              <a:srgbClr val="153243"/>
            </a:solidFill>
            <a:prstDash val="solid"/>
          </a:ln>
        </p:spPr>
      </p:sp>
      <p:sp>
        <p:nvSpPr>
          <p:cNvPr id="7" name="Shape 5"/>
          <p:cNvSpPr/>
          <p:nvPr/>
        </p:nvSpPr>
        <p:spPr>
          <a:xfrm>
            <a:off x="2384755" y="4480560"/>
            <a:ext cx="1356970" cy="201168"/>
          </a:xfrm>
          <a:prstGeom prst="rect">
            <a:avLst/>
          </a:prstGeom>
          <a:solidFill>
            <a:srgbClr val="F7F4EF"/>
          </a:solidFill>
          <a:ln w="12700">
            <a:solidFill>
              <a:srgbClr val="153243"/>
            </a:solidFill>
            <a:prstDash val="solid"/>
          </a:ln>
        </p:spPr>
      </p:sp>
      <p:sp>
        <p:nvSpPr>
          <p:cNvPr id="8" name="Shape 6"/>
          <p:cNvSpPr/>
          <p:nvPr/>
        </p:nvSpPr>
        <p:spPr>
          <a:xfrm>
            <a:off x="4617720" y="1554480"/>
            <a:ext cx="502920" cy="868680"/>
          </a:xfrm>
          <a:prstGeom prst="rect">
            <a:avLst/>
          </a:prstGeom>
          <a:solidFill>
            <a:srgbClr val="FFFFFF">
              <a:alpha val="85000"/>
            </a:srgbClr>
          </a:solidFill>
          <a:ln w="12700">
            <a:solidFill>
              <a:srgbClr val="4A90A4"/>
            </a:solidFill>
            <a:prstDash val="solid"/>
          </a:ln>
        </p:spPr>
      </p:sp>
      <p:sp>
        <p:nvSpPr>
          <p:cNvPr id="9" name="Text 7"/>
          <p:cNvSpPr/>
          <p:nvPr/>
        </p:nvSpPr>
        <p:spPr>
          <a:xfrm>
            <a:off x="1997050" y="3931920"/>
            <a:ext cx="2180844" cy="320040"/>
          </a:xfrm>
          <a:prstGeom prst="rect">
            <a:avLst/>
          </a:prstGeom>
          <a:noFill/>
          <a:ln/>
        </p:spPr>
        <p:txBody>
          <a:bodyPr wrap="square" lIns="0" tIns="0" rIns="0" bIns="0" rtlCol="0" anchor="ctr"/>
          <a:lstStyle/>
          <a:p>
            <a:pPr algn="ctr" indent="0" marL="0">
              <a:buNone/>
            </a:pPr>
            <a:r>
              <a:rPr lang="en-US" sz="1200" b="1" dirty="0">
                <a:solidFill>
                  <a:srgbClr val="153243"/>
                </a:solidFill>
              </a:rPr>
              <a:t>occupied</a:t>
            </a:r>
            <a:endParaRPr lang="en-US" sz="1200" dirty="0"/>
          </a:p>
          <a:p>
            <a:pPr algn="ctr" indent="0" marL="0">
              <a:buNone/>
            </a:pPr>
            <a:r>
              <a:rPr lang="en-US" sz="1200" b="1" dirty="0">
                <a:solidFill>
                  <a:srgbClr val="153243"/>
                </a:solidFill>
              </a:rPr>
              <a:t>space</a:t>
            </a:r>
            <a:endParaRPr lang="en-US" sz="1200" dirty="0"/>
          </a:p>
        </p:txBody>
      </p:sp>
      <p:sp>
        <p:nvSpPr>
          <p:cNvPr id="10" name="Shape 8"/>
          <p:cNvSpPr/>
          <p:nvPr/>
        </p:nvSpPr>
        <p:spPr>
          <a:xfrm>
            <a:off x="2331720" y="1051560"/>
            <a:ext cx="1234440" cy="960120"/>
          </a:xfrm>
          <a:prstGeom prst="downArrow">
            <a:avLst/>
          </a:prstGeom>
          <a:solidFill>
            <a:srgbClr val="4A90A4"/>
          </a:solidFill>
          <a:ln w="12700">
            <a:solidFill>
              <a:srgbClr val="4A90A4"/>
            </a:solidFill>
            <a:prstDash val="solid"/>
          </a:ln>
        </p:spPr>
      </p:sp>
      <p:sp>
        <p:nvSpPr>
          <p:cNvPr id="11" name="Text 9"/>
          <p:cNvSpPr/>
          <p:nvPr/>
        </p:nvSpPr>
        <p:spPr>
          <a:xfrm>
            <a:off x="2496312" y="1417320"/>
            <a:ext cx="914400" cy="164592"/>
          </a:xfrm>
          <a:prstGeom prst="rect">
            <a:avLst/>
          </a:prstGeom>
          <a:noFill/>
          <a:ln/>
        </p:spPr>
        <p:txBody>
          <a:bodyPr wrap="square" lIns="0" tIns="0" rIns="0" bIns="0" rtlCol="0" anchor="ctr"/>
          <a:lstStyle/>
          <a:p>
            <a:pPr algn="ctr" indent="0" marL="0">
              <a:buNone/>
            </a:pPr>
            <a:r>
              <a:rPr lang="en-US" sz="900" b="1" dirty="0">
                <a:solidFill>
                  <a:srgbClr val="FFFFFF"/>
                </a:solidFill>
              </a:rPr>
              <a:t>cold air</a:t>
            </a:r>
            <a:endParaRPr lang="en-US" sz="900" dirty="0"/>
          </a:p>
        </p:txBody>
      </p:sp>
      <p:sp>
        <p:nvSpPr>
          <p:cNvPr id="12" name="Text 10"/>
          <p:cNvSpPr/>
          <p:nvPr/>
        </p:nvSpPr>
        <p:spPr>
          <a:xfrm>
            <a:off x="6446520" y="1234440"/>
            <a:ext cx="4023360" cy="457200"/>
          </a:xfrm>
          <a:prstGeom prst="rect">
            <a:avLst/>
          </a:prstGeom>
          <a:noFill/>
          <a:ln/>
        </p:spPr>
        <p:txBody>
          <a:bodyPr wrap="square" lIns="0" tIns="0" rIns="0" bIns="0" rtlCol="0" anchor="ctr"/>
          <a:lstStyle/>
          <a:p>
            <a:pPr indent="0" marL="0">
              <a:buNone/>
            </a:pPr>
            <a:r>
              <a:rPr lang="en-US" sz="2500" b="1" dirty="0">
                <a:solidFill>
                  <a:srgbClr val="C44536"/>
                </a:solidFill>
              </a:rPr>
              <a:t>“Just make it cold?”</a:t>
            </a:r>
            <a:endParaRPr lang="en-US" sz="2500" dirty="0"/>
          </a:p>
        </p:txBody>
      </p:sp>
      <p:sp>
        <p:nvSpPr>
          <p:cNvPr id="13" name="Shape 11"/>
          <p:cNvSpPr/>
          <p:nvPr/>
        </p:nvSpPr>
        <p:spPr>
          <a:xfrm>
            <a:off x="6492240" y="2148840"/>
            <a:ext cx="2148840" cy="310896"/>
          </a:xfrm>
          <a:prstGeom prst="roundRect">
            <a:avLst>
              <a:gd name="adj" fmla="val 23529"/>
            </a:avLst>
          </a:prstGeom>
          <a:solidFill>
            <a:srgbClr val="4A90A4"/>
          </a:solidFill>
          <a:ln w="12700">
            <a:solidFill>
              <a:srgbClr val="4A90A4">
                <a:alpha val="0"/>
              </a:srgbClr>
            </a:solidFill>
            <a:prstDash val="solid"/>
          </a:ln>
        </p:spPr>
      </p:sp>
      <p:sp>
        <p:nvSpPr>
          <p:cNvPr id="14" name="Text 12"/>
          <p:cNvSpPr/>
          <p:nvPr/>
        </p:nvSpPr>
        <p:spPr>
          <a:xfrm>
            <a:off x="6565392" y="2226564"/>
            <a:ext cx="2002536" cy="128016"/>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Temperature</a:t>
            </a:r>
            <a:endParaRPr lang="en-US" sz="880" dirty="0"/>
          </a:p>
        </p:txBody>
      </p:sp>
      <p:sp>
        <p:nvSpPr>
          <p:cNvPr id="15" name="Shape 13"/>
          <p:cNvSpPr/>
          <p:nvPr/>
        </p:nvSpPr>
        <p:spPr>
          <a:xfrm>
            <a:off x="6492240" y="2807208"/>
            <a:ext cx="2148840" cy="310896"/>
          </a:xfrm>
          <a:prstGeom prst="roundRect">
            <a:avLst>
              <a:gd name="adj" fmla="val 23529"/>
            </a:avLst>
          </a:prstGeom>
          <a:solidFill>
            <a:srgbClr val="0B7A75"/>
          </a:solidFill>
          <a:ln w="12700">
            <a:solidFill>
              <a:srgbClr val="0B7A75">
                <a:alpha val="0"/>
              </a:srgbClr>
            </a:solidFill>
            <a:prstDash val="solid"/>
          </a:ln>
        </p:spPr>
      </p:sp>
      <p:sp>
        <p:nvSpPr>
          <p:cNvPr id="16" name="Text 14"/>
          <p:cNvSpPr/>
          <p:nvPr/>
        </p:nvSpPr>
        <p:spPr>
          <a:xfrm>
            <a:off x="6565392" y="2884932"/>
            <a:ext cx="2002536" cy="128016"/>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Humidity</a:t>
            </a:r>
            <a:endParaRPr lang="en-US" sz="880" dirty="0"/>
          </a:p>
        </p:txBody>
      </p:sp>
      <p:sp>
        <p:nvSpPr>
          <p:cNvPr id="17" name="Shape 15"/>
          <p:cNvSpPr/>
          <p:nvPr/>
        </p:nvSpPr>
        <p:spPr>
          <a:xfrm>
            <a:off x="6492240" y="3465576"/>
            <a:ext cx="2148840" cy="310896"/>
          </a:xfrm>
          <a:prstGeom prst="roundRect">
            <a:avLst>
              <a:gd name="adj" fmla="val 23529"/>
            </a:avLst>
          </a:prstGeom>
          <a:solidFill>
            <a:srgbClr val="E76F51"/>
          </a:solidFill>
          <a:ln w="12700">
            <a:solidFill>
              <a:srgbClr val="E76F51">
                <a:alpha val="0"/>
              </a:srgbClr>
            </a:solidFill>
            <a:prstDash val="solid"/>
          </a:ln>
        </p:spPr>
      </p:sp>
      <p:sp>
        <p:nvSpPr>
          <p:cNvPr id="18" name="Text 16"/>
          <p:cNvSpPr/>
          <p:nvPr/>
        </p:nvSpPr>
        <p:spPr>
          <a:xfrm>
            <a:off x="6565392" y="3543300"/>
            <a:ext cx="2002536" cy="128016"/>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Air circulation</a:t>
            </a:r>
            <a:endParaRPr lang="en-US" sz="880" dirty="0"/>
          </a:p>
        </p:txBody>
      </p:sp>
      <p:sp>
        <p:nvSpPr>
          <p:cNvPr id="19" name="Shape 17"/>
          <p:cNvSpPr/>
          <p:nvPr/>
        </p:nvSpPr>
        <p:spPr>
          <a:xfrm>
            <a:off x="6492240" y="4123944"/>
            <a:ext cx="2148840" cy="310896"/>
          </a:xfrm>
          <a:prstGeom prst="roundRect">
            <a:avLst>
              <a:gd name="adj" fmla="val 23529"/>
            </a:avLst>
          </a:prstGeom>
          <a:solidFill>
            <a:srgbClr val="59656F"/>
          </a:solidFill>
          <a:ln w="12700">
            <a:solidFill>
              <a:srgbClr val="59656F">
                <a:alpha val="0"/>
              </a:srgbClr>
            </a:solidFill>
            <a:prstDash val="solid"/>
          </a:ln>
        </p:spPr>
      </p:sp>
      <p:sp>
        <p:nvSpPr>
          <p:cNvPr id="20" name="Text 18"/>
          <p:cNvSpPr/>
          <p:nvPr/>
        </p:nvSpPr>
        <p:spPr>
          <a:xfrm>
            <a:off x="6565392" y="4201668"/>
            <a:ext cx="2002536" cy="128016"/>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Air cleanliness</a:t>
            </a:r>
            <a:endParaRPr lang="en-US" sz="880" dirty="0"/>
          </a:p>
        </p:txBody>
      </p:sp>
      <p:sp>
        <p:nvSpPr>
          <p:cNvPr id="21" name="Text 19"/>
          <p:cNvSpPr/>
          <p:nvPr/>
        </p:nvSpPr>
        <p:spPr>
          <a:xfrm>
            <a:off x="9052560" y="2148840"/>
            <a:ext cx="2103120" cy="201168"/>
          </a:xfrm>
          <a:prstGeom prst="rect">
            <a:avLst/>
          </a:prstGeom>
          <a:noFill/>
          <a:ln/>
        </p:spPr>
        <p:txBody>
          <a:bodyPr wrap="square" lIns="0" tIns="0" rIns="0" bIns="0" rtlCol="0" anchor="ctr"/>
          <a:lstStyle/>
          <a:p>
            <a:pPr indent="0" marL="0">
              <a:buNone/>
            </a:pPr>
            <a:r>
              <a:rPr lang="en-US" sz="1200" b="1" dirty="0">
                <a:solidFill>
                  <a:srgbClr val="153243"/>
                </a:solidFill>
              </a:rPr>
              <a:t>Engineering definition:</a:t>
            </a:r>
            <a:endParaRPr lang="en-US" sz="1200" dirty="0"/>
          </a:p>
        </p:txBody>
      </p:sp>
      <p:sp>
        <p:nvSpPr>
          <p:cNvPr id="22" name="Text 20"/>
          <p:cNvSpPr/>
          <p:nvPr/>
        </p:nvSpPr>
        <p:spPr>
          <a:xfrm>
            <a:off x="9052560" y="2487168"/>
            <a:ext cx="2240280" cy="960120"/>
          </a:xfrm>
          <a:prstGeom prst="rect">
            <a:avLst/>
          </a:prstGeom>
          <a:noFill/>
          <a:ln/>
        </p:spPr>
        <p:txBody>
          <a:bodyPr wrap="square" lIns="0" tIns="0" rIns="0" bIns="0" rtlCol="0" anchor="ctr">
            <a:normAutofit/>
          </a:bodyPr>
          <a:lstStyle/>
          <a:p>
            <a:pPr indent="0" marL="0">
              <a:buNone/>
            </a:pPr>
            <a:r>
              <a:rPr lang="en-US" sz="1500" b="1" dirty="0">
                <a:solidFill>
                  <a:srgbClr val="17212B"/>
                </a:solidFill>
              </a:rPr>
              <a:t>Simultaneous control of air properties to meet a purpose.</a:t>
            </a:r>
            <a:endParaRPr lang="en-US" sz="15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Four parameters must be controlled together</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Use the 2×2 visual as the core definition.</a:t>
            </a:r>
            <a:endParaRPr lang="en-US" sz="950" dirty="0"/>
          </a:p>
        </p:txBody>
      </p:sp>
      <p:sp>
        <p:nvSpPr>
          <p:cNvPr id="4" name="Shape 2"/>
          <p:cNvSpPr/>
          <p:nvPr/>
        </p:nvSpPr>
        <p:spPr>
          <a:xfrm>
            <a:off x="822960" y="1234440"/>
            <a:ext cx="2834640" cy="1417320"/>
          </a:xfrm>
          <a:prstGeom prst="roundRect">
            <a:avLst>
              <a:gd name="adj" fmla="val 7742"/>
            </a:avLst>
          </a:prstGeom>
          <a:solidFill>
            <a:srgbClr val="4A90A4"/>
          </a:solidFill>
          <a:ln w="12700">
            <a:solidFill>
              <a:srgbClr val="4A90A4"/>
            </a:solidFill>
            <a:prstDash val="solid"/>
          </a:ln>
        </p:spPr>
      </p:sp>
      <p:sp>
        <p:nvSpPr>
          <p:cNvPr id="5" name="Text 3"/>
          <p:cNvSpPr/>
          <p:nvPr/>
        </p:nvSpPr>
        <p:spPr>
          <a:xfrm>
            <a:off x="1024128" y="1472184"/>
            <a:ext cx="2423160" cy="219456"/>
          </a:xfrm>
          <a:prstGeom prst="rect">
            <a:avLst/>
          </a:prstGeom>
          <a:noFill/>
          <a:ln/>
        </p:spPr>
        <p:txBody>
          <a:bodyPr wrap="square" lIns="0" tIns="0" rIns="0" bIns="0" rtlCol="0" anchor="ctr"/>
          <a:lstStyle/>
          <a:p>
            <a:pPr algn="ctr" indent="0" marL="0">
              <a:buNone/>
            </a:pPr>
            <a:r>
              <a:rPr lang="en-US" sz="1800" b="1" dirty="0">
                <a:solidFill>
                  <a:srgbClr val="FFFFFF"/>
                </a:solidFill>
              </a:rPr>
              <a:t>Temperature</a:t>
            </a:r>
            <a:endParaRPr lang="en-US" sz="1800" dirty="0"/>
          </a:p>
        </p:txBody>
      </p:sp>
      <p:sp>
        <p:nvSpPr>
          <p:cNvPr id="6" name="Text 4"/>
          <p:cNvSpPr/>
          <p:nvPr/>
        </p:nvSpPr>
        <p:spPr>
          <a:xfrm>
            <a:off x="1069848" y="1993392"/>
            <a:ext cx="2331720" cy="164592"/>
          </a:xfrm>
          <a:prstGeom prst="rect">
            <a:avLst/>
          </a:prstGeom>
          <a:noFill/>
          <a:ln/>
        </p:spPr>
        <p:txBody>
          <a:bodyPr wrap="square" lIns="0" tIns="0" rIns="0" bIns="0" rtlCol="0" anchor="ctr"/>
          <a:lstStyle/>
          <a:p>
            <a:pPr algn="ctr" indent="0" marL="0">
              <a:buNone/>
            </a:pPr>
            <a:r>
              <a:rPr lang="en-US" sz="1050" dirty="0">
                <a:solidFill>
                  <a:srgbClr val="FFFFFF"/>
                </a:solidFill>
              </a:rPr>
              <a:t>Dry-bulb target</a:t>
            </a:r>
            <a:endParaRPr lang="en-US" sz="1050" dirty="0"/>
          </a:p>
        </p:txBody>
      </p:sp>
      <p:sp>
        <p:nvSpPr>
          <p:cNvPr id="7" name="Shape 5"/>
          <p:cNvSpPr/>
          <p:nvPr/>
        </p:nvSpPr>
        <p:spPr>
          <a:xfrm>
            <a:off x="4114800" y="1234440"/>
            <a:ext cx="2834640" cy="1417320"/>
          </a:xfrm>
          <a:prstGeom prst="roundRect">
            <a:avLst>
              <a:gd name="adj" fmla="val 7742"/>
            </a:avLst>
          </a:prstGeom>
          <a:solidFill>
            <a:srgbClr val="0B7A75"/>
          </a:solidFill>
          <a:ln w="12700">
            <a:solidFill>
              <a:srgbClr val="0B7A75"/>
            </a:solidFill>
            <a:prstDash val="solid"/>
          </a:ln>
        </p:spPr>
      </p:sp>
      <p:sp>
        <p:nvSpPr>
          <p:cNvPr id="8" name="Text 6"/>
          <p:cNvSpPr/>
          <p:nvPr/>
        </p:nvSpPr>
        <p:spPr>
          <a:xfrm>
            <a:off x="4315968" y="1472184"/>
            <a:ext cx="2423160" cy="219456"/>
          </a:xfrm>
          <a:prstGeom prst="rect">
            <a:avLst/>
          </a:prstGeom>
          <a:noFill/>
          <a:ln/>
        </p:spPr>
        <p:txBody>
          <a:bodyPr wrap="square" lIns="0" tIns="0" rIns="0" bIns="0" rtlCol="0" anchor="ctr"/>
          <a:lstStyle/>
          <a:p>
            <a:pPr algn="ctr" indent="0" marL="0">
              <a:buNone/>
            </a:pPr>
            <a:r>
              <a:rPr lang="en-US" sz="1800" b="1" dirty="0">
                <a:solidFill>
                  <a:srgbClr val="FFFFFF"/>
                </a:solidFill>
              </a:rPr>
              <a:t>Humidity</a:t>
            </a:r>
            <a:endParaRPr lang="en-US" sz="1800" dirty="0"/>
          </a:p>
        </p:txBody>
      </p:sp>
      <p:sp>
        <p:nvSpPr>
          <p:cNvPr id="9" name="Text 7"/>
          <p:cNvSpPr/>
          <p:nvPr/>
        </p:nvSpPr>
        <p:spPr>
          <a:xfrm>
            <a:off x="4361688" y="1993392"/>
            <a:ext cx="2331720" cy="164592"/>
          </a:xfrm>
          <a:prstGeom prst="rect">
            <a:avLst/>
          </a:prstGeom>
          <a:noFill/>
          <a:ln/>
        </p:spPr>
        <p:txBody>
          <a:bodyPr wrap="square" lIns="0" tIns="0" rIns="0" bIns="0" rtlCol="0" anchor="ctr"/>
          <a:lstStyle/>
          <a:p>
            <a:pPr algn="ctr" indent="0" marL="0">
              <a:buNone/>
            </a:pPr>
            <a:r>
              <a:rPr lang="en-US" sz="1050" dirty="0">
                <a:solidFill>
                  <a:srgbClr val="FFFFFF"/>
                </a:solidFill>
              </a:rPr>
              <a:t>Moisture / %RH</a:t>
            </a:r>
            <a:endParaRPr lang="en-US" sz="1050" dirty="0"/>
          </a:p>
        </p:txBody>
      </p:sp>
      <p:sp>
        <p:nvSpPr>
          <p:cNvPr id="10" name="Shape 8"/>
          <p:cNvSpPr/>
          <p:nvPr/>
        </p:nvSpPr>
        <p:spPr>
          <a:xfrm>
            <a:off x="822960" y="3154680"/>
            <a:ext cx="2834640" cy="1417320"/>
          </a:xfrm>
          <a:prstGeom prst="roundRect">
            <a:avLst>
              <a:gd name="adj" fmla="val 7742"/>
            </a:avLst>
          </a:prstGeom>
          <a:solidFill>
            <a:srgbClr val="E76F51"/>
          </a:solidFill>
          <a:ln w="12700">
            <a:solidFill>
              <a:srgbClr val="E76F51"/>
            </a:solidFill>
            <a:prstDash val="solid"/>
          </a:ln>
        </p:spPr>
      </p:sp>
      <p:sp>
        <p:nvSpPr>
          <p:cNvPr id="11" name="Text 9"/>
          <p:cNvSpPr/>
          <p:nvPr/>
        </p:nvSpPr>
        <p:spPr>
          <a:xfrm>
            <a:off x="1024128" y="3392424"/>
            <a:ext cx="2423160" cy="219456"/>
          </a:xfrm>
          <a:prstGeom prst="rect">
            <a:avLst/>
          </a:prstGeom>
          <a:noFill/>
          <a:ln/>
        </p:spPr>
        <p:txBody>
          <a:bodyPr wrap="square" lIns="0" tIns="0" rIns="0" bIns="0" rtlCol="0" anchor="ctr"/>
          <a:lstStyle/>
          <a:p>
            <a:pPr algn="ctr" indent="0" marL="0">
              <a:buNone/>
            </a:pPr>
            <a:r>
              <a:rPr lang="en-US" sz="1800" b="1" dirty="0">
                <a:solidFill>
                  <a:srgbClr val="FFFFFF"/>
                </a:solidFill>
              </a:rPr>
              <a:t>Air circulation</a:t>
            </a:r>
            <a:endParaRPr lang="en-US" sz="1800" dirty="0"/>
          </a:p>
        </p:txBody>
      </p:sp>
      <p:sp>
        <p:nvSpPr>
          <p:cNvPr id="12" name="Text 10"/>
          <p:cNvSpPr/>
          <p:nvPr/>
        </p:nvSpPr>
        <p:spPr>
          <a:xfrm>
            <a:off x="1069848" y="3913632"/>
            <a:ext cx="2331720" cy="164592"/>
          </a:xfrm>
          <a:prstGeom prst="rect">
            <a:avLst/>
          </a:prstGeom>
          <a:noFill/>
          <a:ln/>
        </p:spPr>
        <p:txBody>
          <a:bodyPr wrap="square" lIns="0" tIns="0" rIns="0" bIns="0" rtlCol="0" anchor="ctr"/>
          <a:lstStyle/>
          <a:p>
            <a:pPr algn="ctr" indent="0" marL="0">
              <a:buNone/>
            </a:pPr>
            <a:r>
              <a:rPr lang="en-US" sz="1050" dirty="0">
                <a:solidFill>
                  <a:srgbClr val="FFFFFF"/>
                </a:solidFill>
              </a:rPr>
              <a:t>Distribution + fresh air</a:t>
            </a:r>
            <a:endParaRPr lang="en-US" sz="1050" dirty="0"/>
          </a:p>
        </p:txBody>
      </p:sp>
      <p:sp>
        <p:nvSpPr>
          <p:cNvPr id="13" name="Shape 11"/>
          <p:cNvSpPr/>
          <p:nvPr/>
        </p:nvSpPr>
        <p:spPr>
          <a:xfrm>
            <a:off x="4114800" y="3154680"/>
            <a:ext cx="2834640" cy="1417320"/>
          </a:xfrm>
          <a:prstGeom prst="roundRect">
            <a:avLst>
              <a:gd name="adj" fmla="val 7742"/>
            </a:avLst>
          </a:prstGeom>
          <a:solidFill>
            <a:srgbClr val="59656F"/>
          </a:solidFill>
          <a:ln w="12700">
            <a:solidFill>
              <a:srgbClr val="59656F"/>
            </a:solidFill>
            <a:prstDash val="solid"/>
          </a:ln>
        </p:spPr>
      </p:sp>
      <p:sp>
        <p:nvSpPr>
          <p:cNvPr id="14" name="Text 12"/>
          <p:cNvSpPr/>
          <p:nvPr/>
        </p:nvSpPr>
        <p:spPr>
          <a:xfrm>
            <a:off x="4315968" y="3392424"/>
            <a:ext cx="2423160" cy="219456"/>
          </a:xfrm>
          <a:prstGeom prst="rect">
            <a:avLst/>
          </a:prstGeom>
          <a:noFill/>
          <a:ln/>
        </p:spPr>
        <p:txBody>
          <a:bodyPr wrap="square" lIns="0" tIns="0" rIns="0" bIns="0" rtlCol="0" anchor="ctr"/>
          <a:lstStyle/>
          <a:p>
            <a:pPr algn="ctr" indent="0" marL="0">
              <a:buNone/>
            </a:pPr>
            <a:r>
              <a:rPr lang="en-US" sz="1800" b="1" dirty="0">
                <a:solidFill>
                  <a:srgbClr val="FFFFFF"/>
                </a:solidFill>
              </a:rPr>
              <a:t>Air cleanliness</a:t>
            </a:r>
            <a:endParaRPr lang="en-US" sz="1800" dirty="0"/>
          </a:p>
        </p:txBody>
      </p:sp>
      <p:sp>
        <p:nvSpPr>
          <p:cNvPr id="15" name="Text 13"/>
          <p:cNvSpPr/>
          <p:nvPr/>
        </p:nvSpPr>
        <p:spPr>
          <a:xfrm>
            <a:off x="4361688" y="3913632"/>
            <a:ext cx="2331720" cy="164592"/>
          </a:xfrm>
          <a:prstGeom prst="rect">
            <a:avLst/>
          </a:prstGeom>
          <a:noFill/>
          <a:ln/>
        </p:spPr>
        <p:txBody>
          <a:bodyPr wrap="square" lIns="0" tIns="0" rIns="0" bIns="0" rtlCol="0" anchor="ctr"/>
          <a:lstStyle/>
          <a:p>
            <a:pPr algn="ctr" indent="0" marL="0">
              <a:buNone/>
            </a:pPr>
            <a:r>
              <a:rPr lang="en-US" sz="1050" dirty="0">
                <a:solidFill>
                  <a:srgbClr val="FFFFFF"/>
                </a:solidFill>
              </a:rPr>
              <a:t>Filtration + contaminants</a:t>
            </a:r>
            <a:endParaRPr lang="en-US" sz="1050" dirty="0"/>
          </a:p>
        </p:txBody>
      </p:sp>
      <p:sp>
        <p:nvSpPr>
          <p:cNvPr id="16" name="Shape 14"/>
          <p:cNvSpPr/>
          <p:nvPr/>
        </p:nvSpPr>
        <p:spPr>
          <a:xfrm>
            <a:off x="3675888" y="2542032"/>
            <a:ext cx="566928" cy="566928"/>
          </a:xfrm>
          <a:prstGeom prst="plus">
            <a:avLst/>
          </a:prstGeom>
          <a:solidFill>
            <a:srgbClr val="153243"/>
          </a:solidFill>
          <a:ln w="12700">
            <a:solidFill>
              <a:srgbClr val="153243"/>
            </a:solidFill>
            <a:prstDash val="solid"/>
          </a:ln>
        </p:spPr>
      </p:sp>
      <p:sp>
        <p:nvSpPr>
          <p:cNvPr id="17" name="Text 15"/>
          <p:cNvSpPr/>
          <p:nvPr/>
        </p:nvSpPr>
        <p:spPr>
          <a:xfrm>
            <a:off x="7863840" y="1965960"/>
            <a:ext cx="3108960" cy="640080"/>
          </a:xfrm>
          <a:prstGeom prst="rect">
            <a:avLst/>
          </a:prstGeom>
          <a:noFill/>
          <a:ln/>
        </p:spPr>
        <p:txBody>
          <a:bodyPr wrap="square" lIns="0" tIns="0" rIns="0" bIns="0" rtlCol="0" anchor="ctr">
            <a:normAutofit/>
          </a:bodyPr>
          <a:lstStyle/>
          <a:p>
            <a:pPr algn="ctr" indent="0" marL="0">
              <a:buNone/>
            </a:pPr>
            <a:r>
              <a:rPr lang="en-US" sz="2300" b="1" dirty="0">
                <a:solidFill>
                  <a:srgbClr val="153243"/>
                </a:solidFill>
              </a:rPr>
              <a:t>SIMULTANEOUS</a:t>
            </a:r>
            <a:endParaRPr lang="en-US" sz="2300" dirty="0"/>
          </a:p>
          <a:p>
            <a:pPr algn="ctr" indent="0" marL="0">
              <a:buNone/>
            </a:pPr>
            <a:r>
              <a:rPr lang="en-US" sz="2300" b="1" dirty="0">
                <a:solidFill>
                  <a:srgbClr val="153243"/>
                </a:solidFill>
              </a:rPr>
              <a:t>CONTROL</a:t>
            </a:r>
            <a:endParaRPr lang="en-US" sz="2300" dirty="0"/>
          </a:p>
        </p:txBody>
      </p:sp>
      <p:sp>
        <p:nvSpPr>
          <p:cNvPr id="18" name="Shape 16"/>
          <p:cNvSpPr/>
          <p:nvPr/>
        </p:nvSpPr>
        <p:spPr>
          <a:xfrm>
            <a:off x="8001000" y="2788920"/>
            <a:ext cx="2834640" cy="438912"/>
          </a:xfrm>
          <a:prstGeom prst="chevron">
            <a:avLst/>
          </a:prstGeom>
          <a:solidFill>
            <a:srgbClr val="F2C14E"/>
          </a:solidFill>
          <a:ln w="12700">
            <a:solidFill>
              <a:srgbClr val="F2C14E"/>
            </a:solidFill>
            <a:prstDash val="solid"/>
          </a:ln>
        </p:spPr>
      </p:sp>
      <p:sp>
        <p:nvSpPr>
          <p:cNvPr id="19" name="Text 17"/>
          <p:cNvSpPr/>
          <p:nvPr/>
        </p:nvSpPr>
        <p:spPr>
          <a:xfrm>
            <a:off x="8138160" y="2926080"/>
            <a:ext cx="2560320" cy="118872"/>
          </a:xfrm>
          <a:prstGeom prst="rect">
            <a:avLst/>
          </a:prstGeom>
          <a:noFill/>
          <a:ln/>
        </p:spPr>
        <p:txBody>
          <a:bodyPr wrap="square" lIns="0" tIns="0" rIns="0" bIns="0" rtlCol="0" anchor="ctr"/>
          <a:lstStyle/>
          <a:p>
            <a:pPr algn="ctr" indent="0" marL="0">
              <a:buNone/>
            </a:pPr>
            <a:r>
              <a:rPr lang="en-US" sz="1100" b="1" dirty="0">
                <a:solidFill>
                  <a:srgbClr val="153243"/>
                </a:solidFill>
              </a:rPr>
              <a:t>Purpose determines targets</a:t>
            </a:r>
            <a:endParaRPr lang="en-US" sz="11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3</a:t>
            </a:fld>
            <a:endParaRPr lang="en-US"/>
          </a:p>
        </p:txBody>
      </p:sp>
      <p:pic>
        <p:nvPicPr>
          <p:cNvPr id="26" name="Picture 25" descr="fig_01_four_params_en.png"/>
          <p:cNvPicPr>
            <a:picLocks noChangeAspect="1"/>
          </p:cNvPicPr>
          <p:nvPr/>
        </p:nvPicPr>
        <p:blipFill>
          <a:blip r:embed="rId3"/>
          <a:stretch>
            <a:fillRect/>
          </a:stretch>
        </p:blipFill>
        <p:spPr>
          <a:xfrm>
            <a:off x="2493316" y="1325880"/>
            <a:ext cx="7174886" cy="50749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If one control fails, the whole environment can fail</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A good temperature reading does not guarantee a good indoor environment.</a:t>
            </a:r>
            <a:endParaRPr lang="en-US" sz="950" dirty="0"/>
          </a:p>
        </p:txBody>
      </p:sp>
      <p:sp>
        <p:nvSpPr>
          <p:cNvPr id="4" name="Shape 2"/>
          <p:cNvSpPr/>
          <p:nvPr/>
        </p:nvSpPr>
        <p:spPr>
          <a:xfrm>
            <a:off x="548640" y="1143000"/>
            <a:ext cx="4754880" cy="3886200"/>
          </a:xfrm>
          <a:prstGeom prst="roundRect">
            <a:avLst>
              <a:gd name="adj" fmla="val 3294"/>
            </a:avLst>
          </a:prstGeom>
          <a:solidFill>
            <a:srgbClr val="ECF7FA"/>
          </a:solidFill>
          <a:ln w="12700">
            <a:solidFill>
              <a:srgbClr val="153243"/>
            </a:solidFill>
            <a:prstDash val="solid"/>
          </a:ln>
        </p:spPr>
      </p:sp>
      <p:sp>
        <p:nvSpPr>
          <p:cNvPr id="5" name="Shape 3"/>
          <p:cNvSpPr/>
          <p:nvPr/>
        </p:nvSpPr>
        <p:spPr>
          <a:xfrm>
            <a:off x="685800" y="4617720"/>
            <a:ext cx="4480560" cy="246888"/>
          </a:xfrm>
          <a:prstGeom prst="rect">
            <a:avLst/>
          </a:prstGeom>
          <a:solidFill>
            <a:srgbClr val="C9B79C"/>
          </a:solidFill>
          <a:ln w="12700">
            <a:solidFill>
              <a:srgbClr val="C9B79C"/>
            </a:solidFill>
            <a:prstDash val="solid"/>
          </a:ln>
        </p:spPr>
      </p:sp>
      <p:sp>
        <p:nvSpPr>
          <p:cNvPr id="6" name="Shape 4"/>
          <p:cNvSpPr/>
          <p:nvPr/>
        </p:nvSpPr>
        <p:spPr>
          <a:xfrm>
            <a:off x="2117750" y="4279392"/>
            <a:ext cx="1616659" cy="384048"/>
          </a:xfrm>
          <a:prstGeom prst="arc">
            <a:avLst/>
          </a:prstGeom>
          <a:noFill/>
          <a:ln w="12700">
            <a:solidFill>
              <a:srgbClr val="153243"/>
            </a:solidFill>
            <a:prstDash val="solid"/>
          </a:ln>
        </p:spPr>
      </p:sp>
      <p:sp>
        <p:nvSpPr>
          <p:cNvPr id="7" name="Shape 5"/>
          <p:cNvSpPr/>
          <p:nvPr/>
        </p:nvSpPr>
        <p:spPr>
          <a:xfrm>
            <a:off x="2260397" y="4434840"/>
            <a:ext cx="1331366" cy="201168"/>
          </a:xfrm>
          <a:prstGeom prst="rect">
            <a:avLst/>
          </a:prstGeom>
          <a:solidFill>
            <a:srgbClr val="F7F4EF"/>
          </a:solidFill>
          <a:ln w="12700">
            <a:solidFill>
              <a:srgbClr val="153243"/>
            </a:solidFill>
            <a:prstDash val="solid"/>
          </a:ln>
        </p:spPr>
      </p:sp>
      <p:sp>
        <p:nvSpPr>
          <p:cNvPr id="8" name="Shape 6"/>
          <p:cNvSpPr/>
          <p:nvPr/>
        </p:nvSpPr>
        <p:spPr>
          <a:xfrm>
            <a:off x="4434840" y="1463040"/>
            <a:ext cx="502920" cy="868680"/>
          </a:xfrm>
          <a:prstGeom prst="rect">
            <a:avLst/>
          </a:prstGeom>
          <a:solidFill>
            <a:srgbClr val="FFFFFF">
              <a:alpha val="85000"/>
            </a:srgbClr>
          </a:solidFill>
          <a:ln w="12700">
            <a:solidFill>
              <a:srgbClr val="4A90A4"/>
            </a:solidFill>
            <a:prstDash val="solid"/>
          </a:ln>
        </p:spPr>
      </p:sp>
      <p:sp>
        <p:nvSpPr>
          <p:cNvPr id="9" name="Text 7"/>
          <p:cNvSpPr/>
          <p:nvPr/>
        </p:nvSpPr>
        <p:spPr>
          <a:xfrm>
            <a:off x="1880006" y="3886200"/>
            <a:ext cx="2139696" cy="320040"/>
          </a:xfrm>
          <a:prstGeom prst="rect">
            <a:avLst/>
          </a:prstGeom>
          <a:noFill/>
          <a:ln/>
        </p:spPr>
        <p:txBody>
          <a:bodyPr wrap="square" lIns="0" tIns="0" rIns="0" bIns="0" rtlCol="0" anchor="ctr"/>
          <a:lstStyle/>
          <a:p>
            <a:pPr algn="ctr" indent="0" marL="0">
              <a:buNone/>
            </a:pPr>
            <a:r>
              <a:rPr lang="en-US" sz="1200" b="1" dirty="0">
                <a:solidFill>
                  <a:srgbClr val="153243"/>
                </a:solidFill>
              </a:rPr>
              <a:t>occupied</a:t>
            </a:r>
            <a:endParaRPr lang="en-US" sz="1200" dirty="0"/>
          </a:p>
          <a:p>
            <a:pPr algn="ctr" indent="0" marL="0">
              <a:buNone/>
            </a:pPr>
            <a:r>
              <a:rPr lang="en-US" sz="1200" b="1" dirty="0">
                <a:solidFill>
                  <a:srgbClr val="153243"/>
                </a:solidFill>
              </a:rPr>
              <a:t>space</a:t>
            </a:r>
            <a:endParaRPr lang="en-US" sz="1200" dirty="0"/>
          </a:p>
        </p:txBody>
      </p:sp>
      <p:sp>
        <p:nvSpPr>
          <p:cNvPr id="10" name="Shape 8"/>
          <p:cNvSpPr/>
          <p:nvPr/>
        </p:nvSpPr>
        <p:spPr>
          <a:xfrm>
            <a:off x="960120" y="1508760"/>
            <a:ext cx="292608" cy="292608"/>
          </a:xfrm>
          <a:prstGeom prst="ellipse">
            <a:avLst/>
          </a:prstGeom>
          <a:solidFill>
            <a:srgbClr val="4A90A4"/>
          </a:solidFill>
          <a:ln w="12700">
            <a:solidFill>
              <a:srgbClr val="4A90A4">
                <a:alpha val="0"/>
              </a:srgbClr>
            </a:solidFill>
            <a:prstDash val="solid"/>
          </a:ln>
        </p:spPr>
      </p:sp>
      <p:sp>
        <p:nvSpPr>
          <p:cNvPr id="11" name="Text 9"/>
          <p:cNvSpPr/>
          <p:nvPr/>
        </p:nvSpPr>
        <p:spPr>
          <a:xfrm>
            <a:off x="1042416" y="157276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12" name="Shape 10"/>
          <p:cNvSpPr/>
          <p:nvPr/>
        </p:nvSpPr>
        <p:spPr>
          <a:xfrm>
            <a:off x="1307592" y="1495044"/>
            <a:ext cx="1234440" cy="329184"/>
          </a:xfrm>
          <a:prstGeom prst="roundRect">
            <a:avLst>
              <a:gd name="adj" fmla="val 13889"/>
            </a:avLst>
          </a:prstGeom>
          <a:solidFill>
            <a:srgbClr val="FFFFFF">
              <a:alpha val="94000"/>
            </a:srgbClr>
          </a:solidFill>
          <a:ln w="12700">
            <a:solidFill>
              <a:srgbClr val="4A90A4"/>
            </a:solidFill>
            <a:prstDash val="solid"/>
          </a:ln>
        </p:spPr>
      </p:sp>
      <p:sp>
        <p:nvSpPr>
          <p:cNvPr id="13" name="Text 11"/>
          <p:cNvSpPr/>
          <p:nvPr/>
        </p:nvSpPr>
        <p:spPr>
          <a:xfrm>
            <a:off x="1417320" y="1577340"/>
            <a:ext cx="10515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24–26 °C</a:t>
            </a:r>
            <a:endParaRPr lang="en-US" sz="850" dirty="0"/>
          </a:p>
        </p:txBody>
      </p:sp>
      <p:sp>
        <p:nvSpPr>
          <p:cNvPr id="14" name="Shape 12"/>
          <p:cNvSpPr/>
          <p:nvPr/>
        </p:nvSpPr>
        <p:spPr>
          <a:xfrm>
            <a:off x="3246120" y="1828800"/>
            <a:ext cx="292608" cy="292608"/>
          </a:xfrm>
          <a:prstGeom prst="ellipse">
            <a:avLst/>
          </a:prstGeom>
          <a:solidFill>
            <a:srgbClr val="C44536"/>
          </a:solidFill>
          <a:ln w="12700">
            <a:solidFill>
              <a:srgbClr val="C44536">
                <a:alpha val="0"/>
              </a:srgbClr>
            </a:solidFill>
            <a:prstDash val="solid"/>
          </a:ln>
        </p:spPr>
      </p:sp>
      <p:sp>
        <p:nvSpPr>
          <p:cNvPr id="15" name="Text 13"/>
          <p:cNvSpPr/>
          <p:nvPr/>
        </p:nvSpPr>
        <p:spPr>
          <a:xfrm>
            <a:off x="3328416" y="189280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2</a:t>
            </a:r>
            <a:endParaRPr lang="en-US" sz="850" dirty="0"/>
          </a:p>
        </p:txBody>
      </p:sp>
      <p:sp>
        <p:nvSpPr>
          <p:cNvPr id="16" name="Shape 14"/>
          <p:cNvSpPr/>
          <p:nvPr/>
        </p:nvSpPr>
        <p:spPr>
          <a:xfrm>
            <a:off x="3593592" y="1815084"/>
            <a:ext cx="1325880" cy="329184"/>
          </a:xfrm>
          <a:prstGeom prst="roundRect">
            <a:avLst>
              <a:gd name="adj" fmla="val 13889"/>
            </a:avLst>
          </a:prstGeom>
          <a:solidFill>
            <a:srgbClr val="FFFFFF">
              <a:alpha val="94000"/>
            </a:srgbClr>
          </a:solidFill>
          <a:ln w="12700">
            <a:solidFill>
              <a:srgbClr val="C44536"/>
            </a:solidFill>
            <a:prstDash val="solid"/>
          </a:ln>
        </p:spPr>
      </p:sp>
      <p:sp>
        <p:nvSpPr>
          <p:cNvPr id="17" name="Text 15"/>
          <p:cNvSpPr/>
          <p:nvPr/>
        </p:nvSpPr>
        <p:spPr>
          <a:xfrm>
            <a:off x="3703320" y="1897380"/>
            <a:ext cx="114300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RH too high</a:t>
            </a:r>
            <a:endParaRPr lang="en-US" sz="850" dirty="0"/>
          </a:p>
        </p:txBody>
      </p:sp>
      <p:sp>
        <p:nvSpPr>
          <p:cNvPr id="18" name="Shape 16"/>
          <p:cNvSpPr/>
          <p:nvPr/>
        </p:nvSpPr>
        <p:spPr>
          <a:xfrm>
            <a:off x="1325880" y="3749040"/>
            <a:ext cx="292608" cy="292608"/>
          </a:xfrm>
          <a:prstGeom prst="ellipse">
            <a:avLst/>
          </a:prstGeom>
          <a:solidFill>
            <a:srgbClr val="E76F51"/>
          </a:solidFill>
          <a:ln w="12700">
            <a:solidFill>
              <a:srgbClr val="E76F51">
                <a:alpha val="0"/>
              </a:srgbClr>
            </a:solidFill>
            <a:prstDash val="solid"/>
          </a:ln>
        </p:spPr>
      </p:sp>
      <p:sp>
        <p:nvSpPr>
          <p:cNvPr id="19" name="Text 17"/>
          <p:cNvSpPr/>
          <p:nvPr/>
        </p:nvSpPr>
        <p:spPr>
          <a:xfrm>
            <a:off x="1408176" y="381304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3</a:t>
            </a:r>
            <a:endParaRPr lang="en-US" sz="850" dirty="0"/>
          </a:p>
        </p:txBody>
      </p:sp>
      <p:sp>
        <p:nvSpPr>
          <p:cNvPr id="20" name="Shape 18"/>
          <p:cNvSpPr/>
          <p:nvPr/>
        </p:nvSpPr>
        <p:spPr>
          <a:xfrm>
            <a:off x="1673352" y="3735324"/>
            <a:ext cx="1371600" cy="329184"/>
          </a:xfrm>
          <a:prstGeom prst="roundRect">
            <a:avLst>
              <a:gd name="adj" fmla="val 13889"/>
            </a:avLst>
          </a:prstGeom>
          <a:solidFill>
            <a:srgbClr val="FFFFFF">
              <a:alpha val="94000"/>
            </a:srgbClr>
          </a:solidFill>
          <a:ln w="12700">
            <a:solidFill>
              <a:srgbClr val="E76F51"/>
            </a:solidFill>
            <a:prstDash val="solid"/>
          </a:ln>
        </p:spPr>
      </p:sp>
      <p:sp>
        <p:nvSpPr>
          <p:cNvPr id="21" name="Text 19"/>
          <p:cNvSpPr/>
          <p:nvPr/>
        </p:nvSpPr>
        <p:spPr>
          <a:xfrm>
            <a:off x="1783080" y="3817620"/>
            <a:ext cx="118872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stagnant air</a:t>
            </a:r>
            <a:endParaRPr lang="en-US" sz="850" dirty="0"/>
          </a:p>
        </p:txBody>
      </p:sp>
      <p:sp>
        <p:nvSpPr>
          <p:cNvPr id="22" name="Shape 20"/>
          <p:cNvSpPr/>
          <p:nvPr/>
        </p:nvSpPr>
        <p:spPr>
          <a:xfrm>
            <a:off x="3291840" y="4160520"/>
            <a:ext cx="292608" cy="292608"/>
          </a:xfrm>
          <a:prstGeom prst="ellipse">
            <a:avLst/>
          </a:prstGeom>
          <a:solidFill>
            <a:srgbClr val="59656F"/>
          </a:solidFill>
          <a:ln w="12700">
            <a:solidFill>
              <a:srgbClr val="59656F">
                <a:alpha val="0"/>
              </a:srgbClr>
            </a:solidFill>
            <a:prstDash val="solid"/>
          </a:ln>
        </p:spPr>
      </p:sp>
      <p:sp>
        <p:nvSpPr>
          <p:cNvPr id="23" name="Text 21"/>
          <p:cNvSpPr/>
          <p:nvPr/>
        </p:nvSpPr>
        <p:spPr>
          <a:xfrm>
            <a:off x="3374136" y="422452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4</a:t>
            </a:r>
            <a:endParaRPr lang="en-US" sz="850" dirty="0"/>
          </a:p>
        </p:txBody>
      </p:sp>
      <p:sp>
        <p:nvSpPr>
          <p:cNvPr id="24" name="Shape 22"/>
          <p:cNvSpPr/>
          <p:nvPr/>
        </p:nvSpPr>
        <p:spPr>
          <a:xfrm>
            <a:off x="3639312" y="4146804"/>
            <a:ext cx="1508760" cy="329184"/>
          </a:xfrm>
          <a:prstGeom prst="roundRect">
            <a:avLst>
              <a:gd name="adj" fmla="val 13889"/>
            </a:avLst>
          </a:prstGeom>
          <a:solidFill>
            <a:srgbClr val="FFFFFF">
              <a:alpha val="94000"/>
            </a:srgbClr>
          </a:solidFill>
          <a:ln w="12700">
            <a:solidFill>
              <a:srgbClr val="59656F"/>
            </a:solidFill>
            <a:prstDash val="solid"/>
          </a:ln>
        </p:spPr>
      </p:sp>
      <p:sp>
        <p:nvSpPr>
          <p:cNvPr id="25" name="Text 23"/>
          <p:cNvSpPr/>
          <p:nvPr/>
        </p:nvSpPr>
        <p:spPr>
          <a:xfrm>
            <a:off x="3749040" y="4229100"/>
            <a:ext cx="132588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poor filtration</a:t>
            </a:r>
            <a:endParaRPr lang="en-US" sz="850" dirty="0"/>
          </a:p>
        </p:txBody>
      </p:sp>
      <p:sp>
        <p:nvSpPr>
          <p:cNvPr id="26" name="Shape 24"/>
          <p:cNvSpPr/>
          <p:nvPr/>
        </p:nvSpPr>
        <p:spPr>
          <a:xfrm>
            <a:off x="5989320" y="1143000"/>
            <a:ext cx="5212080" cy="3886200"/>
          </a:xfrm>
          <a:prstGeom prst="rect">
            <a:avLst/>
          </a:prstGeom>
          <a:solidFill>
            <a:srgbClr val="FFFFFF"/>
          </a:solidFill>
          <a:ln w="12700">
            <a:solidFill>
              <a:srgbClr val="D5D0C7"/>
            </a:solidFill>
            <a:prstDash val="solid"/>
          </a:ln>
        </p:spPr>
      </p:sp>
      <p:sp>
        <p:nvSpPr>
          <p:cNvPr id="27" name="Text 25"/>
          <p:cNvSpPr/>
          <p:nvPr/>
        </p:nvSpPr>
        <p:spPr>
          <a:xfrm>
            <a:off x="6309360" y="1417320"/>
            <a:ext cx="2468880" cy="228600"/>
          </a:xfrm>
          <a:prstGeom prst="rect">
            <a:avLst/>
          </a:prstGeom>
          <a:noFill/>
          <a:ln/>
        </p:spPr>
        <p:txBody>
          <a:bodyPr wrap="square" lIns="0" tIns="0" rIns="0" bIns="0" rtlCol="0" anchor="ctr"/>
          <a:lstStyle/>
          <a:p>
            <a:pPr indent="0" marL="0">
              <a:buNone/>
            </a:pPr>
            <a:r>
              <a:rPr lang="en-US" sz="1700" b="1" dirty="0">
                <a:solidFill>
                  <a:srgbClr val="153243"/>
                </a:solidFill>
              </a:rPr>
              <a:t>Typical failure modes</a:t>
            </a:r>
            <a:endParaRPr lang="en-US" sz="1700" dirty="0"/>
          </a:p>
        </p:txBody>
      </p:sp>
      <p:sp>
        <p:nvSpPr>
          <p:cNvPr id="28" name="Shape 26"/>
          <p:cNvSpPr/>
          <p:nvPr/>
        </p:nvSpPr>
        <p:spPr>
          <a:xfrm>
            <a:off x="6355080" y="2002536"/>
            <a:ext cx="164592" cy="164592"/>
          </a:xfrm>
          <a:prstGeom prst="ellipse">
            <a:avLst/>
          </a:prstGeom>
          <a:solidFill>
            <a:srgbClr val="C44536"/>
          </a:solidFill>
          <a:ln w="12700">
            <a:solidFill>
              <a:srgbClr val="C44536"/>
            </a:solidFill>
            <a:prstDash val="solid"/>
          </a:ln>
        </p:spPr>
      </p:sp>
      <p:sp>
        <p:nvSpPr>
          <p:cNvPr id="29" name="Text 27"/>
          <p:cNvSpPr/>
          <p:nvPr/>
        </p:nvSpPr>
        <p:spPr>
          <a:xfrm>
            <a:off x="6629400" y="1965960"/>
            <a:ext cx="1417320" cy="182880"/>
          </a:xfrm>
          <a:prstGeom prst="rect">
            <a:avLst/>
          </a:prstGeom>
          <a:noFill/>
          <a:ln/>
        </p:spPr>
        <p:txBody>
          <a:bodyPr wrap="square" lIns="0" tIns="0" rIns="0" bIns="0" rtlCol="0" anchor="ctr"/>
          <a:lstStyle/>
          <a:p>
            <a:pPr indent="0" marL="0">
              <a:buNone/>
            </a:pPr>
            <a:r>
              <a:rPr lang="en-US" sz="1150" b="1" dirty="0">
                <a:solidFill>
                  <a:srgbClr val="17212B"/>
                </a:solidFill>
              </a:rPr>
              <a:t>Humidity high</a:t>
            </a:r>
            <a:endParaRPr lang="en-US" sz="1150" dirty="0"/>
          </a:p>
        </p:txBody>
      </p:sp>
      <p:sp>
        <p:nvSpPr>
          <p:cNvPr id="30" name="Text 28"/>
          <p:cNvSpPr/>
          <p:nvPr/>
        </p:nvSpPr>
        <p:spPr>
          <a:xfrm>
            <a:off x="7909560" y="1965960"/>
            <a:ext cx="2834640" cy="201168"/>
          </a:xfrm>
          <a:prstGeom prst="rect">
            <a:avLst/>
          </a:prstGeom>
          <a:noFill/>
          <a:ln/>
        </p:spPr>
        <p:txBody>
          <a:bodyPr wrap="square" lIns="0" tIns="0" rIns="0" bIns="0" rtlCol="0" anchor="ctr">
            <a:normAutofit/>
          </a:bodyPr>
          <a:lstStyle/>
          <a:p>
            <a:pPr indent="0" marL="0">
              <a:buNone/>
            </a:pPr>
            <a:r>
              <a:rPr lang="en-US" sz="950" dirty="0">
                <a:solidFill>
                  <a:srgbClr val="59656F"/>
                </a:solidFill>
              </a:rPr>
              <a:t>sticky feeling, condensation, mold risk</a:t>
            </a:r>
            <a:endParaRPr lang="en-US" sz="950" dirty="0"/>
          </a:p>
        </p:txBody>
      </p:sp>
      <p:sp>
        <p:nvSpPr>
          <p:cNvPr id="31" name="Shape 29"/>
          <p:cNvSpPr/>
          <p:nvPr/>
        </p:nvSpPr>
        <p:spPr>
          <a:xfrm>
            <a:off x="6355080" y="2825496"/>
            <a:ext cx="164592" cy="164592"/>
          </a:xfrm>
          <a:prstGeom prst="ellipse">
            <a:avLst/>
          </a:prstGeom>
          <a:solidFill>
            <a:srgbClr val="E76F51"/>
          </a:solidFill>
          <a:ln w="12700">
            <a:solidFill>
              <a:srgbClr val="E76F51"/>
            </a:solidFill>
            <a:prstDash val="solid"/>
          </a:ln>
        </p:spPr>
      </p:sp>
      <p:sp>
        <p:nvSpPr>
          <p:cNvPr id="32" name="Text 30"/>
          <p:cNvSpPr/>
          <p:nvPr/>
        </p:nvSpPr>
        <p:spPr>
          <a:xfrm>
            <a:off x="6629400" y="2788920"/>
            <a:ext cx="1417320" cy="182880"/>
          </a:xfrm>
          <a:prstGeom prst="rect">
            <a:avLst/>
          </a:prstGeom>
          <a:noFill/>
          <a:ln/>
        </p:spPr>
        <p:txBody>
          <a:bodyPr wrap="square" lIns="0" tIns="0" rIns="0" bIns="0" rtlCol="0" anchor="ctr"/>
          <a:lstStyle/>
          <a:p>
            <a:pPr indent="0" marL="0">
              <a:buNone/>
            </a:pPr>
            <a:r>
              <a:rPr lang="en-US" sz="1150" b="1" dirty="0">
                <a:solidFill>
                  <a:srgbClr val="17212B"/>
                </a:solidFill>
              </a:rPr>
              <a:t>Airflow poor</a:t>
            </a:r>
            <a:endParaRPr lang="en-US" sz="1150" dirty="0"/>
          </a:p>
        </p:txBody>
      </p:sp>
      <p:sp>
        <p:nvSpPr>
          <p:cNvPr id="33" name="Text 31"/>
          <p:cNvSpPr/>
          <p:nvPr/>
        </p:nvSpPr>
        <p:spPr>
          <a:xfrm>
            <a:off x="7909560" y="2788920"/>
            <a:ext cx="2834640" cy="201168"/>
          </a:xfrm>
          <a:prstGeom prst="rect">
            <a:avLst/>
          </a:prstGeom>
          <a:noFill/>
          <a:ln/>
        </p:spPr>
        <p:txBody>
          <a:bodyPr wrap="square" lIns="0" tIns="0" rIns="0" bIns="0" rtlCol="0" anchor="ctr">
            <a:normAutofit/>
          </a:bodyPr>
          <a:lstStyle/>
          <a:p>
            <a:pPr indent="0" marL="0">
              <a:buNone/>
            </a:pPr>
            <a:r>
              <a:rPr lang="en-US" sz="950" dirty="0">
                <a:solidFill>
                  <a:srgbClr val="59656F"/>
                </a:solidFill>
              </a:rPr>
              <a:t>hot spots, drafts, uneven comfort</a:t>
            </a:r>
            <a:endParaRPr lang="en-US" sz="950" dirty="0"/>
          </a:p>
        </p:txBody>
      </p:sp>
      <p:sp>
        <p:nvSpPr>
          <p:cNvPr id="34" name="Shape 32"/>
          <p:cNvSpPr/>
          <p:nvPr/>
        </p:nvSpPr>
        <p:spPr>
          <a:xfrm>
            <a:off x="6355080" y="3648456"/>
            <a:ext cx="164592" cy="164592"/>
          </a:xfrm>
          <a:prstGeom prst="ellipse">
            <a:avLst/>
          </a:prstGeom>
          <a:solidFill>
            <a:srgbClr val="59656F"/>
          </a:solidFill>
          <a:ln w="12700">
            <a:solidFill>
              <a:srgbClr val="59656F"/>
            </a:solidFill>
            <a:prstDash val="solid"/>
          </a:ln>
        </p:spPr>
      </p:sp>
      <p:sp>
        <p:nvSpPr>
          <p:cNvPr id="35" name="Text 33"/>
          <p:cNvSpPr/>
          <p:nvPr/>
        </p:nvSpPr>
        <p:spPr>
          <a:xfrm>
            <a:off x="6629400" y="3611880"/>
            <a:ext cx="1417320" cy="182880"/>
          </a:xfrm>
          <a:prstGeom prst="rect">
            <a:avLst/>
          </a:prstGeom>
          <a:noFill/>
          <a:ln/>
        </p:spPr>
        <p:txBody>
          <a:bodyPr wrap="square" lIns="0" tIns="0" rIns="0" bIns="0" rtlCol="0" anchor="ctr"/>
          <a:lstStyle/>
          <a:p>
            <a:pPr indent="0" marL="0">
              <a:buNone/>
            </a:pPr>
            <a:r>
              <a:rPr lang="en-US" sz="1150" b="1" dirty="0">
                <a:solidFill>
                  <a:srgbClr val="17212B"/>
                </a:solidFill>
              </a:rPr>
              <a:t>Cleanliness poor</a:t>
            </a:r>
            <a:endParaRPr lang="en-US" sz="1150" dirty="0"/>
          </a:p>
        </p:txBody>
      </p:sp>
      <p:sp>
        <p:nvSpPr>
          <p:cNvPr id="36" name="Text 34"/>
          <p:cNvSpPr/>
          <p:nvPr/>
        </p:nvSpPr>
        <p:spPr>
          <a:xfrm>
            <a:off x="7909560" y="3611880"/>
            <a:ext cx="2834640" cy="201168"/>
          </a:xfrm>
          <a:prstGeom prst="rect">
            <a:avLst/>
          </a:prstGeom>
          <a:noFill/>
          <a:ln/>
        </p:spPr>
        <p:txBody>
          <a:bodyPr wrap="square" lIns="0" tIns="0" rIns="0" bIns="0" rtlCol="0" anchor="ctr">
            <a:normAutofit/>
          </a:bodyPr>
          <a:lstStyle/>
          <a:p>
            <a:pPr indent="0" marL="0">
              <a:buNone/>
            </a:pPr>
            <a:r>
              <a:rPr lang="en-US" sz="950" dirty="0">
                <a:solidFill>
                  <a:srgbClr val="59656F"/>
                </a:solidFill>
              </a:rPr>
              <a:t>odor, dust, bioaerosol exposure</a:t>
            </a:r>
            <a:endParaRPr lang="en-US" sz="9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4</a:t>
            </a:fld>
            <a:endParaRPr lang="en-US"/>
          </a:p>
        </p:txBody>
      </p:sp>
      <p:pic>
        <p:nvPicPr>
          <p:cNvPr id="37" name="Picture 36" descr="fig_05_air_processing_en.png"/>
          <p:cNvPicPr>
            <a:picLocks noChangeAspect="1"/>
          </p:cNvPicPr>
          <p:nvPr/>
        </p:nvPicPr>
        <p:blipFill>
          <a:blip r:embed="rId3"/>
          <a:stretch>
            <a:fillRect/>
          </a:stretch>
        </p:blipFill>
        <p:spPr>
          <a:xfrm>
            <a:off x="2818311" y="1325880"/>
            <a:ext cx="6524897" cy="5074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Purpose changes the design target</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Comfort AC and process AC use the same variables for different goals.</a:t>
            </a:r>
            <a:endParaRPr lang="en-US" sz="950" dirty="0"/>
          </a:p>
        </p:txBody>
      </p:sp>
      <p:sp>
        <p:nvSpPr>
          <p:cNvPr id="4" name="Shape 2"/>
          <p:cNvSpPr/>
          <p:nvPr/>
        </p:nvSpPr>
        <p:spPr>
          <a:xfrm>
            <a:off x="731520" y="1325880"/>
            <a:ext cx="4983480" cy="3611880"/>
          </a:xfrm>
          <a:prstGeom prst="roundRect">
            <a:avLst>
              <a:gd name="adj" fmla="val 3544"/>
            </a:avLst>
          </a:prstGeom>
          <a:solidFill>
            <a:srgbClr val="DDECF0"/>
          </a:solidFill>
          <a:ln w="12700">
            <a:solidFill>
              <a:srgbClr val="4A90A4"/>
            </a:solidFill>
            <a:prstDash val="solid"/>
          </a:ln>
        </p:spPr>
      </p:sp>
      <p:sp>
        <p:nvSpPr>
          <p:cNvPr id="5" name="Text 3"/>
          <p:cNvSpPr/>
          <p:nvPr/>
        </p:nvSpPr>
        <p:spPr>
          <a:xfrm>
            <a:off x="1005840" y="1645920"/>
            <a:ext cx="2194560" cy="274320"/>
          </a:xfrm>
          <a:prstGeom prst="rect">
            <a:avLst/>
          </a:prstGeom>
          <a:noFill/>
          <a:ln/>
        </p:spPr>
        <p:txBody>
          <a:bodyPr wrap="square" lIns="0" tIns="0" rIns="0" bIns="0" rtlCol="0" anchor="ctr"/>
          <a:lstStyle/>
          <a:p>
            <a:pPr indent="0" marL="0">
              <a:buNone/>
            </a:pPr>
            <a:r>
              <a:rPr lang="en-US" sz="2200" b="1" dirty="0">
                <a:solidFill>
                  <a:srgbClr val="4A90A4"/>
                </a:solidFill>
              </a:rPr>
              <a:t>Comfort AC</a:t>
            </a:r>
            <a:endParaRPr lang="en-US" sz="2200" dirty="0"/>
          </a:p>
        </p:txBody>
      </p:sp>
      <p:sp>
        <p:nvSpPr>
          <p:cNvPr id="6" name="Text 4"/>
          <p:cNvSpPr/>
          <p:nvPr/>
        </p:nvSpPr>
        <p:spPr>
          <a:xfrm>
            <a:off x="1005840" y="2121408"/>
            <a:ext cx="3383280" cy="237744"/>
          </a:xfrm>
          <a:prstGeom prst="rect">
            <a:avLst/>
          </a:prstGeom>
          <a:noFill/>
          <a:ln/>
        </p:spPr>
        <p:txBody>
          <a:bodyPr wrap="square" lIns="0" tIns="0" rIns="0" bIns="0" rtlCol="0" anchor="ctr"/>
          <a:lstStyle/>
          <a:p>
            <a:pPr indent="0" marL="0">
              <a:buNone/>
            </a:pPr>
            <a:r>
              <a:rPr lang="en-US" sz="1400" b="1" dirty="0">
                <a:solidFill>
                  <a:srgbClr val="17212B"/>
                </a:solidFill>
              </a:rPr>
              <a:t>Goal: human thermal comfort</a:t>
            </a:r>
            <a:endParaRPr lang="en-US" sz="1400" dirty="0"/>
          </a:p>
        </p:txBody>
      </p:sp>
      <p:sp>
        <p:nvSpPr>
          <p:cNvPr id="7" name="Text 5"/>
          <p:cNvSpPr/>
          <p:nvPr/>
        </p:nvSpPr>
        <p:spPr>
          <a:xfrm>
            <a:off x="1005840" y="2651760"/>
            <a:ext cx="4114800" cy="658368"/>
          </a:xfrm>
          <a:prstGeom prst="rect">
            <a:avLst/>
          </a:prstGeom>
          <a:noFill/>
          <a:ln/>
        </p:spPr>
        <p:txBody>
          <a:bodyPr wrap="square" lIns="0" tIns="0" rIns="0" bIns="0" rtlCol="0" anchor="ctr">
            <a:normAutofit/>
          </a:bodyPr>
          <a:lstStyle/>
          <a:p>
            <a:pPr indent="0" marL="0">
              <a:buNone/>
            </a:pPr>
            <a:r>
              <a:rPr lang="en-US" sz="1500" dirty="0">
                <a:solidFill>
                  <a:srgbClr val="17212B"/>
                </a:solidFill>
              </a:rPr>
              <a:t>Design around the body’s heat rejection: convection, radiation, conduction, evaporation.</a:t>
            </a:r>
            <a:endParaRPr lang="en-US" sz="1500" dirty="0"/>
          </a:p>
        </p:txBody>
      </p:sp>
      <p:sp>
        <p:nvSpPr>
          <p:cNvPr id="8" name="Text 6"/>
          <p:cNvSpPr/>
          <p:nvPr/>
        </p:nvSpPr>
        <p:spPr>
          <a:xfrm>
            <a:off x="1005840" y="3886200"/>
            <a:ext cx="4114800" cy="274320"/>
          </a:xfrm>
          <a:prstGeom prst="rect">
            <a:avLst/>
          </a:prstGeom>
          <a:noFill/>
          <a:ln/>
        </p:spPr>
        <p:txBody>
          <a:bodyPr wrap="square" lIns="0" tIns="0" rIns="0" bIns="0" rtlCol="0" anchor="ctr"/>
          <a:lstStyle/>
          <a:p>
            <a:pPr indent="0" marL="0">
              <a:buNone/>
            </a:pPr>
            <a:r>
              <a:rPr lang="en-US" sz="1200" dirty="0">
                <a:solidFill>
                  <a:srgbClr val="59656F"/>
                </a:solidFill>
              </a:rPr>
              <a:t>Typical examples: classrooms, offices, homes, theaters</a:t>
            </a:r>
            <a:endParaRPr lang="en-US" sz="1200" dirty="0"/>
          </a:p>
        </p:txBody>
      </p:sp>
      <p:sp>
        <p:nvSpPr>
          <p:cNvPr id="9" name="Shape 7"/>
          <p:cNvSpPr/>
          <p:nvPr/>
        </p:nvSpPr>
        <p:spPr>
          <a:xfrm>
            <a:off x="6446520" y="1325880"/>
            <a:ext cx="4983480" cy="3611880"/>
          </a:xfrm>
          <a:prstGeom prst="roundRect">
            <a:avLst>
              <a:gd name="adj" fmla="val 3544"/>
            </a:avLst>
          </a:prstGeom>
          <a:solidFill>
            <a:srgbClr val="FCE8DF"/>
          </a:solidFill>
          <a:ln w="12700">
            <a:solidFill>
              <a:srgbClr val="E76F51"/>
            </a:solidFill>
            <a:prstDash val="solid"/>
          </a:ln>
        </p:spPr>
      </p:sp>
      <p:sp>
        <p:nvSpPr>
          <p:cNvPr id="10" name="Text 8"/>
          <p:cNvSpPr/>
          <p:nvPr/>
        </p:nvSpPr>
        <p:spPr>
          <a:xfrm>
            <a:off x="6720840" y="1645920"/>
            <a:ext cx="2560320" cy="274320"/>
          </a:xfrm>
          <a:prstGeom prst="rect">
            <a:avLst/>
          </a:prstGeom>
          <a:noFill/>
          <a:ln/>
        </p:spPr>
        <p:txBody>
          <a:bodyPr wrap="square" lIns="0" tIns="0" rIns="0" bIns="0" rtlCol="0" anchor="ctr"/>
          <a:lstStyle/>
          <a:p>
            <a:pPr indent="0" marL="0">
              <a:buNone/>
            </a:pPr>
            <a:r>
              <a:rPr lang="en-US" sz="2200" b="1" dirty="0">
                <a:solidFill>
                  <a:srgbClr val="E76F51"/>
                </a:solidFill>
              </a:rPr>
              <a:t>Process AC</a:t>
            </a:r>
            <a:endParaRPr lang="en-US" sz="2200" dirty="0"/>
          </a:p>
        </p:txBody>
      </p:sp>
      <p:sp>
        <p:nvSpPr>
          <p:cNvPr id="11" name="Text 9"/>
          <p:cNvSpPr/>
          <p:nvPr/>
        </p:nvSpPr>
        <p:spPr>
          <a:xfrm>
            <a:off x="6720840" y="2121408"/>
            <a:ext cx="3566160" cy="237744"/>
          </a:xfrm>
          <a:prstGeom prst="rect">
            <a:avLst/>
          </a:prstGeom>
          <a:noFill/>
          <a:ln/>
        </p:spPr>
        <p:txBody>
          <a:bodyPr wrap="square" lIns="0" tIns="0" rIns="0" bIns="0" rtlCol="0" anchor="ctr"/>
          <a:lstStyle/>
          <a:p>
            <a:pPr indent="0" marL="0">
              <a:buNone/>
            </a:pPr>
            <a:r>
              <a:rPr lang="en-US" sz="1400" b="1" dirty="0">
                <a:solidFill>
                  <a:srgbClr val="17212B"/>
                </a:solidFill>
              </a:rPr>
              <a:t>Goal: material/process requirement</a:t>
            </a:r>
            <a:endParaRPr lang="en-US" sz="1400" dirty="0"/>
          </a:p>
        </p:txBody>
      </p:sp>
      <p:sp>
        <p:nvSpPr>
          <p:cNvPr id="12" name="Text 10"/>
          <p:cNvSpPr/>
          <p:nvPr/>
        </p:nvSpPr>
        <p:spPr>
          <a:xfrm>
            <a:off x="6720840" y="2651760"/>
            <a:ext cx="4160520" cy="658368"/>
          </a:xfrm>
          <a:prstGeom prst="rect">
            <a:avLst/>
          </a:prstGeom>
          <a:noFill/>
          <a:ln/>
        </p:spPr>
        <p:txBody>
          <a:bodyPr wrap="square" lIns="0" tIns="0" rIns="0" bIns="0" rtlCol="0" anchor="ctr">
            <a:normAutofit/>
          </a:bodyPr>
          <a:lstStyle/>
          <a:p>
            <a:pPr indent="0" marL="0">
              <a:buNone/>
            </a:pPr>
            <a:r>
              <a:rPr lang="en-US" sz="1500" dirty="0">
                <a:solidFill>
                  <a:srgbClr val="17212B"/>
                </a:solidFill>
              </a:rPr>
              <a:t>Targets may be uncomfortable for humans but necessary for product quality or safety.</a:t>
            </a:r>
            <a:endParaRPr lang="en-US" sz="1500" dirty="0"/>
          </a:p>
        </p:txBody>
      </p:sp>
      <p:sp>
        <p:nvSpPr>
          <p:cNvPr id="13" name="Text 11"/>
          <p:cNvSpPr/>
          <p:nvPr/>
        </p:nvSpPr>
        <p:spPr>
          <a:xfrm>
            <a:off x="6720840" y="3886200"/>
            <a:ext cx="4160520" cy="274320"/>
          </a:xfrm>
          <a:prstGeom prst="rect">
            <a:avLst/>
          </a:prstGeom>
          <a:noFill/>
          <a:ln/>
        </p:spPr>
        <p:txBody>
          <a:bodyPr wrap="square" lIns="0" tIns="0" rIns="0" bIns="0" rtlCol="0" anchor="ctr"/>
          <a:lstStyle/>
          <a:p>
            <a:pPr indent="0" marL="0">
              <a:buNone/>
            </a:pPr>
            <a:r>
              <a:rPr lang="en-US" sz="1200" dirty="0">
                <a:solidFill>
                  <a:srgbClr val="59656F"/>
                </a:solidFill>
              </a:rPr>
              <a:t>Examples: textile, paper, seed storage, laboratories</a:t>
            </a:r>
            <a:endParaRPr lang="en-US" sz="12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5</a:t>
            </a:fld>
            <a:endParaRPr lang="en-US"/>
          </a:p>
        </p:txBody>
      </p:sp>
      <p:pic>
        <p:nvPicPr>
          <p:cNvPr id="26" name="Picture 25" descr="fig_06_classification_en.png"/>
          <p:cNvPicPr>
            <a:picLocks noChangeAspect="1"/>
          </p:cNvPicPr>
          <p:nvPr/>
        </p:nvPicPr>
        <p:blipFill>
          <a:blip r:embed="rId3"/>
          <a:stretch>
            <a:fillRect/>
          </a:stretch>
        </p:blipFill>
        <p:spPr>
          <a:xfrm>
            <a:off x="1851660" y="1325880"/>
            <a:ext cx="8458200" cy="50749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Comfort AC supports the body’s heat balance</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Use the human body as the “sensor” for comfort air conditioning.</a:t>
            </a:r>
            <a:endParaRPr lang="en-US" sz="950" dirty="0"/>
          </a:p>
        </p:txBody>
      </p:sp>
      <p:sp>
        <p:nvSpPr>
          <p:cNvPr id="4" name="Shape 2"/>
          <p:cNvSpPr/>
          <p:nvPr/>
        </p:nvSpPr>
        <p:spPr>
          <a:xfrm>
            <a:off x="2331720" y="1371600"/>
            <a:ext cx="960120" cy="960120"/>
          </a:xfrm>
          <a:prstGeom prst="ellipse">
            <a:avLst/>
          </a:prstGeom>
          <a:solidFill>
            <a:srgbClr val="F2B880"/>
          </a:solidFill>
          <a:ln w="12700">
            <a:solidFill>
              <a:srgbClr val="153243"/>
            </a:solidFill>
            <a:prstDash val="solid"/>
          </a:ln>
        </p:spPr>
      </p:sp>
      <p:sp>
        <p:nvSpPr>
          <p:cNvPr id="5" name="Shape 3"/>
          <p:cNvSpPr/>
          <p:nvPr/>
        </p:nvSpPr>
        <p:spPr>
          <a:xfrm>
            <a:off x="2057400" y="2286000"/>
            <a:ext cx="1508760" cy="2103120"/>
          </a:xfrm>
          <a:prstGeom prst="roundRect">
            <a:avLst>
              <a:gd name="adj" fmla="val 9697"/>
            </a:avLst>
          </a:prstGeom>
          <a:solidFill>
            <a:srgbClr val="6BBF9B"/>
          </a:solidFill>
          <a:ln w="12700">
            <a:solidFill>
              <a:srgbClr val="153243"/>
            </a:solidFill>
            <a:prstDash val="solid"/>
          </a:ln>
        </p:spPr>
      </p:sp>
      <p:sp>
        <p:nvSpPr>
          <p:cNvPr id="6" name="Shape 4"/>
          <p:cNvSpPr/>
          <p:nvPr/>
        </p:nvSpPr>
        <p:spPr>
          <a:xfrm>
            <a:off x="640080" y="2011680"/>
            <a:ext cx="292608" cy="292608"/>
          </a:xfrm>
          <a:prstGeom prst="ellipse">
            <a:avLst/>
          </a:prstGeom>
          <a:solidFill>
            <a:srgbClr val="4A90A4"/>
          </a:solidFill>
          <a:ln w="12700">
            <a:solidFill>
              <a:srgbClr val="4A90A4">
                <a:alpha val="0"/>
              </a:srgbClr>
            </a:solidFill>
            <a:prstDash val="solid"/>
          </a:ln>
        </p:spPr>
      </p:sp>
      <p:sp>
        <p:nvSpPr>
          <p:cNvPr id="7" name="Text 5"/>
          <p:cNvSpPr/>
          <p:nvPr/>
        </p:nvSpPr>
        <p:spPr>
          <a:xfrm>
            <a:off x="722376" y="207568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8" name="Shape 6"/>
          <p:cNvSpPr/>
          <p:nvPr/>
        </p:nvSpPr>
        <p:spPr>
          <a:xfrm>
            <a:off x="987552" y="1997964"/>
            <a:ext cx="1463040" cy="329184"/>
          </a:xfrm>
          <a:prstGeom prst="roundRect">
            <a:avLst>
              <a:gd name="adj" fmla="val 13889"/>
            </a:avLst>
          </a:prstGeom>
          <a:solidFill>
            <a:srgbClr val="FFFFFF">
              <a:alpha val="94000"/>
            </a:srgbClr>
          </a:solidFill>
          <a:ln w="12700">
            <a:solidFill>
              <a:srgbClr val="4A90A4"/>
            </a:solidFill>
            <a:prstDash val="solid"/>
          </a:ln>
        </p:spPr>
      </p:sp>
      <p:sp>
        <p:nvSpPr>
          <p:cNvPr id="9" name="Text 7"/>
          <p:cNvSpPr/>
          <p:nvPr/>
        </p:nvSpPr>
        <p:spPr>
          <a:xfrm>
            <a:off x="1097280" y="2080260"/>
            <a:ext cx="12801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Convection</a:t>
            </a:r>
            <a:endParaRPr lang="en-US" sz="850" dirty="0"/>
          </a:p>
        </p:txBody>
      </p:sp>
      <p:sp>
        <p:nvSpPr>
          <p:cNvPr id="10" name="Shape 8"/>
          <p:cNvSpPr/>
          <p:nvPr/>
        </p:nvSpPr>
        <p:spPr>
          <a:xfrm>
            <a:off x="4114800" y="1828800"/>
            <a:ext cx="292608" cy="292608"/>
          </a:xfrm>
          <a:prstGeom prst="ellipse">
            <a:avLst/>
          </a:prstGeom>
          <a:solidFill>
            <a:srgbClr val="E76F51"/>
          </a:solidFill>
          <a:ln w="12700">
            <a:solidFill>
              <a:srgbClr val="E76F51">
                <a:alpha val="0"/>
              </a:srgbClr>
            </a:solidFill>
            <a:prstDash val="solid"/>
          </a:ln>
        </p:spPr>
      </p:sp>
      <p:sp>
        <p:nvSpPr>
          <p:cNvPr id="11" name="Text 9"/>
          <p:cNvSpPr/>
          <p:nvPr/>
        </p:nvSpPr>
        <p:spPr>
          <a:xfrm>
            <a:off x="4197096" y="189280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2</a:t>
            </a:r>
            <a:endParaRPr lang="en-US" sz="850" dirty="0"/>
          </a:p>
        </p:txBody>
      </p:sp>
      <p:sp>
        <p:nvSpPr>
          <p:cNvPr id="12" name="Shape 10"/>
          <p:cNvSpPr/>
          <p:nvPr/>
        </p:nvSpPr>
        <p:spPr>
          <a:xfrm>
            <a:off x="4462272" y="1815084"/>
            <a:ext cx="1463040" cy="329184"/>
          </a:xfrm>
          <a:prstGeom prst="roundRect">
            <a:avLst>
              <a:gd name="adj" fmla="val 13889"/>
            </a:avLst>
          </a:prstGeom>
          <a:solidFill>
            <a:srgbClr val="FFFFFF">
              <a:alpha val="94000"/>
            </a:srgbClr>
          </a:solidFill>
          <a:ln w="12700">
            <a:solidFill>
              <a:srgbClr val="E76F51"/>
            </a:solidFill>
            <a:prstDash val="solid"/>
          </a:ln>
        </p:spPr>
      </p:sp>
      <p:sp>
        <p:nvSpPr>
          <p:cNvPr id="13" name="Text 11"/>
          <p:cNvSpPr/>
          <p:nvPr/>
        </p:nvSpPr>
        <p:spPr>
          <a:xfrm>
            <a:off x="4572000" y="1897380"/>
            <a:ext cx="12801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Radiation</a:t>
            </a:r>
            <a:endParaRPr lang="en-US" sz="850" dirty="0"/>
          </a:p>
        </p:txBody>
      </p:sp>
      <p:sp>
        <p:nvSpPr>
          <p:cNvPr id="14" name="Shape 12"/>
          <p:cNvSpPr/>
          <p:nvPr/>
        </p:nvSpPr>
        <p:spPr>
          <a:xfrm>
            <a:off x="731520" y="4389120"/>
            <a:ext cx="292608" cy="292608"/>
          </a:xfrm>
          <a:prstGeom prst="ellipse">
            <a:avLst/>
          </a:prstGeom>
          <a:solidFill>
            <a:srgbClr val="59656F"/>
          </a:solidFill>
          <a:ln w="12700">
            <a:solidFill>
              <a:srgbClr val="59656F">
                <a:alpha val="0"/>
              </a:srgbClr>
            </a:solidFill>
            <a:prstDash val="solid"/>
          </a:ln>
        </p:spPr>
      </p:sp>
      <p:sp>
        <p:nvSpPr>
          <p:cNvPr id="15" name="Text 13"/>
          <p:cNvSpPr/>
          <p:nvPr/>
        </p:nvSpPr>
        <p:spPr>
          <a:xfrm>
            <a:off x="813816" y="445312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3</a:t>
            </a:r>
            <a:endParaRPr lang="en-US" sz="850" dirty="0"/>
          </a:p>
        </p:txBody>
      </p:sp>
      <p:sp>
        <p:nvSpPr>
          <p:cNvPr id="16" name="Shape 14"/>
          <p:cNvSpPr/>
          <p:nvPr/>
        </p:nvSpPr>
        <p:spPr>
          <a:xfrm>
            <a:off x="1078992" y="4375404"/>
            <a:ext cx="1463040" cy="329184"/>
          </a:xfrm>
          <a:prstGeom prst="roundRect">
            <a:avLst>
              <a:gd name="adj" fmla="val 13889"/>
            </a:avLst>
          </a:prstGeom>
          <a:solidFill>
            <a:srgbClr val="FFFFFF">
              <a:alpha val="94000"/>
            </a:srgbClr>
          </a:solidFill>
          <a:ln w="12700">
            <a:solidFill>
              <a:srgbClr val="59656F"/>
            </a:solidFill>
            <a:prstDash val="solid"/>
          </a:ln>
        </p:spPr>
      </p:sp>
      <p:sp>
        <p:nvSpPr>
          <p:cNvPr id="17" name="Text 15"/>
          <p:cNvSpPr/>
          <p:nvPr/>
        </p:nvSpPr>
        <p:spPr>
          <a:xfrm>
            <a:off x="1188720" y="4457700"/>
            <a:ext cx="12801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Conduction</a:t>
            </a:r>
            <a:endParaRPr lang="en-US" sz="850" dirty="0"/>
          </a:p>
        </p:txBody>
      </p:sp>
      <p:sp>
        <p:nvSpPr>
          <p:cNvPr id="18" name="Shape 16"/>
          <p:cNvSpPr/>
          <p:nvPr/>
        </p:nvSpPr>
        <p:spPr>
          <a:xfrm>
            <a:off x="3931920" y="4251960"/>
            <a:ext cx="292608" cy="292608"/>
          </a:xfrm>
          <a:prstGeom prst="ellipse">
            <a:avLst/>
          </a:prstGeom>
          <a:solidFill>
            <a:srgbClr val="0B7A75"/>
          </a:solidFill>
          <a:ln w="12700">
            <a:solidFill>
              <a:srgbClr val="0B7A75">
                <a:alpha val="0"/>
              </a:srgbClr>
            </a:solidFill>
            <a:prstDash val="solid"/>
          </a:ln>
        </p:spPr>
      </p:sp>
      <p:sp>
        <p:nvSpPr>
          <p:cNvPr id="19" name="Text 17"/>
          <p:cNvSpPr/>
          <p:nvPr/>
        </p:nvSpPr>
        <p:spPr>
          <a:xfrm>
            <a:off x="4014216" y="431596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4</a:t>
            </a:r>
            <a:endParaRPr lang="en-US" sz="850" dirty="0"/>
          </a:p>
        </p:txBody>
      </p:sp>
      <p:sp>
        <p:nvSpPr>
          <p:cNvPr id="20" name="Shape 18"/>
          <p:cNvSpPr/>
          <p:nvPr/>
        </p:nvSpPr>
        <p:spPr>
          <a:xfrm>
            <a:off x="4279392" y="4238244"/>
            <a:ext cx="1463040" cy="329184"/>
          </a:xfrm>
          <a:prstGeom prst="roundRect">
            <a:avLst>
              <a:gd name="adj" fmla="val 13889"/>
            </a:avLst>
          </a:prstGeom>
          <a:solidFill>
            <a:srgbClr val="FFFFFF">
              <a:alpha val="94000"/>
            </a:srgbClr>
          </a:solidFill>
          <a:ln w="12700">
            <a:solidFill>
              <a:srgbClr val="0B7A75"/>
            </a:solidFill>
            <a:prstDash val="solid"/>
          </a:ln>
        </p:spPr>
      </p:sp>
      <p:sp>
        <p:nvSpPr>
          <p:cNvPr id="21" name="Text 19"/>
          <p:cNvSpPr/>
          <p:nvPr/>
        </p:nvSpPr>
        <p:spPr>
          <a:xfrm>
            <a:off x="4389120" y="4320540"/>
            <a:ext cx="12801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Evaporation</a:t>
            </a:r>
            <a:endParaRPr lang="en-US" sz="850" dirty="0"/>
          </a:p>
        </p:txBody>
      </p:sp>
      <p:sp>
        <p:nvSpPr>
          <p:cNvPr id="22" name="Shape 20"/>
          <p:cNvSpPr/>
          <p:nvPr/>
        </p:nvSpPr>
        <p:spPr>
          <a:xfrm>
            <a:off x="1920240" y="2423160"/>
            <a:ext cx="-594360" cy="-118872"/>
          </a:xfrm>
          <a:prstGeom prst="line">
            <a:avLst/>
          </a:prstGeom>
          <a:noFill/>
          <a:ln w="12700">
            <a:solidFill>
              <a:srgbClr val="4A90A4"/>
            </a:solidFill>
            <a:prstDash val="solid"/>
            <a:headEnd type="none"/>
            <a:tailEnd type="triangle"/>
          </a:ln>
        </p:spPr>
      </p:sp>
      <p:sp>
        <p:nvSpPr>
          <p:cNvPr id="23" name="Shape 21"/>
          <p:cNvSpPr/>
          <p:nvPr/>
        </p:nvSpPr>
        <p:spPr>
          <a:xfrm>
            <a:off x="3657600" y="2267712"/>
            <a:ext cx="658368" cy="-146304"/>
          </a:xfrm>
          <a:prstGeom prst="line">
            <a:avLst/>
          </a:prstGeom>
          <a:noFill/>
          <a:ln w="12700">
            <a:solidFill>
              <a:srgbClr val="E76F51"/>
            </a:solidFill>
            <a:prstDash val="solid"/>
            <a:headEnd type="none"/>
            <a:tailEnd type="triangle"/>
          </a:ln>
        </p:spPr>
      </p:sp>
      <p:sp>
        <p:nvSpPr>
          <p:cNvPr id="24" name="Shape 22"/>
          <p:cNvSpPr/>
          <p:nvPr/>
        </p:nvSpPr>
        <p:spPr>
          <a:xfrm>
            <a:off x="2194560" y="4343400"/>
            <a:ext cx="-731520" cy="210312"/>
          </a:xfrm>
          <a:prstGeom prst="line">
            <a:avLst/>
          </a:prstGeom>
          <a:noFill/>
          <a:ln w="12700">
            <a:solidFill>
              <a:srgbClr val="59656F"/>
            </a:solidFill>
            <a:prstDash val="solid"/>
            <a:headEnd type="none"/>
            <a:tailEnd type="triangle"/>
          </a:ln>
        </p:spPr>
      </p:sp>
      <p:sp>
        <p:nvSpPr>
          <p:cNvPr id="25" name="Shape 23"/>
          <p:cNvSpPr/>
          <p:nvPr/>
        </p:nvSpPr>
        <p:spPr>
          <a:xfrm>
            <a:off x="3337560" y="4160520"/>
            <a:ext cx="795528" cy="246888"/>
          </a:xfrm>
          <a:prstGeom prst="line">
            <a:avLst/>
          </a:prstGeom>
          <a:noFill/>
          <a:ln w="12700">
            <a:solidFill>
              <a:srgbClr val="0B7A75"/>
            </a:solidFill>
            <a:prstDash val="solid"/>
            <a:headEnd type="none"/>
            <a:tailEnd type="triangle"/>
          </a:ln>
        </p:spPr>
      </p:sp>
      <p:sp>
        <p:nvSpPr>
          <p:cNvPr id="26" name="Shape 24"/>
          <p:cNvSpPr/>
          <p:nvPr/>
        </p:nvSpPr>
        <p:spPr>
          <a:xfrm>
            <a:off x="6400800" y="1417320"/>
            <a:ext cx="4480560" cy="3474720"/>
          </a:xfrm>
          <a:prstGeom prst="roundRect">
            <a:avLst>
              <a:gd name="adj" fmla="val 3158"/>
            </a:avLst>
          </a:prstGeom>
          <a:solidFill>
            <a:srgbClr val="FFFFFF"/>
          </a:solidFill>
          <a:ln w="12700">
            <a:solidFill>
              <a:srgbClr val="D8D0C6"/>
            </a:solidFill>
            <a:prstDash val="solid"/>
          </a:ln>
        </p:spPr>
      </p:sp>
      <p:sp>
        <p:nvSpPr>
          <p:cNvPr id="27" name="Text 25"/>
          <p:cNvSpPr/>
          <p:nvPr/>
        </p:nvSpPr>
        <p:spPr>
          <a:xfrm>
            <a:off x="6720840" y="1737360"/>
            <a:ext cx="2286000" cy="228600"/>
          </a:xfrm>
          <a:prstGeom prst="rect">
            <a:avLst/>
          </a:prstGeom>
          <a:noFill/>
          <a:ln/>
        </p:spPr>
        <p:txBody>
          <a:bodyPr wrap="square" lIns="0" tIns="0" rIns="0" bIns="0" rtlCol="0" anchor="ctr"/>
          <a:lstStyle/>
          <a:p>
            <a:pPr indent="0" marL="0">
              <a:buNone/>
            </a:pPr>
            <a:r>
              <a:rPr lang="en-US" sz="1900" b="1" dirty="0">
                <a:solidFill>
                  <a:srgbClr val="153243"/>
                </a:solidFill>
              </a:rPr>
              <a:t>Comfort zone logic</a:t>
            </a:r>
            <a:endParaRPr lang="en-US" sz="1900" dirty="0"/>
          </a:p>
        </p:txBody>
      </p:sp>
      <p:sp>
        <p:nvSpPr>
          <p:cNvPr id="28" name="Text 26"/>
          <p:cNvSpPr/>
          <p:nvPr/>
        </p:nvSpPr>
        <p:spPr>
          <a:xfrm>
            <a:off x="6720840" y="2331720"/>
            <a:ext cx="3611880" cy="1188720"/>
          </a:xfrm>
          <a:prstGeom prst="rect">
            <a:avLst/>
          </a:prstGeom>
          <a:noFill/>
          <a:ln/>
        </p:spPr>
        <p:txBody>
          <a:bodyPr wrap="square" lIns="0" tIns="0" rIns="0" bIns="0" rtlCol="0" anchor="ctr">
            <a:normAutofit/>
          </a:bodyPr>
          <a:lstStyle/>
          <a:p>
            <a:pPr indent="0" marL="0">
              <a:buNone/>
            </a:pPr>
            <a:r>
              <a:rPr lang="en-US" sz="1700" b="1" dirty="0">
                <a:solidFill>
                  <a:srgbClr val="17212B"/>
                </a:solidFill>
              </a:rPr>
              <a:t>The system does not “make people cold.” It creates indoor air that allows steady, moderate heat rejection from the body.</a:t>
            </a:r>
            <a:endParaRPr lang="en-US" sz="1700" dirty="0"/>
          </a:p>
        </p:txBody>
      </p:sp>
      <p:sp>
        <p:nvSpPr>
          <p:cNvPr id="29" name="Text 27"/>
          <p:cNvSpPr/>
          <p:nvPr/>
        </p:nvSpPr>
        <p:spPr>
          <a:xfrm>
            <a:off x="6720840" y="4005072"/>
            <a:ext cx="3657600" cy="320040"/>
          </a:xfrm>
          <a:prstGeom prst="rect">
            <a:avLst/>
          </a:prstGeom>
          <a:noFill/>
          <a:ln/>
        </p:spPr>
        <p:txBody>
          <a:bodyPr wrap="square" lIns="0" tIns="0" rIns="0" bIns="0" rtlCol="0" anchor="ctr">
            <a:normAutofit/>
          </a:bodyPr>
          <a:lstStyle/>
          <a:p>
            <a:pPr indent="0" marL="0">
              <a:buNone/>
            </a:pPr>
            <a:r>
              <a:rPr lang="en-US" sz="1050" dirty="0">
                <a:solidFill>
                  <a:srgbClr val="59656F"/>
                </a:solidFill>
              </a:rPr>
              <a:t>Reference design: often around 24–26 °C in Thailand, with humidity controlled for comfort.</a:t>
            </a:r>
            <a:endParaRPr lang="en-US" sz="10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6</a:t>
            </a:fld>
            <a:endParaRPr lang="en-US"/>
          </a:p>
        </p:txBody>
      </p:sp>
      <p:pic>
        <p:nvPicPr>
          <p:cNvPr id="30" name="Picture 29" descr="fig_02_temp_comfort_en.png"/>
          <p:cNvPicPr>
            <a:picLocks noChangeAspect="1"/>
          </p:cNvPicPr>
          <p:nvPr/>
        </p:nvPicPr>
        <p:blipFill>
          <a:blip r:embed="rId3"/>
          <a:stretch>
            <a:fillRect/>
          </a:stretch>
        </p:blipFill>
        <p:spPr>
          <a:xfrm>
            <a:off x="1582535" y="1325880"/>
            <a:ext cx="8996449" cy="50749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Process AC may target conditions humans would not choose</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Let the product/process define the control objective.</a:t>
            </a:r>
            <a:endParaRPr lang="en-US" sz="950" dirty="0"/>
          </a:p>
        </p:txBody>
      </p:sp>
      <p:sp>
        <p:nvSpPr>
          <p:cNvPr id="4" name="Shape 2"/>
          <p:cNvSpPr/>
          <p:nvPr/>
        </p:nvSpPr>
        <p:spPr>
          <a:xfrm>
            <a:off x="777240" y="1417320"/>
            <a:ext cx="3246120" cy="3657600"/>
          </a:xfrm>
          <a:prstGeom prst="roundRect">
            <a:avLst>
              <a:gd name="adj" fmla="val 4507"/>
            </a:avLst>
          </a:prstGeom>
          <a:solidFill>
            <a:srgbClr val="FFFFFF"/>
          </a:solidFill>
          <a:ln w="12700">
            <a:solidFill>
              <a:srgbClr val="0B7A75"/>
            </a:solidFill>
            <a:prstDash val="solid"/>
          </a:ln>
        </p:spPr>
      </p:sp>
      <p:sp>
        <p:nvSpPr>
          <p:cNvPr id="5" name="Shape 3"/>
          <p:cNvSpPr/>
          <p:nvPr/>
        </p:nvSpPr>
        <p:spPr>
          <a:xfrm>
            <a:off x="795528" y="1435608"/>
            <a:ext cx="3209544" cy="1005840"/>
          </a:xfrm>
          <a:prstGeom prst="rect">
            <a:avLst/>
          </a:prstGeom>
          <a:solidFill>
            <a:srgbClr val="0B7A75"/>
          </a:solidFill>
          <a:ln w="12700">
            <a:solidFill>
              <a:srgbClr val="0B7A75"/>
            </a:solidFill>
            <a:prstDash val="solid"/>
          </a:ln>
        </p:spPr>
      </p:sp>
      <p:sp>
        <p:nvSpPr>
          <p:cNvPr id="6" name="Text 4"/>
          <p:cNvSpPr/>
          <p:nvPr/>
        </p:nvSpPr>
        <p:spPr>
          <a:xfrm>
            <a:off x="978408" y="1755648"/>
            <a:ext cx="2834640" cy="228600"/>
          </a:xfrm>
          <a:prstGeom prst="rect">
            <a:avLst/>
          </a:prstGeom>
          <a:noFill/>
          <a:ln/>
        </p:spPr>
        <p:txBody>
          <a:bodyPr wrap="square" lIns="0" tIns="0" rIns="0" bIns="0" rtlCol="0" anchor="ctr"/>
          <a:lstStyle/>
          <a:p>
            <a:pPr algn="ctr" indent="0" marL="0">
              <a:buNone/>
            </a:pPr>
            <a:r>
              <a:rPr lang="en-US" sz="1800" b="1" dirty="0">
                <a:solidFill>
                  <a:srgbClr val="FFFFFF"/>
                </a:solidFill>
              </a:rPr>
              <a:t>Textile mill</a:t>
            </a:r>
            <a:endParaRPr lang="en-US" sz="1800" dirty="0"/>
          </a:p>
        </p:txBody>
      </p:sp>
      <p:sp>
        <p:nvSpPr>
          <p:cNvPr id="7" name="Text 5"/>
          <p:cNvSpPr/>
          <p:nvPr/>
        </p:nvSpPr>
        <p:spPr>
          <a:xfrm>
            <a:off x="1097280" y="2743200"/>
            <a:ext cx="2606040" cy="411480"/>
          </a:xfrm>
          <a:prstGeom prst="rect">
            <a:avLst/>
          </a:prstGeom>
          <a:noFill/>
          <a:ln/>
        </p:spPr>
        <p:txBody>
          <a:bodyPr wrap="square" lIns="0" tIns="0" rIns="0" bIns="0" rtlCol="0" anchor="ctr"/>
          <a:lstStyle/>
          <a:p>
            <a:pPr algn="ctr" indent="0" marL="0">
              <a:buNone/>
            </a:pPr>
            <a:r>
              <a:rPr lang="en-US" sz="2300" b="1" dirty="0">
                <a:solidFill>
                  <a:srgbClr val="0B7A75"/>
                </a:solidFill>
              </a:rPr>
              <a:t>High RH</a:t>
            </a:r>
            <a:endParaRPr lang="en-US" sz="2300" dirty="0"/>
          </a:p>
        </p:txBody>
      </p:sp>
      <p:sp>
        <p:nvSpPr>
          <p:cNvPr id="8" name="Text 6"/>
          <p:cNvSpPr/>
          <p:nvPr/>
        </p:nvSpPr>
        <p:spPr>
          <a:xfrm>
            <a:off x="1161288" y="3657600"/>
            <a:ext cx="2468880" cy="502920"/>
          </a:xfrm>
          <a:prstGeom prst="rect">
            <a:avLst/>
          </a:prstGeom>
          <a:noFill/>
          <a:ln/>
        </p:spPr>
        <p:txBody>
          <a:bodyPr wrap="square" lIns="0" tIns="0" rIns="0" bIns="0" rtlCol="0" anchor="ctr">
            <a:normAutofit/>
          </a:bodyPr>
          <a:lstStyle/>
          <a:p>
            <a:pPr algn="ctr" indent="0" marL="0">
              <a:buNone/>
            </a:pPr>
            <a:r>
              <a:rPr lang="en-US" sz="1350" dirty="0">
                <a:solidFill>
                  <a:srgbClr val="17212B"/>
                </a:solidFill>
              </a:rPr>
              <a:t>Keep fibers flexible</a:t>
            </a:r>
            <a:endParaRPr lang="en-US" sz="1350" dirty="0"/>
          </a:p>
          <a:p>
            <a:pPr algn="ctr" indent="0" marL="0">
              <a:buNone/>
            </a:pPr>
            <a:r>
              <a:rPr lang="en-US" sz="1350" dirty="0">
                <a:solidFill>
                  <a:srgbClr val="17212B"/>
                </a:solidFill>
              </a:rPr>
              <a:t>reduce static</a:t>
            </a:r>
            <a:endParaRPr lang="en-US" sz="1350" dirty="0"/>
          </a:p>
        </p:txBody>
      </p:sp>
      <p:sp>
        <p:nvSpPr>
          <p:cNvPr id="9" name="Shape 7"/>
          <p:cNvSpPr/>
          <p:nvPr/>
        </p:nvSpPr>
        <p:spPr>
          <a:xfrm>
            <a:off x="4526280" y="1417320"/>
            <a:ext cx="3246120" cy="3657600"/>
          </a:xfrm>
          <a:prstGeom prst="roundRect">
            <a:avLst>
              <a:gd name="adj" fmla="val 4507"/>
            </a:avLst>
          </a:prstGeom>
          <a:solidFill>
            <a:srgbClr val="FFFFFF"/>
          </a:solidFill>
          <a:ln w="12700">
            <a:solidFill>
              <a:srgbClr val="E76F51"/>
            </a:solidFill>
            <a:prstDash val="solid"/>
          </a:ln>
        </p:spPr>
      </p:sp>
      <p:sp>
        <p:nvSpPr>
          <p:cNvPr id="10" name="Shape 8"/>
          <p:cNvSpPr/>
          <p:nvPr/>
        </p:nvSpPr>
        <p:spPr>
          <a:xfrm>
            <a:off x="4544568" y="1435608"/>
            <a:ext cx="3209544" cy="1005840"/>
          </a:xfrm>
          <a:prstGeom prst="rect">
            <a:avLst/>
          </a:prstGeom>
          <a:solidFill>
            <a:srgbClr val="E76F51"/>
          </a:solidFill>
          <a:ln w="12700">
            <a:solidFill>
              <a:srgbClr val="E76F51"/>
            </a:solidFill>
            <a:prstDash val="solid"/>
          </a:ln>
        </p:spPr>
      </p:sp>
      <p:sp>
        <p:nvSpPr>
          <p:cNvPr id="11" name="Text 9"/>
          <p:cNvSpPr/>
          <p:nvPr/>
        </p:nvSpPr>
        <p:spPr>
          <a:xfrm>
            <a:off x="4727448" y="1755648"/>
            <a:ext cx="2834640" cy="228600"/>
          </a:xfrm>
          <a:prstGeom prst="rect">
            <a:avLst/>
          </a:prstGeom>
          <a:noFill/>
          <a:ln/>
        </p:spPr>
        <p:txBody>
          <a:bodyPr wrap="square" lIns="0" tIns="0" rIns="0" bIns="0" rtlCol="0" anchor="ctr"/>
          <a:lstStyle/>
          <a:p>
            <a:pPr algn="ctr" indent="0" marL="0">
              <a:buNone/>
            </a:pPr>
            <a:r>
              <a:rPr lang="en-US" sz="1800" b="1" dirty="0">
                <a:solidFill>
                  <a:srgbClr val="FFFFFF"/>
                </a:solidFill>
              </a:rPr>
              <a:t>Paper storage</a:t>
            </a:r>
            <a:endParaRPr lang="en-US" sz="1800" dirty="0"/>
          </a:p>
        </p:txBody>
      </p:sp>
      <p:sp>
        <p:nvSpPr>
          <p:cNvPr id="12" name="Text 10"/>
          <p:cNvSpPr/>
          <p:nvPr/>
        </p:nvSpPr>
        <p:spPr>
          <a:xfrm>
            <a:off x="4846320" y="2743200"/>
            <a:ext cx="2606040" cy="411480"/>
          </a:xfrm>
          <a:prstGeom prst="rect">
            <a:avLst/>
          </a:prstGeom>
          <a:noFill/>
          <a:ln/>
        </p:spPr>
        <p:txBody>
          <a:bodyPr wrap="square" lIns="0" tIns="0" rIns="0" bIns="0" rtlCol="0" anchor="ctr"/>
          <a:lstStyle/>
          <a:p>
            <a:pPr algn="ctr" indent="0" marL="0">
              <a:buNone/>
            </a:pPr>
            <a:r>
              <a:rPr lang="en-US" sz="2300" b="1" dirty="0">
                <a:solidFill>
                  <a:srgbClr val="E76F51"/>
                </a:solidFill>
              </a:rPr>
              <a:t>Low RH</a:t>
            </a:r>
            <a:endParaRPr lang="en-US" sz="2300" dirty="0"/>
          </a:p>
        </p:txBody>
      </p:sp>
      <p:sp>
        <p:nvSpPr>
          <p:cNvPr id="13" name="Text 11"/>
          <p:cNvSpPr/>
          <p:nvPr/>
        </p:nvSpPr>
        <p:spPr>
          <a:xfrm>
            <a:off x="4910328" y="3657600"/>
            <a:ext cx="2468880" cy="502920"/>
          </a:xfrm>
          <a:prstGeom prst="rect">
            <a:avLst/>
          </a:prstGeom>
          <a:noFill/>
          <a:ln/>
        </p:spPr>
        <p:txBody>
          <a:bodyPr wrap="square" lIns="0" tIns="0" rIns="0" bIns="0" rtlCol="0" anchor="ctr">
            <a:normAutofit/>
          </a:bodyPr>
          <a:lstStyle/>
          <a:p>
            <a:pPr algn="ctr" indent="0" marL="0">
              <a:buNone/>
            </a:pPr>
            <a:r>
              <a:rPr lang="en-US" sz="1350" dirty="0">
                <a:solidFill>
                  <a:srgbClr val="17212B"/>
                </a:solidFill>
              </a:rPr>
              <a:t>Prevent warping</a:t>
            </a:r>
            <a:endParaRPr lang="en-US" sz="1350" dirty="0"/>
          </a:p>
          <a:p>
            <a:pPr algn="ctr" indent="0" marL="0">
              <a:buNone/>
            </a:pPr>
            <a:r>
              <a:rPr lang="en-US" sz="1350" dirty="0">
                <a:solidFill>
                  <a:srgbClr val="17212B"/>
                </a:solidFill>
              </a:rPr>
              <a:t>and dimensional change</a:t>
            </a:r>
            <a:endParaRPr lang="en-US" sz="1350" dirty="0"/>
          </a:p>
        </p:txBody>
      </p:sp>
      <p:sp>
        <p:nvSpPr>
          <p:cNvPr id="14" name="Shape 12"/>
          <p:cNvSpPr/>
          <p:nvPr/>
        </p:nvSpPr>
        <p:spPr>
          <a:xfrm>
            <a:off x="8275320" y="1417320"/>
            <a:ext cx="3246120" cy="3657600"/>
          </a:xfrm>
          <a:prstGeom prst="roundRect">
            <a:avLst>
              <a:gd name="adj" fmla="val 4507"/>
            </a:avLst>
          </a:prstGeom>
          <a:solidFill>
            <a:srgbClr val="FFFFFF"/>
          </a:solidFill>
          <a:ln w="12700">
            <a:solidFill>
              <a:srgbClr val="4A90A4"/>
            </a:solidFill>
            <a:prstDash val="solid"/>
          </a:ln>
        </p:spPr>
      </p:sp>
      <p:sp>
        <p:nvSpPr>
          <p:cNvPr id="15" name="Shape 13"/>
          <p:cNvSpPr/>
          <p:nvPr/>
        </p:nvSpPr>
        <p:spPr>
          <a:xfrm>
            <a:off x="8293608" y="1435608"/>
            <a:ext cx="3209544" cy="1005840"/>
          </a:xfrm>
          <a:prstGeom prst="rect">
            <a:avLst/>
          </a:prstGeom>
          <a:solidFill>
            <a:srgbClr val="4A90A4"/>
          </a:solidFill>
          <a:ln w="12700">
            <a:solidFill>
              <a:srgbClr val="4A90A4"/>
            </a:solidFill>
            <a:prstDash val="solid"/>
          </a:ln>
        </p:spPr>
      </p:sp>
      <p:sp>
        <p:nvSpPr>
          <p:cNvPr id="16" name="Text 14"/>
          <p:cNvSpPr/>
          <p:nvPr/>
        </p:nvSpPr>
        <p:spPr>
          <a:xfrm>
            <a:off x="8476488" y="1755648"/>
            <a:ext cx="2834640" cy="228600"/>
          </a:xfrm>
          <a:prstGeom prst="rect">
            <a:avLst/>
          </a:prstGeom>
          <a:noFill/>
          <a:ln/>
        </p:spPr>
        <p:txBody>
          <a:bodyPr wrap="square" lIns="0" tIns="0" rIns="0" bIns="0" rtlCol="0" anchor="ctr"/>
          <a:lstStyle/>
          <a:p>
            <a:pPr algn="ctr" indent="0" marL="0">
              <a:buNone/>
            </a:pPr>
            <a:r>
              <a:rPr lang="en-US" sz="1800" b="1" dirty="0">
                <a:solidFill>
                  <a:srgbClr val="FFFFFF"/>
                </a:solidFill>
              </a:rPr>
              <a:t>Seed storage</a:t>
            </a:r>
            <a:endParaRPr lang="en-US" sz="1800" dirty="0"/>
          </a:p>
        </p:txBody>
      </p:sp>
      <p:sp>
        <p:nvSpPr>
          <p:cNvPr id="17" name="Text 15"/>
          <p:cNvSpPr/>
          <p:nvPr/>
        </p:nvSpPr>
        <p:spPr>
          <a:xfrm>
            <a:off x="8595360" y="2743200"/>
            <a:ext cx="2606040" cy="411480"/>
          </a:xfrm>
          <a:prstGeom prst="rect">
            <a:avLst/>
          </a:prstGeom>
          <a:noFill/>
          <a:ln/>
        </p:spPr>
        <p:txBody>
          <a:bodyPr wrap="square" lIns="0" tIns="0" rIns="0" bIns="0" rtlCol="0" anchor="ctr"/>
          <a:lstStyle/>
          <a:p>
            <a:pPr algn="ctr" indent="0" marL="0">
              <a:buNone/>
            </a:pPr>
            <a:r>
              <a:rPr lang="en-US" sz="2300" b="1" dirty="0">
                <a:solidFill>
                  <a:srgbClr val="4A90A4"/>
                </a:solidFill>
              </a:rPr>
              <a:t>Low T + low RH</a:t>
            </a:r>
            <a:endParaRPr lang="en-US" sz="2300" dirty="0"/>
          </a:p>
        </p:txBody>
      </p:sp>
      <p:sp>
        <p:nvSpPr>
          <p:cNvPr id="18" name="Text 16"/>
          <p:cNvSpPr/>
          <p:nvPr/>
        </p:nvSpPr>
        <p:spPr>
          <a:xfrm>
            <a:off x="8659368" y="3657600"/>
            <a:ext cx="2468880" cy="502920"/>
          </a:xfrm>
          <a:prstGeom prst="rect">
            <a:avLst/>
          </a:prstGeom>
          <a:noFill/>
          <a:ln/>
        </p:spPr>
        <p:txBody>
          <a:bodyPr wrap="square" lIns="0" tIns="0" rIns="0" bIns="0" rtlCol="0" anchor="ctr">
            <a:normAutofit/>
          </a:bodyPr>
          <a:lstStyle/>
          <a:p>
            <a:pPr algn="ctr" indent="0" marL="0">
              <a:buNone/>
            </a:pPr>
            <a:r>
              <a:rPr lang="en-US" sz="1350" dirty="0">
                <a:solidFill>
                  <a:srgbClr val="17212B"/>
                </a:solidFill>
              </a:rPr>
              <a:t>Prevent germination</a:t>
            </a:r>
            <a:endParaRPr lang="en-US" sz="1350" dirty="0"/>
          </a:p>
          <a:p>
            <a:pPr algn="ctr" indent="0" marL="0">
              <a:buNone/>
            </a:pPr>
            <a:r>
              <a:rPr lang="en-US" sz="1350" dirty="0">
                <a:solidFill>
                  <a:srgbClr val="17212B"/>
                </a:solidFill>
              </a:rPr>
              <a:t>and mold</a:t>
            </a:r>
            <a:endParaRPr lang="en-US" sz="13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7</a:t>
            </a:fld>
            <a:endParaRPr lang="en-US"/>
          </a:p>
        </p:txBody>
      </p:sp>
      <p:pic>
        <p:nvPicPr>
          <p:cNvPr id="26" name="Picture 25" descr="fig_03_humidity_en.png"/>
          <p:cNvPicPr>
            <a:picLocks noChangeAspect="1"/>
          </p:cNvPicPr>
          <p:nvPr/>
        </p:nvPicPr>
        <p:blipFill>
          <a:blip r:embed="rId3"/>
          <a:stretch>
            <a:fillRect/>
          </a:stretch>
        </p:blipFill>
        <p:spPr>
          <a:xfrm>
            <a:off x="1582535" y="1325880"/>
            <a:ext cx="8996449" cy="5074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Equipment sizing is a peak-load problem</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Capacity must match the maximum heat gain rate during operation.</a:t>
            </a:r>
            <a:endParaRPr lang="en-US" sz="950" dirty="0"/>
          </a:p>
        </p:txBody>
      </p:sp>
      <p:sp>
        <p:nvSpPr>
          <p:cNvPr id="4" name="Shape 2"/>
          <p:cNvSpPr/>
          <p:nvPr/>
        </p:nvSpPr>
        <p:spPr>
          <a:xfrm>
            <a:off x="731520" y="1234440"/>
            <a:ext cx="6400800" cy="3703320"/>
          </a:xfrm>
          <a:prstGeom prst="rect">
            <a:avLst/>
          </a:prstGeom>
          <a:solidFill>
            <a:srgbClr val="FFFFFF"/>
          </a:solidFill>
          <a:ln w="12700">
            <a:solidFill>
              <a:srgbClr val="D8D0C6"/>
            </a:solidFill>
            <a:prstDash val="solid"/>
          </a:ln>
        </p:spPr>
      </p:sp>
      <p:sp>
        <p:nvSpPr>
          <p:cNvPr id="5" name="Shape 3"/>
          <p:cNvSpPr/>
          <p:nvPr/>
        </p:nvSpPr>
        <p:spPr>
          <a:xfrm>
            <a:off x="1143000" y="4498848"/>
            <a:ext cx="5394960" cy="0"/>
          </a:xfrm>
          <a:prstGeom prst="line">
            <a:avLst/>
          </a:prstGeom>
          <a:noFill/>
          <a:ln w="12700">
            <a:solidFill>
              <a:srgbClr val="59656F"/>
            </a:solidFill>
            <a:prstDash val="solid"/>
            <a:tailEnd type="triangle"/>
          </a:ln>
        </p:spPr>
      </p:sp>
      <p:sp>
        <p:nvSpPr>
          <p:cNvPr id="6" name="Shape 4"/>
          <p:cNvSpPr/>
          <p:nvPr/>
        </p:nvSpPr>
        <p:spPr>
          <a:xfrm>
            <a:off x="1143000" y="4498848"/>
            <a:ext cx="0" cy="-2743200"/>
          </a:xfrm>
          <a:prstGeom prst="line">
            <a:avLst/>
          </a:prstGeom>
          <a:noFill/>
          <a:ln w="12700">
            <a:solidFill>
              <a:srgbClr val="59656F"/>
            </a:solidFill>
            <a:prstDash val="solid"/>
            <a:tailEnd type="triangle"/>
          </a:ln>
        </p:spPr>
      </p:sp>
      <p:sp>
        <p:nvSpPr>
          <p:cNvPr id="7" name="Text 5"/>
          <p:cNvSpPr/>
          <p:nvPr/>
        </p:nvSpPr>
        <p:spPr>
          <a:xfrm>
            <a:off x="6263640" y="4590288"/>
            <a:ext cx="457200" cy="109728"/>
          </a:xfrm>
          <a:prstGeom prst="rect">
            <a:avLst/>
          </a:prstGeom>
          <a:noFill/>
          <a:ln/>
        </p:spPr>
        <p:txBody>
          <a:bodyPr wrap="square" lIns="0" tIns="0" rIns="0" bIns="0" rtlCol="0" anchor="ctr"/>
          <a:lstStyle/>
          <a:p>
            <a:pPr indent="0" marL="0">
              <a:buNone/>
            </a:pPr>
            <a:r>
              <a:rPr lang="en-US" sz="800" dirty="0">
                <a:solidFill>
                  <a:srgbClr val="59656F"/>
                </a:solidFill>
              </a:rPr>
              <a:t>time</a:t>
            </a:r>
            <a:endParaRPr lang="en-US" sz="800" dirty="0"/>
          </a:p>
        </p:txBody>
      </p:sp>
      <p:sp>
        <p:nvSpPr>
          <p:cNvPr id="8" name="Text 6"/>
          <p:cNvSpPr/>
          <p:nvPr/>
        </p:nvSpPr>
        <p:spPr>
          <a:xfrm rot="16200000">
            <a:off x="868680" y="1463040"/>
            <a:ext cx="411480" cy="109728"/>
          </a:xfrm>
          <a:prstGeom prst="rect">
            <a:avLst/>
          </a:prstGeom>
          <a:noFill/>
          <a:ln/>
        </p:spPr>
        <p:txBody>
          <a:bodyPr wrap="square" lIns="0" tIns="0" rIns="0" bIns="0" rtlCol="0" anchor="ctr"/>
          <a:lstStyle/>
          <a:p>
            <a:pPr indent="0" marL="0">
              <a:buNone/>
            </a:pPr>
            <a:r>
              <a:rPr lang="en-US" sz="800" dirty="0">
                <a:solidFill>
                  <a:srgbClr val="59656F"/>
                </a:solidFill>
              </a:rPr>
              <a:t>load</a:t>
            </a:r>
            <a:endParaRPr lang="en-US" sz="800" dirty="0"/>
          </a:p>
        </p:txBody>
      </p:sp>
      <p:sp>
        <p:nvSpPr>
          <p:cNvPr id="9" name="Shape 7"/>
          <p:cNvSpPr/>
          <p:nvPr/>
        </p:nvSpPr>
        <p:spPr>
          <a:xfrm>
            <a:off x="1234440" y="4160520"/>
            <a:ext cx="777240" cy="-274320"/>
          </a:xfrm>
          <a:prstGeom prst="line">
            <a:avLst/>
          </a:prstGeom>
          <a:noFill/>
          <a:ln w="12700">
            <a:solidFill>
              <a:srgbClr val="E76F51"/>
            </a:solidFill>
            <a:prstDash val="solid"/>
          </a:ln>
        </p:spPr>
      </p:sp>
      <p:sp>
        <p:nvSpPr>
          <p:cNvPr id="10" name="Shape 8"/>
          <p:cNvSpPr/>
          <p:nvPr/>
        </p:nvSpPr>
        <p:spPr>
          <a:xfrm>
            <a:off x="2011680" y="3886200"/>
            <a:ext cx="777240" cy="-640080"/>
          </a:xfrm>
          <a:prstGeom prst="line">
            <a:avLst/>
          </a:prstGeom>
          <a:noFill/>
          <a:ln w="12700">
            <a:solidFill>
              <a:srgbClr val="E76F51"/>
            </a:solidFill>
            <a:prstDash val="solid"/>
          </a:ln>
        </p:spPr>
      </p:sp>
      <p:sp>
        <p:nvSpPr>
          <p:cNvPr id="11" name="Shape 9"/>
          <p:cNvSpPr/>
          <p:nvPr/>
        </p:nvSpPr>
        <p:spPr>
          <a:xfrm>
            <a:off x="2788920" y="3246120"/>
            <a:ext cx="777240" cy="-914400"/>
          </a:xfrm>
          <a:prstGeom prst="line">
            <a:avLst/>
          </a:prstGeom>
          <a:noFill/>
          <a:ln w="12700">
            <a:solidFill>
              <a:srgbClr val="E76F51"/>
            </a:solidFill>
            <a:prstDash val="solid"/>
          </a:ln>
        </p:spPr>
      </p:sp>
      <p:sp>
        <p:nvSpPr>
          <p:cNvPr id="12" name="Shape 10"/>
          <p:cNvSpPr/>
          <p:nvPr/>
        </p:nvSpPr>
        <p:spPr>
          <a:xfrm>
            <a:off x="3566160" y="2331720"/>
            <a:ext cx="685800" cy="-457200"/>
          </a:xfrm>
          <a:prstGeom prst="line">
            <a:avLst/>
          </a:prstGeom>
          <a:noFill/>
          <a:ln w="12700">
            <a:solidFill>
              <a:srgbClr val="E76F51"/>
            </a:solidFill>
            <a:prstDash val="solid"/>
          </a:ln>
        </p:spPr>
      </p:sp>
      <p:sp>
        <p:nvSpPr>
          <p:cNvPr id="13" name="Shape 11"/>
          <p:cNvSpPr/>
          <p:nvPr/>
        </p:nvSpPr>
        <p:spPr>
          <a:xfrm>
            <a:off x="4251960" y="1874520"/>
            <a:ext cx="640080" cy="155448"/>
          </a:xfrm>
          <a:prstGeom prst="line">
            <a:avLst/>
          </a:prstGeom>
          <a:noFill/>
          <a:ln w="12700">
            <a:solidFill>
              <a:srgbClr val="E76F51"/>
            </a:solidFill>
            <a:prstDash val="solid"/>
          </a:ln>
        </p:spPr>
      </p:sp>
      <p:sp>
        <p:nvSpPr>
          <p:cNvPr id="14" name="Shape 12"/>
          <p:cNvSpPr/>
          <p:nvPr/>
        </p:nvSpPr>
        <p:spPr>
          <a:xfrm>
            <a:off x="4892040" y="2029968"/>
            <a:ext cx="731520" cy="713232"/>
          </a:xfrm>
          <a:prstGeom prst="line">
            <a:avLst/>
          </a:prstGeom>
          <a:noFill/>
          <a:ln w="12700">
            <a:solidFill>
              <a:srgbClr val="E76F51"/>
            </a:solidFill>
            <a:prstDash val="solid"/>
          </a:ln>
        </p:spPr>
      </p:sp>
      <p:sp>
        <p:nvSpPr>
          <p:cNvPr id="15" name="Shape 13"/>
          <p:cNvSpPr/>
          <p:nvPr/>
        </p:nvSpPr>
        <p:spPr>
          <a:xfrm>
            <a:off x="5623560" y="2743200"/>
            <a:ext cx="685800" cy="822960"/>
          </a:xfrm>
          <a:prstGeom prst="line">
            <a:avLst/>
          </a:prstGeom>
          <a:noFill/>
          <a:ln w="12700">
            <a:solidFill>
              <a:srgbClr val="E76F51"/>
            </a:solidFill>
            <a:prstDash val="solid"/>
          </a:ln>
        </p:spPr>
      </p:sp>
      <p:sp>
        <p:nvSpPr>
          <p:cNvPr id="16" name="Shape 14"/>
          <p:cNvSpPr/>
          <p:nvPr/>
        </p:nvSpPr>
        <p:spPr>
          <a:xfrm>
            <a:off x="4133088" y="1755648"/>
            <a:ext cx="256032" cy="256032"/>
          </a:xfrm>
          <a:prstGeom prst="ellipse">
            <a:avLst/>
          </a:prstGeom>
          <a:solidFill>
            <a:srgbClr val="C44536"/>
          </a:solidFill>
          <a:ln w="12700">
            <a:solidFill>
              <a:srgbClr val="C44536"/>
            </a:solidFill>
            <a:prstDash val="solid"/>
          </a:ln>
        </p:spPr>
      </p:sp>
      <p:sp>
        <p:nvSpPr>
          <p:cNvPr id="17" name="Shape 15"/>
          <p:cNvSpPr/>
          <p:nvPr/>
        </p:nvSpPr>
        <p:spPr>
          <a:xfrm>
            <a:off x="4434840" y="1490472"/>
            <a:ext cx="292608" cy="292608"/>
          </a:xfrm>
          <a:prstGeom prst="ellipse">
            <a:avLst/>
          </a:prstGeom>
          <a:solidFill>
            <a:srgbClr val="C44536"/>
          </a:solidFill>
          <a:ln w="12700">
            <a:solidFill>
              <a:srgbClr val="C44536">
                <a:alpha val="0"/>
              </a:srgbClr>
            </a:solidFill>
            <a:prstDash val="solid"/>
          </a:ln>
        </p:spPr>
      </p:sp>
      <p:sp>
        <p:nvSpPr>
          <p:cNvPr id="18" name="Text 16"/>
          <p:cNvSpPr/>
          <p:nvPr/>
        </p:nvSpPr>
        <p:spPr>
          <a:xfrm>
            <a:off x="4517136" y="1554480"/>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19" name="Shape 17"/>
          <p:cNvSpPr/>
          <p:nvPr/>
        </p:nvSpPr>
        <p:spPr>
          <a:xfrm>
            <a:off x="4782312" y="1476756"/>
            <a:ext cx="1170432" cy="329184"/>
          </a:xfrm>
          <a:prstGeom prst="roundRect">
            <a:avLst>
              <a:gd name="adj" fmla="val 13889"/>
            </a:avLst>
          </a:prstGeom>
          <a:solidFill>
            <a:srgbClr val="FFFFFF">
              <a:alpha val="94000"/>
            </a:srgbClr>
          </a:solidFill>
          <a:ln w="12700">
            <a:solidFill>
              <a:srgbClr val="C44536"/>
            </a:solidFill>
            <a:prstDash val="solid"/>
          </a:ln>
        </p:spPr>
      </p:sp>
      <p:sp>
        <p:nvSpPr>
          <p:cNvPr id="20" name="Text 18"/>
          <p:cNvSpPr/>
          <p:nvPr/>
        </p:nvSpPr>
        <p:spPr>
          <a:xfrm>
            <a:off x="4892040" y="1559052"/>
            <a:ext cx="987552"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peak load</a:t>
            </a:r>
            <a:endParaRPr lang="en-US" sz="850" dirty="0"/>
          </a:p>
        </p:txBody>
      </p:sp>
      <p:sp>
        <p:nvSpPr>
          <p:cNvPr id="21" name="Text 19"/>
          <p:cNvSpPr/>
          <p:nvPr/>
        </p:nvSpPr>
        <p:spPr>
          <a:xfrm>
            <a:off x="7818120" y="1417320"/>
            <a:ext cx="1508760" cy="219456"/>
          </a:xfrm>
          <a:prstGeom prst="rect">
            <a:avLst/>
          </a:prstGeom>
          <a:noFill/>
          <a:ln/>
        </p:spPr>
        <p:txBody>
          <a:bodyPr wrap="square" lIns="0" tIns="0" rIns="0" bIns="0" rtlCol="0" anchor="ctr"/>
          <a:lstStyle/>
          <a:p>
            <a:pPr indent="0" marL="0">
              <a:buNone/>
            </a:pPr>
            <a:r>
              <a:rPr lang="en-US" sz="1600" b="1" dirty="0">
                <a:solidFill>
                  <a:srgbClr val="C44536"/>
                </a:solidFill>
              </a:rPr>
              <a:t>Too small</a:t>
            </a:r>
            <a:endParaRPr lang="en-US" sz="1600" dirty="0"/>
          </a:p>
        </p:txBody>
      </p:sp>
      <p:sp>
        <p:nvSpPr>
          <p:cNvPr id="22" name="Text 20"/>
          <p:cNvSpPr/>
          <p:nvPr/>
        </p:nvSpPr>
        <p:spPr>
          <a:xfrm>
            <a:off x="7818120" y="1810512"/>
            <a:ext cx="2880360" cy="292608"/>
          </a:xfrm>
          <a:prstGeom prst="rect">
            <a:avLst/>
          </a:prstGeom>
          <a:noFill/>
          <a:ln/>
        </p:spPr>
        <p:txBody>
          <a:bodyPr wrap="square" lIns="0" tIns="0" rIns="0" bIns="0" rtlCol="0" anchor="ctr">
            <a:normAutofit/>
          </a:bodyPr>
          <a:lstStyle/>
          <a:p>
            <a:pPr indent="0" marL="0">
              <a:buNone/>
            </a:pPr>
            <a:r>
              <a:rPr lang="en-US" sz="1200" dirty="0">
                <a:solidFill>
                  <a:srgbClr val="17212B"/>
                </a:solidFill>
              </a:rPr>
              <a:t>Cannot hold design conditions on worst hours.</a:t>
            </a:r>
            <a:endParaRPr lang="en-US" sz="1200" dirty="0"/>
          </a:p>
        </p:txBody>
      </p:sp>
      <p:sp>
        <p:nvSpPr>
          <p:cNvPr id="23" name="Text 21"/>
          <p:cNvSpPr/>
          <p:nvPr/>
        </p:nvSpPr>
        <p:spPr>
          <a:xfrm>
            <a:off x="7818120" y="2788920"/>
            <a:ext cx="1508760" cy="219456"/>
          </a:xfrm>
          <a:prstGeom prst="rect">
            <a:avLst/>
          </a:prstGeom>
          <a:noFill/>
          <a:ln/>
        </p:spPr>
        <p:txBody>
          <a:bodyPr wrap="square" lIns="0" tIns="0" rIns="0" bIns="0" rtlCol="0" anchor="ctr"/>
          <a:lstStyle/>
          <a:p>
            <a:pPr indent="0" marL="0">
              <a:buNone/>
            </a:pPr>
            <a:r>
              <a:rPr lang="en-US" sz="1600" b="1" dirty="0">
                <a:solidFill>
                  <a:srgbClr val="E76F51"/>
                </a:solidFill>
              </a:rPr>
              <a:t>Too large</a:t>
            </a:r>
            <a:endParaRPr lang="en-US" sz="1600" dirty="0"/>
          </a:p>
        </p:txBody>
      </p:sp>
      <p:sp>
        <p:nvSpPr>
          <p:cNvPr id="24" name="Text 22"/>
          <p:cNvSpPr/>
          <p:nvPr/>
        </p:nvSpPr>
        <p:spPr>
          <a:xfrm>
            <a:off x="7818120" y="3182112"/>
            <a:ext cx="2880360" cy="292608"/>
          </a:xfrm>
          <a:prstGeom prst="rect">
            <a:avLst/>
          </a:prstGeom>
          <a:noFill/>
          <a:ln/>
        </p:spPr>
        <p:txBody>
          <a:bodyPr wrap="square" lIns="0" tIns="0" rIns="0" bIns="0" rtlCol="0" anchor="ctr">
            <a:normAutofit/>
          </a:bodyPr>
          <a:lstStyle/>
          <a:p>
            <a:pPr indent="0" marL="0">
              <a:buNone/>
            </a:pPr>
            <a:r>
              <a:rPr lang="en-US" sz="1200" dirty="0">
                <a:solidFill>
                  <a:srgbClr val="17212B"/>
                </a:solidFill>
              </a:rPr>
              <a:t>Short-cycling, poor dehumidification, higher cost.</a:t>
            </a:r>
            <a:endParaRPr lang="en-US" sz="12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Office peak load often occurs after solar noon</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Stored heat and internal gains shift the maximum into mid-afternoon.</a:t>
            </a:r>
            <a:endParaRPr lang="en-US" sz="950" dirty="0"/>
          </a:p>
        </p:txBody>
      </p:sp>
      <p:sp>
        <p:nvSpPr>
          <p:cNvPr id="4" name="Shape 2"/>
          <p:cNvSpPr/>
          <p:nvPr/>
        </p:nvSpPr>
        <p:spPr>
          <a:xfrm>
            <a:off x="685800" y="1234440"/>
            <a:ext cx="10744200" cy="2926080"/>
          </a:xfrm>
          <a:prstGeom prst="rect">
            <a:avLst/>
          </a:prstGeom>
          <a:solidFill>
            <a:srgbClr val="FFFFFF"/>
          </a:solidFill>
          <a:ln w="12700">
            <a:solidFill>
              <a:srgbClr val="D8D0C6"/>
            </a:solidFill>
            <a:prstDash val="solid"/>
          </a:ln>
        </p:spPr>
      </p:sp>
      <p:sp>
        <p:nvSpPr>
          <p:cNvPr id="5" name="Shape 3"/>
          <p:cNvSpPr/>
          <p:nvPr/>
        </p:nvSpPr>
        <p:spPr>
          <a:xfrm>
            <a:off x="1051560" y="3017520"/>
            <a:ext cx="9875520" cy="0"/>
          </a:xfrm>
          <a:prstGeom prst="line">
            <a:avLst/>
          </a:prstGeom>
          <a:noFill/>
          <a:ln w="12700">
            <a:solidFill>
              <a:srgbClr val="59656F"/>
            </a:solidFill>
            <a:prstDash val="solid"/>
            <a:tailEnd type="triangle"/>
          </a:ln>
        </p:spPr>
      </p:sp>
      <p:sp>
        <p:nvSpPr>
          <p:cNvPr id="6" name="Shape 4"/>
          <p:cNvSpPr/>
          <p:nvPr/>
        </p:nvSpPr>
        <p:spPr>
          <a:xfrm>
            <a:off x="1051560" y="2907792"/>
            <a:ext cx="0" cy="219456"/>
          </a:xfrm>
          <a:prstGeom prst="line">
            <a:avLst/>
          </a:prstGeom>
          <a:noFill/>
          <a:ln w="12700">
            <a:solidFill>
              <a:srgbClr val="59656F"/>
            </a:solidFill>
            <a:prstDash val="solid"/>
          </a:ln>
        </p:spPr>
      </p:sp>
      <p:sp>
        <p:nvSpPr>
          <p:cNvPr id="7" name="Text 5"/>
          <p:cNvSpPr/>
          <p:nvPr/>
        </p:nvSpPr>
        <p:spPr>
          <a:xfrm>
            <a:off x="731520" y="3246120"/>
            <a:ext cx="77724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08:00</a:t>
            </a:r>
            <a:endParaRPr lang="en-US" sz="800" dirty="0"/>
          </a:p>
        </p:txBody>
      </p:sp>
      <p:sp>
        <p:nvSpPr>
          <p:cNvPr id="8" name="Shape 6"/>
          <p:cNvSpPr/>
          <p:nvPr/>
        </p:nvSpPr>
        <p:spPr>
          <a:xfrm>
            <a:off x="4211726" y="2907792"/>
            <a:ext cx="0" cy="219456"/>
          </a:xfrm>
          <a:prstGeom prst="line">
            <a:avLst/>
          </a:prstGeom>
          <a:noFill/>
          <a:ln w="12700">
            <a:solidFill>
              <a:srgbClr val="59656F"/>
            </a:solidFill>
            <a:prstDash val="solid"/>
          </a:ln>
        </p:spPr>
      </p:sp>
      <p:sp>
        <p:nvSpPr>
          <p:cNvPr id="9" name="Text 7"/>
          <p:cNvSpPr/>
          <p:nvPr/>
        </p:nvSpPr>
        <p:spPr>
          <a:xfrm>
            <a:off x="3891686" y="3246120"/>
            <a:ext cx="77724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12:00</a:t>
            </a:r>
            <a:endParaRPr lang="en-US" sz="800" dirty="0"/>
          </a:p>
        </p:txBody>
      </p:sp>
      <p:sp>
        <p:nvSpPr>
          <p:cNvPr id="10" name="Shape 8"/>
          <p:cNvSpPr/>
          <p:nvPr/>
        </p:nvSpPr>
        <p:spPr>
          <a:xfrm>
            <a:off x="7174382" y="2907792"/>
            <a:ext cx="0" cy="219456"/>
          </a:xfrm>
          <a:prstGeom prst="line">
            <a:avLst/>
          </a:prstGeom>
          <a:noFill/>
          <a:ln w="12700">
            <a:solidFill>
              <a:srgbClr val="59656F"/>
            </a:solidFill>
            <a:prstDash val="solid"/>
          </a:ln>
        </p:spPr>
      </p:sp>
      <p:sp>
        <p:nvSpPr>
          <p:cNvPr id="11" name="Text 9"/>
          <p:cNvSpPr/>
          <p:nvPr/>
        </p:nvSpPr>
        <p:spPr>
          <a:xfrm>
            <a:off x="6854342" y="3246120"/>
            <a:ext cx="77724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15:00–16:00</a:t>
            </a:r>
            <a:endParaRPr lang="en-US" sz="800" dirty="0"/>
          </a:p>
        </p:txBody>
      </p:sp>
      <p:sp>
        <p:nvSpPr>
          <p:cNvPr id="12" name="Shape 10"/>
          <p:cNvSpPr/>
          <p:nvPr/>
        </p:nvSpPr>
        <p:spPr>
          <a:xfrm>
            <a:off x="10334549" y="2907792"/>
            <a:ext cx="0" cy="219456"/>
          </a:xfrm>
          <a:prstGeom prst="line">
            <a:avLst/>
          </a:prstGeom>
          <a:noFill/>
          <a:ln w="12700">
            <a:solidFill>
              <a:srgbClr val="59656F"/>
            </a:solidFill>
            <a:prstDash val="solid"/>
          </a:ln>
        </p:spPr>
      </p:sp>
      <p:sp>
        <p:nvSpPr>
          <p:cNvPr id="13" name="Text 11"/>
          <p:cNvSpPr/>
          <p:nvPr/>
        </p:nvSpPr>
        <p:spPr>
          <a:xfrm>
            <a:off x="10014509" y="3246120"/>
            <a:ext cx="77724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18:00</a:t>
            </a:r>
            <a:endParaRPr lang="en-US" sz="800" dirty="0"/>
          </a:p>
        </p:txBody>
      </p:sp>
      <p:sp>
        <p:nvSpPr>
          <p:cNvPr id="14" name="Shape 12"/>
          <p:cNvSpPr/>
          <p:nvPr/>
        </p:nvSpPr>
        <p:spPr>
          <a:xfrm>
            <a:off x="1965960" y="2057400"/>
            <a:ext cx="1325880" cy="310896"/>
          </a:xfrm>
          <a:prstGeom prst="roundRect">
            <a:avLst>
              <a:gd name="adj" fmla="val 23529"/>
            </a:avLst>
          </a:prstGeom>
          <a:solidFill>
            <a:srgbClr val="E76F51"/>
          </a:solidFill>
          <a:ln w="12700">
            <a:solidFill>
              <a:srgbClr val="E76F51">
                <a:alpha val="0"/>
              </a:srgbClr>
            </a:solidFill>
            <a:prstDash val="solid"/>
          </a:ln>
        </p:spPr>
      </p:sp>
      <p:sp>
        <p:nvSpPr>
          <p:cNvPr id="15" name="Text 13"/>
          <p:cNvSpPr/>
          <p:nvPr/>
        </p:nvSpPr>
        <p:spPr>
          <a:xfrm>
            <a:off x="2039112" y="2135124"/>
            <a:ext cx="1179576" cy="128016"/>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solar radiation</a:t>
            </a:r>
            <a:endParaRPr lang="en-US" sz="880" dirty="0"/>
          </a:p>
        </p:txBody>
      </p:sp>
      <p:sp>
        <p:nvSpPr>
          <p:cNvPr id="16" name="Shape 14"/>
          <p:cNvSpPr/>
          <p:nvPr/>
        </p:nvSpPr>
        <p:spPr>
          <a:xfrm>
            <a:off x="3794760" y="1691640"/>
            <a:ext cx="1627632" cy="310896"/>
          </a:xfrm>
          <a:prstGeom prst="roundRect">
            <a:avLst>
              <a:gd name="adj" fmla="val 23529"/>
            </a:avLst>
          </a:prstGeom>
          <a:solidFill>
            <a:srgbClr val="F2C14E"/>
          </a:solidFill>
          <a:ln w="12700">
            <a:solidFill>
              <a:srgbClr val="F2C14E">
                <a:alpha val="0"/>
              </a:srgbClr>
            </a:solidFill>
            <a:prstDash val="solid"/>
          </a:ln>
        </p:spPr>
      </p:sp>
      <p:sp>
        <p:nvSpPr>
          <p:cNvPr id="17" name="Text 15"/>
          <p:cNvSpPr/>
          <p:nvPr/>
        </p:nvSpPr>
        <p:spPr>
          <a:xfrm>
            <a:off x="3867912" y="1769364"/>
            <a:ext cx="1481328" cy="128016"/>
          </a:xfrm>
          <a:prstGeom prst="rect">
            <a:avLst/>
          </a:prstGeom>
          <a:noFill/>
          <a:ln/>
        </p:spPr>
        <p:txBody>
          <a:bodyPr wrap="square" lIns="0" tIns="0" rIns="0" bIns="0" rtlCol="0" anchor="ctr">
            <a:normAutofit/>
          </a:bodyPr>
          <a:lstStyle/>
          <a:p>
            <a:pPr algn="ctr" indent="0" marL="0">
              <a:buNone/>
            </a:pPr>
            <a:r>
              <a:rPr lang="en-US" sz="880" b="1" dirty="0">
                <a:solidFill>
                  <a:srgbClr val="153243"/>
                </a:solidFill>
              </a:rPr>
              <a:t>envelope storage</a:t>
            </a:r>
            <a:endParaRPr lang="en-US" sz="880" dirty="0"/>
          </a:p>
        </p:txBody>
      </p:sp>
      <p:sp>
        <p:nvSpPr>
          <p:cNvPr id="18" name="Shape 16"/>
          <p:cNvSpPr/>
          <p:nvPr/>
        </p:nvSpPr>
        <p:spPr>
          <a:xfrm>
            <a:off x="5532120" y="2057400"/>
            <a:ext cx="2240280" cy="310896"/>
          </a:xfrm>
          <a:prstGeom prst="roundRect">
            <a:avLst>
              <a:gd name="adj" fmla="val 23529"/>
            </a:avLst>
          </a:prstGeom>
          <a:solidFill>
            <a:srgbClr val="0B7A75"/>
          </a:solidFill>
          <a:ln w="12700">
            <a:solidFill>
              <a:srgbClr val="0B7A75">
                <a:alpha val="0"/>
              </a:srgbClr>
            </a:solidFill>
            <a:prstDash val="solid"/>
          </a:ln>
        </p:spPr>
      </p:sp>
      <p:sp>
        <p:nvSpPr>
          <p:cNvPr id="19" name="Text 17"/>
          <p:cNvSpPr/>
          <p:nvPr/>
        </p:nvSpPr>
        <p:spPr>
          <a:xfrm>
            <a:off x="5605272" y="2135124"/>
            <a:ext cx="2093976" cy="128016"/>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people + lights + equipment</a:t>
            </a:r>
            <a:endParaRPr lang="en-US" sz="880" dirty="0"/>
          </a:p>
        </p:txBody>
      </p:sp>
      <p:sp>
        <p:nvSpPr>
          <p:cNvPr id="20" name="Shape 18"/>
          <p:cNvSpPr/>
          <p:nvPr/>
        </p:nvSpPr>
        <p:spPr>
          <a:xfrm>
            <a:off x="6903720" y="1234440"/>
            <a:ext cx="822960" cy="960120"/>
          </a:xfrm>
          <a:prstGeom prst="downArrow">
            <a:avLst/>
          </a:prstGeom>
          <a:solidFill>
            <a:srgbClr val="C44536"/>
          </a:solidFill>
          <a:ln w="12700">
            <a:solidFill>
              <a:srgbClr val="C44536"/>
            </a:solidFill>
            <a:prstDash val="solid"/>
          </a:ln>
        </p:spPr>
      </p:sp>
      <p:sp>
        <p:nvSpPr>
          <p:cNvPr id="21" name="Text 19"/>
          <p:cNvSpPr/>
          <p:nvPr/>
        </p:nvSpPr>
        <p:spPr>
          <a:xfrm>
            <a:off x="6446520" y="896112"/>
            <a:ext cx="1737360" cy="164592"/>
          </a:xfrm>
          <a:prstGeom prst="rect">
            <a:avLst/>
          </a:prstGeom>
          <a:noFill/>
          <a:ln/>
        </p:spPr>
        <p:txBody>
          <a:bodyPr wrap="square" lIns="0" tIns="0" rIns="0" bIns="0" rtlCol="0" anchor="ctr"/>
          <a:lstStyle/>
          <a:p>
            <a:pPr algn="ctr" indent="0" marL="0">
              <a:buNone/>
            </a:pPr>
            <a:r>
              <a:rPr lang="en-US" sz="1100" b="1" dirty="0">
                <a:solidFill>
                  <a:srgbClr val="C44536"/>
                </a:solidFill>
              </a:rPr>
              <a:t>peak design hour</a:t>
            </a:r>
            <a:endParaRPr lang="en-US" sz="1100" dirty="0"/>
          </a:p>
        </p:txBody>
      </p:sp>
      <p:sp>
        <p:nvSpPr>
          <p:cNvPr id="22" name="Text 20"/>
          <p:cNvSpPr/>
          <p:nvPr/>
        </p:nvSpPr>
        <p:spPr>
          <a:xfrm>
            <a:off x="2286000" y="4617720"/>
            <a:ext cx="7406640" cy="320040"/>
          </a:xfrm>
          <a:prstGeom prst="rect">
            <a:avLst/>
          </a:prstGeom>
          <a:noFill/>
          <a:ln/>
        </p:spPr>
        <p:txBody>
          <a:bodyPr wrap="square" lIns="0" tIns="0" rIns="0" bIns="0" rtlCol="0" anchor="ctr"/>
          <a:lstStyle/>
          <a:p>
            <a:pPr algn="ctr" indent="0" marL="0">
              <a:buNone/>
            </a:pPr>
            <a:r>
              <a:rPr lang="en-US" sz="2100" b="1" dirty="0">
                <a:solidFill>
                  <a:srgbClr val="153243"/>
                </a:solidFill>
              </a:rPr>
              <a:t>Office story: the building remembers the sun.</a:t>
            </a:r>
            <a:endParaRPr lang="en-US" sz="21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Nightclub peak load is driven by people and lighting</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A building with little solar gain can peak at night.</a:t>
            </a:r>
            <a:endParaRPr lang="en-US" sz="950" dirty="0"/>
          </a:p>
        </p:txBody>
      </p:sp>
      <p:sp>
        <p:nvSpPr>
          <p:cNvPr id="4" name="Shape 2"/>
          <p:cNvSpPr/>
          <p:nvPr/>
        </p:nvSpPr>
        <p:spPr>
          <a:xfrm>
            <a:off x="0" y="1097280"/>
            <a:ext cx="12191695" cy="4343400"/>
          </a:xfrm>
          <a:prstGeom prst="rect">
            <a:avLst/>
          </a:prstGeom>
          <a:solidFill>
            <a:srgbClr val="1C1D2B"/>
          </a:solidFill>
          <a:ln w="12700">
            <a:solidFill>
              <a:srgbClr val="1C1D2B"/>
            </a:solidFill>
            <a:prstDash val="solid"/>
          </a:ln>
        </p:spPr>
      </p:sp>
      <p:sp>
        <p:nvSpPr>
          <p:cNvPr id="5" name="Shape 3"/>
          <p:cNvSpPr/>
          <p:nvPr/>
        </p:nvSpPr>
        <p:spPr>
          <a:xfrm>
            <a:off x="822960" y="2926080"/>
            <a:ext cx="109728" cy="109728"/>
          </a:xfrm>
          <a:prstGeom prst="ellipse">
            <a:avLst/>
          </a:prstGeom>
          <a:solidFill>
            <a:srgbClr val="E76F51"/>
          </a:solidFill>
          <a:ln w="12700">
            <a:solidFill>
              <a:srgbClr val="FFFFFF">
                <a:alpha val="0"/>
              </a:srgbClr>
            </a:solidFill>
            <a:prstDash val="solid"/>
          </a:ln>
        </p:spPr>
      </p:sp>
      <p:sp>
        <p:nvSpPr>
          <p:cNvPr id="6" name="Shape 4"/>
          <p:cNvSpPr/>
          <p:nvPr/>
        </p:nvSpPr>
        <p:spPr>
          <a:xfrm>
            <a:off x="1252728" y="2926080"/>
            <a:ext cx="109728" cy="109728"/>
          </a:xfrm>
          <a:prstGeom prst="ellipse">
            <a:avLst/>
          </a:prstGeom>
          <a:solidFill>
            <a:srgbClr val="6BBF9B"/>
          </a:solidFill>
          <a:ln w="12700">
            <a:solidFill>
              <a:srgbClr val="FFFFFF">
                <a:alpha val="0"/>
              </a:srgbClr>
            </a:solidFill>
            <a:prstDash val="solid"/>
          </a:ln>
        </p:spPr>
      </p:sp>
      <p:sp>
        <p:nvSpPr>
          <p:cNvPr id="7" name="Shape 5"/>
          <p:cNvSpPr/>
          <p:nvPr/>
        </p:nvSpPr>
        <p:spPr>
          <a:xfrm>
            <a:off x="1682496" y="2926080"/>
            <a:ext cx="109728" cy="109728"/>
          </a:xfrm>
          <a:prstGeom prst="ellipse">
            <a:avLst/>
          </a:prstGeom>
          <a:solidFill>
            <a:srgbClr val="FFFFFF"/>
          </a:solidFill>
          <a:ln w="12700">
            <a:solidFill>
              <a:srgbClr val="FFFFFF">
                <a:alpha val="0"/>
              </a:srgbClr>
            </a:solidFill>
            <a:prstDash val="solid"/>
          </a:ln>
        </p:spPr>
      </p:sp>
      <p:sp>
        <p:nvSpPr>
          <p:cNvPr id="8" name="Shape 6"/>
          <p:cNvSpPr/>
          <p:nvPr/>
        </p:nvSpPr>
        <p:spPr>
          <a:xfrm>
            <a:off x="2112264" y="2926080"/>
            <a:ext cx="109728" cy="109728"/>
          </a:xfrm>
          <a:prstGeom prst="ellipse">
            <a:avLst/>
          </a:prstGeom>
          <a:solidFill>
            <a:srgbClr val="E76F51"/>
          </a:solidFill>
          <a:ln w="12700">
            <a:solidFill>
              <a:srgbClr val="FFFFFF">
                <a:alpha val="0"/>
              </a:srgbClr>
            </a:solidFill>
            <a:prstDash val="solid"/>
          </a:ln>
        </p:spPr>
      </p:sp>
      <p:sp>
        <p:nvSpPr>
          <p:cNvPr id="9" name="Shape 7"/>
          <p:cNvSpPr/>
          <p:nvPr/>
        </p:nvSpPr>
        <p:spPr>
          <a:xfrm>
            <a:off x="2542032" y="2926080"/>
            <a:ext cx="109728" cy="109728"/>
          </a:xfrm>
          <a:prstGeom prst="ellipse">
            <a:avLst/>
          </a:prstGeom>
          <a:solidFill>
            <a:srgbClr val="6BBF9B"/>
          </a:solidFill>
          <a:ln w="12700">
            <a:solidFill>
              <a:srgbClr val="FFFFFF">
                <a:alpha val="0"/>
              </a:srgbClr>
            </a:solidFill>
            <a:prstDash val="solid"/>
          </a:ln>
        </p:spPr>
      </p:sp>
      <p:sp>
        <p:nvSpPr>
          <p:cNvPr id="10" name="Shape 8"/>
          <p:cNvSpPr/>
          <p:nvPr/>
        </p:nvSpPr>
        <p:spPr>
          <a:xfrm>
            <a:off x="2971800" y="2926080"/>
            <a:ext cx="109728" cy="109728"/>
          </a:xfrm>
          <a:prstGeom prst="ellipse">
            <a:avLst/>
          </a:prstGeom>
          <a:solidFill>
            <a:srgbClr val="FFFFFF"/>
          </a:solidFill>
          <a:ln w="12700">
            <a:solidFill>
              <a:srgbClr val="FFFFFF">
                <a:alpha val="0"/>
              </a:srgbClr>
            </a:solidFill>
            <a:prstDash val="solid"/>
          </a:ln>
        </p:spPr>
      </p:sp>
      <p:sp>
        <p:nvSpPr>
          <p:cNvPr id="11" name="Shape 9"/>
          <p:cNvSpPr/>
          <p:nvPr/>
        </p:nvSpPr>
        <p:spPr>
          <a:xfrm>
            <a:off x="3401568" y="2926080"/>
            <a:ext cx="109728" cy="109728"/>
          </a:xfrm>
          <a:prstGeom prst="ellipse">
            <a:avLst/>
          </a:prstGeom>
          <a:solidFill>
            <a:srgbClr val="E76F51"/>
          </a:solidFill>
          <a:ln w="12700">
            <a:solidFill>
              <a:srgbClr val="FFFFFF">
                <a:alpha val="0"/>
              </a:srgbClr>
            </a:solidFill>
            <a:prstDash val="solid"/>
          </a:ln>
        </p:spPr>
      </p:sp>
      <p:sp>
        <p:nvSpPr>
          <p:cNvPr id="12" name="Shape 10"/>
          <p:cNvSpPr/>
          <p:nvPr/>
        </p:nvSpPr>
        <p:spPr>
          <a:xfrm>
            <a:off x="3831336" y="2926080"/>
            <a:ext cx="109728" cy="109728"/>
          </a:xfrm>
          <a:prstGeom prst="ellipse">
            <a:avLst/>
          </a:prstGeom>
          <a:solidFill>
            <a:srgbClr val="6BBF9B"/>
          </a:solidFill>
          <a:ln w="12700">
            <a:solidFill>
              <a:srgbClr val="FFFFFF">
                <a:alpha val="0"/>
              </a:srgbClr>
            </a:solidFill>
            <a:prstDash val="solid"/>
          </a:ln>
        </p:spPr>
      </p:sp>
      <p:sp>
        <p:nvSpPr>
          <p:cNvPr id="13" name="Shape 11"/>
          <p:cNvSpPr/>
          <p:nvPr/>
        </p:nvSpPr>
        <p:spPr>
          <a:xfrm>
            <a:off x="4261104" y="2926080"/>
            <a:ext cx="109728" cy="109728"/>
          </a:xfrm>
          <a:prstGeom prst="ellipse">
            <a:avLst/>
          </a:prstGeom>
          <a:solidFill>
            <a:srgbClr val="FFFFFF"/>
          </a:solidFill>
          <a:ln w="12700">
            <a:solidFill>
              <a:srgbClr val="FFFFFF">
                <a:alpha val="0"/>
              </a:srgbClr>
            </a:solidFill>
            <a:prstDash val="solid"/>
          </a:ln>
        </p:spPr>
      </p:sp>
      <p:sp>
        <p:nvSpPr>
          <p:cNvPr id="14" name="Shape 12"/>
          <p:cNvSpPr/>
          <p:nvPr/>
        </p:nvSpPr>
        <p:spPr>
          <a:xfrm>
            <a:off x="4690872" y="2926080"/>
            <a:ext cx="109728" cy="109728"/>
          </a:xfrm>
          <a:prstGeom prst="ellipse">
            <a:avLst/>
          </a:prstGeom>
          <a:solidFill>
            <a:srgbClr val="E76F51"/>
          </a:solidFill>
          <a:ln w="12700">
            <a:solidFill>
              <a:srgbClr val="FFFFFF">
                <a:alpha val="0"/>
              </a:srgbClr>
            </a:solidFill>
            <a:prstDash val="solid"/>
          </a:ln>
        </p:spPr>
      </p:sp>
      <p:sp>
        <p:nvSpPr>
          <p:cNvPr id="15" name="Shape 13"/>
          <p:cNvSpPr/>
          <p:nvPr/>
        </p:nvSpPr>
        <p:spPr>
          <a:xfrm>
            <a:off x="5120640" y="2926080"/>
            <a:ext cx="109728" cy="109728"/>
          </a:xfrm>
          <a:prstGeom prst="ellipse">
            <a:avLst/>
          </a:prstGeom>
          <a:solidFill>
            <a:srgbClr val="6BBF9B"/>
          </a:solidFill>
          <a:ln w="12700">
            <a:solidFill>
              <a:srgbClr val="FFFFFF">
                <a:alpha val="0"/>
              </a:srgbClr>
            </a:solidFill>
            <a:prstDash val="solid"/>
          </a:ln>
        </p:spPr>
      </p:sp>
      <p:sp>
        <p:nvSpPr>
          <p:cNvPr id="16" name="Shape 14"/>
          <p:cNvSpPr/>
          <p:nvPr/>
        </p:nvSpPr>
        <p:spPr>
          <a:xfrm>
            <a:off x="960120" y="3218688"/>
            <a:ext cx="109728" cy="109728"/>
          </a:xfrm>
          <a:prstGeom prst="ellipse">
            <a:avLst/>
          </a:prstGeom>
          <a:solidFill>
            <a:srgbClr val="FFFFFF"/>
          </a:solidFill>
          <a:ln w="12700">
            <a:solidFill>
              <a:srgbClr val="FFFFFF">
                <a:alpha val="0"/>
              </a:srgbClr>
            </a:solidFill>
            <a:prstDash val="solid"/>
          </a:ln>
        </p:spPr>
      </p:sp>
      <p:sp>
        <p:nvSpPr>
          <p:cNvPr id="17" name="Shape 15"/>
          <p:cNvSpPr/>
          <p:nvPr/>
        </p:nvSpPr>
        <p:spPr>
          <a:xfrm>
            <a:off x="1389888" y="3218688"/>
            <a:ext cx="109728" cy="109728"/>
          </a:xfrm>
          <a:prstGeom prst="ellipse">
            <a:avLst/>
          </a:prstGeom>
          <a:solidFill>
            <a:srgbClr val="E76F51"/>
          </a:solidFill>
          <a:ln w="12700">
            <a:solidFill>
              <a:srgbClr val="FFFFFF">
                <a:alpha val="0"/>
              </a:srgbClr>
            </a:solidFill>
            <a:prstDash val="solid"/>
          </a:ln>
        </p:spPr>
      </p:sp>
      <p:sp>
        <p:nvSpPr>
          <p:cNvPr id="18" name="Shape 16"/>
          <p:cNvSpPr/>
          <p:nvPr/>
        </p:nvSpPr>
        <p:spPr>
          <a:xfrm>
            <a:off x="1819656" y="3218688"/>
            <a:ext cx="109728" cy="109728"/>
          </a:xfrm>
          <a:prstGeom prst="ellipse">
            <a:avLst/>
          </a:prstGeom>
          <a:solidFill>
            <a:srgbClr val="6BBF9B"/>
          </a:solidFill>
          <a:ln w="12700">
            <a:solidFill>
              <a:srgbClr val="FFFFFF">
                <a:alpha val="0"/>
              </a:srgbClr>
            </a:solidFill>
            <a:prstDash val="solid"/>
          </a:ln>
        </p:spPr>
      </p:sp>
      <p:sp>
        <p:nvSpPr>
          <p:cNvPr id="19" name="Shape 17"/>
          <p:cNvSpPr/>
          <p:nvPr/>
        </p:nvSpPr>
        <p:spPr>
          <a:xfrm>
            <a:off x="2249424" y="3218688"/>
            <a:ext cx="109728" cy="109728"/>
          </a:xfrm>
          <a:prstGeom prst="ellipse">
            <a:avLst/>
          </a:prstGeom>
          <a:solidFill>
            <a:srgbClr val="FFFFFF"/>
          </a:solidFill>
          <a:ln w="12700">
            <a:solidFill>
              <a:srgbClr val="FFFFFF">
                <a:alpha val="0"/>
              </a:srgbClr>
            </a:solidFill>
            <a:prstDash val="solid"/>
          </a:ln>
        </p:spPr>
      </p:sp>
      <p:sp>
        <p:nvSpPr>
          <p:cNvPr id="20" name="Shape 18"/>
          <p:cNvSpPr/>
          <p:nvPr/>
        </p:nvSpPr>
        <p:spPr>
          <a:xfrm>
            <a:off x="2679192" y="3218688"/>
            <a:ext cx="109728" cy="109728"/>
          </a:xfrm>
          <a:prstGeom prst="ellipse">
            <a:avLst/>
          </a:prstGeom>
          <a:solidFill>
            <a:srgbClr val="E76F51"/>
          </a:solidFill>
          <a:ln w="12700">
            <a:solidFill>
              <a:srgbClr val="FFFFFF">
                <a:alpha val="0"/>
              </a:srgbClr>
            </a:solidFill>
            <a:prstDash val="solid"/>
          </a:ln>
        </p:spPr>
      </p:sp>
      <p:sp>
        <p:nvSpPr>
          <p:cNvPr id="21" name="Shape 19"/>
          <p:cNvSpPr/>
          <p:nvPr/>
        </p:nvSpPr>
        <p:spPr>
          <a:xfrm>
            <a:off x="3108960" y="3218688"/>
            <a:ext cx="109728" cy="109728"/>
          </a:xfrm>
          <a:prstGeom prst="ellipse">
            <a:avLst/>
          </a:prstGeom>
          <a:solidFill>
            <a:srgbClr val="6BBF9B"/>
          </a:solidFill>
          <a:ln w="12700">
            <a:solidFill>
              <a:srgbClr val="FFFFFF">
                <a:alpha val="0"/>
              </a:srgbClr>
            </a:solidFill>
            <a:prstDash val="solid"/>
          </a:ln>
        </p:spPr>
      </p:sp>
      <p:sp>
        <p:nvSpPr>
          <p:cNvPr id="22" name="Shape 20"/>
          <p:cNvSpPr/>
          <p:nvPr/>
        </p:nvSpPr>
        <p:spPr>
          <a:xfrm>
            <a:off x="3538728" y="3218688"/>
            <a:ext cx="109728" cy="109728"/>
          </a:xfrm>
          <a:prstGeom prst="ellipse">
            <a:avLst/>
          </a:prstGeom>
          <a:solidFill>
            <a:srgbClr val="FFFFFF"/>
          </a:solidFill>
          <a:ln w="12700">
            <a:solidFill>
              <a:srgbClr val="FFFFFF">
                <a:alpha val="0"/>
              </a:srgbClr>
            </a:solidFill>
            <a:prstDash val="solid"/>
          </a:ln>
        </p:spPr>
      </p:sp>
      <p:sp>
        <p:nvSpPr>
          <p:cNvPr id="23" name="Shape 21"/>
          <p:cNvSpPr/>
          <p:nvPr/>
        </p:nvSpPr>
        <p:spPr>
          <a:xfrm>
            <a:off x="3968496" y="3218688"/>
            <a:ext cx="109728" cy="109728"/>
          </a:xfrm>
          <a:prstGeom prst="ellipse">
            <a:avLst/>
          </a:prstGeom>
          <a:solidFill>
            <a:srgbClr val="E76F51"/>
          </a:solidFill>
          <a:ln w="12700">
            <a:solidFill>
              <a:srgbClr val="FFFFFF">
                <a:alpha val="0"/>
              </a:srgbClr>
            </a:solidFill>
            <a:prstDash val="solid"/>
          </a:ln>
        </p:spPr>
      </p:sp>
      <p:sp>
        <p:nvSpPr>
          <p:cNvPr id="24" name="Shape 22"/>
          <p:cNvSpPr/>
          <p:nvPr/>
        </p:nvSpPr>
        <p:spPr>
          <a:xfrm>
            <a:off x="4398264" y="3218688"/>
            <a:ext cx="109728" cy="109728"/>
          </a:xfrm>
          <a:prstGeom prst="ellipse">
            <a:avLst/>
          </a:prstGeom>
          <a:solidFill>
            <a:srgbClr val="6BBF9B"/>
          </a:solidFill>
          <a:ln w="12700">
            <a:solidFill>
              <a:srgbClr val="FFFFFF">
                <a:alpha val="0"/>
              </a:srgbClr>
            </a:solidFill>
            <a:prstDash val="solid"/>
          </a:ln>
        </p:spPr>
      </p:sp>
      <p:sp>
        <p:nvSpPr>
          <p:cNvPr id="25" name="Shape 23"/>
          <p:cNvSpPr/>
          <p:nvPr/>
        </p:nvSpPr>
        <p:spPr>
          <a:xfrm>
            <a:off x="4828032" y="3218688"/>
            <a:ext cx="109728" cy="109728"/>
          </a:xfrm>
          <a:prstGeom prst="ellipse">
            <a:avLst/>
          </a:prstGeom>
          <a:solidFill>
            <a:srgbClr val="FFFFFF"/>
          </a:solidFill>
          <a:ln w="12700">
            <a:solidFill>
              <a:srgbClr val="FFFFFF">
                <a:alpha val="0"/>
              </a:srgbClr>
            </a:solidFill>
            <a:prstDash val="solid"/>
          </a:ln>
        </p:spPr>
      </p:sp>
      <p:sp>
        <p:nvSpPr>
          <p:cNvPr id="26" name="Shape 24"/>
          <p:cNvSpPr/>
          <p:nvPr/>
        </p:nvSpPr>
        <p:spPr>
          <a:xfrm>
            <a:off x="5257800" y="3218688"/>
            <a:ext cx="109728" cy="109728"/>
          </a:xfrm>
          <a:prstGeom prst="ellipse">
            <a:avLst/>
          </a:prstGeom>
          <a:solidFill>
            <a:srgbClr val="E76F51"/>
          </a:solidFill>
          <a:ln w="12700">
            <a:solidFill>
              <a:srgbClr val="FFFFFF">
                <a:alpha val="0"/>
              </a:srgbClr>
            </a:solidFill>
            <a:prstDash val="solid"/>
          </a:ln>
        </p:spPr>
      </p:sp>
      <p:sp>
        <p:nvSpPr>
          <p:cNvPr id="27" name="Shape 25"/>
          <p:cNvSpPr/>
          <p:nvPr/>
        </p:nvSpPr>
        <p:spPr>
          <a:xfrm>
            <a:off x="822960" y="3511296"/>
            <a:ext cx="109728" cy="109728"/>
          </a:xfrm>
          <a:prstGeom prst="ellipse">
            <a:avLst/>
          </a:prstGeom>
          <a:solidFill>
            <a:srgbClr val="6BBF9B"/>
          </a:solidFill>
          <a:ln w="12700">
            <a:solidFill>
              <a:srgbClr val="FFFFFF">
                <a:alpha val="0"/>
              </a:srgbClr>
            </a:solidFill>
            <a:prstDash val="solid"/>
          </a:ln>
        </p:spPr>
      </p:sp>
      <p:sp>
        <p:nvSpPr>
          <p:cNvPr id="28" name="Shape 26"/>
          <p:cNvSpPr/>
          <p:nvPr/>
        </p:nvSpPr>
        <p:spPr>
          <a:xfrm>
            <a:off x="1252728" y="3511296"/>
            <a:ext cx="109728" cy="109728"/>
          </a:xfrm>
          <a:prstGeom prst="ellipse">
            <a:avLst/>
          </a:prstGeom>
          <a:solidFill>
            <a:srgbClr val="FFFFFF"/>
          </a:solidFill>
          <a:ln w="12700">
            <a:solidFill>
              <a:srgbClr val="FFFFFF">
                <a:alpha val="0"/>
              </a:srgbClr>
            </a:solidFill>
            <a:prstDash val="solid"/>
          </a:ln>
        </p:spPr>
      </p:sp>
      <p:sp>
        <p:nvSpPr>
          <p:cNvPr id="29" name="Shape 27"/>
          <p:cNvSpPr/>
          <p:nvPr/>
        </p:nvSpPr>
        <p:spPr>
          <a:xfrm>
            <a:off x="1682496" y="3511296"/>
            <a:ext cx="109728" cy="109728"/>
          </a:xfrm>
          <a:prstGeom prst="ellipse">
            <a:avLst/>
          </a:prstGeom>
          <a:solidFill>
            <a:srgbClr val="E76F51"/>
          </a:solidFill>
          <a:ln w="12700">
            <a:solidFill>
              <a:srgbClr val="FFFFFF">
                <a:alpha val="0"/>
              </a:srgbClr>
            </a:solidFill>
            <a:prstDash val="solid"/>
          </a:ln>
        </p:spPr>
      </p:sp>
      <p:sp>
        <p:nvSpPr>
          <p:cNvPr id="30" name="Shape 28"/>
          <p:cNvSpPr/>
          <p:nvPr/>
        </p:nvSpPr>
        <p:spPr>
          <a:xfrm>
            <a:off x="2112264" y="3511296"/>
            <a:ext cx="109728" cy="109728"/>
          </a:xfrm>
          <a:prstGeom prst="ellipse">
            <a:avLst/>
          </a:prstGeom>
          <a:solidFill>
            <a:srgbClr val="6BBF9B"/>
          </a:solidFill>
          <a:ln w="12700">
            <a:solidFill>
              <a:srgbClr val="FFFFFF">
                <a:alpha val="0"/>
              </a:srgbClr>
            </a:solidFill>
            <a:prstDash val="solid"/>
          </a:ln>
        </p:spPr>
      </p:sp>
      <p:sp>
        <p:nvSpPr>
          <p:cNvPr id="31" name="Shape 29"/>
          <p:cNvSpPr/>
          <p:nvPr/>
        </p:nvSpPr>
        <p:spPr>
          <a:xfrm>
            <a:off x="2542032" y="3511296"/>
            <a:ext cx="109728" cy="109728"/>
          </a:xfrm>
          <a:prstGeom prst="ellipse">
            <a:avLst/>
          </a:prstGeom>
          <a:solidFill>
            <a:srgbClr val="FFFFFF"/>
          </a:solidFill>
          <a:ln w="12700">
            <a:solidFill>
              <a:srgbClr val="FFFFFF">
                <a:alpha val="0"/>
              </a:srgbClr>
            </a:solidFill>
            <a:prstDash val="solid"/>
          </a:ln>
        </p:spPr>
      </p:sp>
      <p:sp>
        <p:nvSpPr>
          <p:cNvPr id="32" name="Shape 30"/>
          <p:cNvSpPr/>
          <p:nvPr/>
        </p:nvSpPr>
        <p:spPr>
          <a:xfrm>
            <a:off x="2971800" y="3511296"/>
            <a:ext cx="109728" cy="109728"/>
          </a:xfrm>
          <a:prstGeom prst="ellipse">
            <a:avLst/>
          </a:prstGeom>
          <a:solidFill>
            <a:srgbClr val="E76F51"/>
          </a:solidFill>
          <a:ln w="12700">
            <a:solidFill>
              <a:srgbClr val="FFFFFF">
                <a:alpha val="0"/>
              </a:srgbClr>
            </a:solidFill>
            <a:prstDash val="solid"/>
          </a:ln>
        </p:spPr>
      </p:sp>
      <p:sp>
        <p:nvSpPr>
          <p:cNvPr id="33" name="Shape 31"/>
          <p:cNvSpPr/>
          <p:nvPr/>
        </p:nvSpPr>
        <p:spPr>
          <a:xfrm>
            <a:off x="3401568" y="3511296"/>
            <a:ext cx="109728" cy="109728"/>
          </a:xfrm>
          <a:prstGeom prst="ellipse">
            <a:avLst/>
          </a:prstGeom>
          <a:solidFill>
            <a:srgbClr val="6BBF9B"/>
          </a:solidFill>
          <a:ln w="12700">
            <a:solidFill>
              <a:srgbClr val="FFFFFF">
                <a:alpha val="0"/>
              </a:srgbClr>
            </a:solidFill>
            <a:prstDash val="solid"/>
          </a:ln>
        </p:spPr>
      </p:sp>
      <p:sp>
        <p:nvSpPr>
          <p:cNvPr id="34" name="Shape 32"/>
          <p:cNvSpPr/>
          <p:nvPr/>
        </p:nvSpPr>
        <p:spPr>
          <a:xfrm>
            <a:off x="3831336" y="3511296"/>
            <a:ext cx="109728" cy="109728"/>
          </a:xfrm>
          <a:prstGeom prst="ellipse">
            <a:avLst/>
          </a:prstGeom>
          <a:solidFill>
            <a:srgbClr val="FFFFFF"/>
          </a:solidFill>
          <a:ln w="12700">
            <a:solidFill>
              <a:srgbClr val="FFFFFF">
                <a:alpha val="0"/>
              </a:srgbClr>
            </a:solidFill>
            <a:prstDash val="solid"/>
          </a:ln>
        </p:spPr>
      </p:sp>
      <p:sp>
        <p:nvSpPr>
          <p:cNvPr id="35" name="Shape 33"/>
          <p:cNvSpPr/>
          <p:nvPr/>
        </p:nvSpPr>
        <p:spPr>
          <a:xfrm>
            <a:off x="4261104" y="3511296"/>
            <a:ext cx="109728" cy="109728"/>
          </a:xfrm>
          <a:prstGeom prst="ellipse">
            <a:avLst/>
          </a:prstGeom>
          <a:solidFill>
            <a:srgbClr val="E76F51"/>
          </a:solidFill>
          <a:ln w="12700">
            <a:solidFill>
              <a:srgbClr val="FFFFFF">
                <a:alpha val="0"/>
              </a:srgbClr>
            </a:solidFill>
            <a:prstDash val="solid"/>
          </a:ln>
        </p:spPr>
      </p:sp>
      <p:sp>
        <p:nvSpPr>
          <p:cNvPr id="36" name="Shape 34"/>
          <p:cNvSpPr/>
          <p:nvPr/>
        </p:nvSpPr>
        <p:spPr>
          <a:xfrm>
            <a:off x="4690872" y="3511296"/>
            <a:ext cx="109728" cy="109728"/>
          </a:xfrm>
          <a:prstGeom prst="ellipse">
            <a:avLst/>
          </a:prstGeom>
          <a:solidFill>
            <a:srgbClr val="6BBF9B"/>
          </a:solidFill>
          <a:ln w="12700">
            <a:solidFill>
              <a:srgbClr val="FFFFFF">
                <a:alpha val="0"/>
              </a:srgbClr>
            </a:solidFill>
            <a:prstDash val="solid"/>
          </a:ln>
        </p:spPr>
      </p:sp>
      <p:sp>
        <p:nvSpPr>
          <p:cNvPr id="37" name="Shape 35"/>
          <p:cNvSpPr/>
          <p:nvPr/>
        </p:nvSpPr>
        <p:spPr>
          <a:xfrm>
            <a:off x="5120640" y="3511296"/>
            <a:ext cx="109728" cy="109728"/>
          </a:xfrm>
          <a:prstGeom prst="ellipse">
            <a:avLst/>
          </a:prstGeom>
          <a:solidFill>
            <a:srgbClr val="FFFFFF"/>
          </a:solidFill>
          <a:ln w="12700">
            <a:solidFill>
              <a:srgbClr val="FFFFFF">
                <a:alpha val="0"/>
              </a:srgbClr>
            </a:solidFill>
            <a:prstDash val="solid"/>
          </a:ln>
        </p:spPr>
      </p:sp>
      <p:sp>
        <p:nvSpPr>
          <p:cNvPr id="38" name="Shape 36"/>
          <p:cNvSpPr/>
          <p:nvPr/>
        </p:nvSpPr>
        <p:spPr>
          <a:xfrm>
            <a:off x="960120" y="3803904"/>
            <a:ext cx="109728" cy="109728"/>
          </a:xfrm>
          <a:prstGeom prst="ellipse">
            <a:avLst/>
          </a:prstGeom>
          <a:solidFill>
            <a:srgbClr val="E76F51"/>
          </a:solidFill>
          <a:ln w="12700">
            <a:solidFill>
              <a:srgbClr val="FFFFFF">
                <a:alpha val="0"/>
              </a:srgbClr>
            </a:solidFill>
            <a:prstDash val="solid"/>
          </a:ln>
        </p:spPr>
      </p:sp>
      <p:sp>
        <p:nvSpPr>
          <p:cNvPr id="39" name="Shape 37"/>
          <p:cNvSpPr/>
          <p:nvPr/>
        </p:nvSpPr>
        <p:spPr>
          <a:xfrm>
            <a:off x="1389888" y="3803904"/>
            <a:ext cx="109728" cy="109728"/>
          </a:xfrm>
          <a:prstGeom prst="ellipse">
            <a:avLst/>
          </a:prstGeom>
          <a:solidFill>
            <a:srgbClr val="6BBF9B"/>
          </a:solidFill>
          <a:ln w="12700">
            <a:solidFill>
              <a:srgbClr val="FFFFFF">
                <a:alpha val="0"/>
              </a:srgbClr>
            </a:solidFill>
            <a:prstDash val="solid"/>
          </a:ln>
        </p:spPr>
      </p:sp>
      <p:sp>
        <p:nvSpPr>
          <p:cNvPr id="40" name="Shape 38"/>
          <p:cNvSpPr/>
          <p:nvPr/>
        </p:nvSpPr>
        <p:spPr>
          <a:xfrm>
            <a:off x="1819656" y="3803904"/>
            <a:ext cx="109728" cy="109728"/>
          </a:xfrm>
          <a:prstGeom prst="ellipse">
            <a:avLst/>
          </a:prstGeom>
          <a:solidFill>
            <a:srgbClr val="FFFFFF"/>
          </a:solidFill>
          <a:ln w="12700">
            <a:solidFill>
              <a:srgbClr val="FFFFFF">
                <a:alpha val="0"/>
              </a:srgbClr>
            </a:solidFill>
            <a:prstDash val="solid"/>
          </a:ln>
        </p:spPr>
      </p:sp>
      <p:sp>
        <p:nvSpPr>
          <p:cNvPr id="41" name="Shape 39"/>
          <p:cNvSpPr/>
          <p:nvPr/>
        </p:nvSpPr>
        <p:spPr>
          <a:xfrm>
            <a:off x="2249424" y="3803904"/>
            <a:ext cx="109728" cy="109728"/>
          </a:xfrm>
          <a:prstGeom prst="ellipse">
            <a:avLst/>
          </a:prstGeom>
          <a:solidFill>
            <a:srgbClr val="E76F51"/>
          </a:solidFill>
          <a:ln w="12700">
            <a:solidFill>
              <a:srgbClr val="FFFFFF">
                <a:alpha val="0"/>
              </a:srgbClr>
            </a:solidFill>
            <a:prstDash val="solid"/>
          </a:ln>
        </p:spPr>
      </p:sp>
      <p:sp>
        <p:nvSpPr>
          <p:cNvPr id="42" name="Shape 40"/>
          <p:cNvSpPr/>
          <p:nvPr/>
        </p:nvSpPr>
        <p:spPr>
          <a:xfrm>
            <a:off x="2679192" y="3803904"/>
            <a:ext cx="109728" cy="109728"/>
          </a:xfrm>
          <a:prstGeom prst="ellipse">
            <a:avLst/>
          </a:prstGeom>
          <a:solidFill>
            <a:srgbClr val="6BBF9B"/>
          </a:solidFill>
          <a:ln w="12700">
            <a:solidFill>
              <a:srgbClr val="FFFFFF">
                <a:alpha val="0"/>
              </a:srgbClr>
            </a:solidFill>
            <a:prstDash val="solid"/>
          </a:ln>
        </p:spPr>
      </p:sp>
      <p:sp>
        <p:nvSpPr>
          <p:cNvPr id="43" name="Shape 41"/>
          <p:cNvSpPr/>
          <p:nvPr/>
        </p:nvSpPr>
        <p:spPr>
          <a:xfrm>
            <a:off x="3108960" y="3803904"/>
            <a:ext cx="109728" cy="109728"/>
          </a:xfrm>
          <a:prstGeom prst="ellipse">
            <a:avLst/>
          </a:prstGeom>
          <a:solidFill>
            <a:srgbClr val="FFFFFF"/>
          </a:solidFill>
          <a:ln w="12700">
            <a:solidFill>
              <a:srgbClr val="FFFFFF">
                <a:alpha val="0"/>
              </a:srgbClr>
            </a:solidFill>
            <a:prstDash val="solid"/>
          </a:ln>
        </p:spPr>
      </p:sp>
      <p:sp>
        <p:nvSpPr>
          <p:cNvPr id="44" name="Shape 42"/>
          <p:cNvSpPr/>
          <p:nvPr/>
        </p:nvSpPr>
        <p:spPr>
          <a:xfrm>
            <a:off x="3538728" y="3803904"/>
            <a:ext cx="109728" cy="109728"/>
          </a:xfrm>
          <a:prstGeom prst="ellipse">
            <a:avLst/>
          </a:prstGeom>
          <a:solidFill>
            <a:srgbClr val="E76F51"/>
          </a:solidFill>
          <a:ln w="12700">
            <a:solidFill>
              <a:srgbClr val="FFFFFF">
                <a:alpha val="0"/>
              </a:srgbClr>
            </a:solidFill>
            <a:prstDash val="solid"/>
          </a:ln>
        </p:spPr>
      </p:sp>
      <p:sp>
        <p:nvSpPr>
          <p:cNvPr id="45" name="Shape 43"/>
          <p:cNvSpPr/>
          <p:nvPr/>
        </p:nvSpPr>
        <p:spPr>
          <a:xfrm>
            <a:off x="3968496" y="3803904"/>
            <a:ext cx="109728" cy="109728"/>
          </a:xfrm>
          <a:prstGeom prst="ellipse">
            <a:avLst/>
          </a:prstGeom>
          <a:solidFill>
            <a:srgbClr val="6BBF9B"/>
          </a:solidFill>
          <a:ln w="12700">
            <a:solidFill>
              <a:srgbClr val="FFFFFF">
                <a:alpha val="0"/>
              </a:srgbClr>
            </a:solidFill>
            <a:prstDash val="solid"/>
          </a:ln>
        </p:spPr>
      </p:sp>
      <p:sp>
        <p:nvSpPr>
          <p:cNvPr id="46" name="Shape 44"/>
          <p:cNvSpPr/>
          <p:nvPr/>
        </p:nvSpPr>
        <p:spPr>
          <a:xfrm>
            <a:off x="4398264" y="3803904"/>
            <a:ext cx="109728" cy="109728"/>
          </a:xfrm>
          <a:prstGeom prst="ellipse">
            <a:avLst/>
          </a:prstGeom>
          <a:solidFill>
            <a:srgbClr val="FFFFFF"/>
          </a:solidFill>
          <a:ln w="12700">
            <a:solidFill>
              <a:srgbClr val="FFFFFF">
                <a:alpha val="0"/>
              </a:srgbClr>
            </a:solidFill>
            <a:prstDash val="solid"/>
          </a:ln>
        </p:spPr>
      </p:sp>
      <p:sp>
        <p:nvSpPr>
          <p:cNvPr id="47" name="Shape 45"/>
          <p:cNvSpPr/>
          <p:nvPr/>
        </p:nvSpPr>
        <p:spPr>
          <a:xfrm>
            <a:off x="4828032" y="3803904"/>
            <a:ext cx="109728" cy="109728"/>
          </a:xfrm>
          <a:prstGeom prst="ellipse">
            <a:avLst/>
          </a:prstGeom>
          <a:solidFill>
            <a:srgbClr val="E76F51"/>
          </a:solidFill>
          <a:ln w="12700">
            <a:solidFill>
              <a:srgbClr val="FFFFFF">
                <a:alpha val="0"/>
              </a:srgbClr>
            </a:solidFill>
            <a:prstDash val="solid"/>
          </a:ln>
        </p:spPr>
      </p:sp>
      <p:sp>
        <p:nvSpPr>
          <p:cNvPr id="48" name="Shape 46"/>
          <p:cNvSpPr/>
          <p:nvPr/>
        </p:nvSpPr>
        <p:spPr>
          <a:xfrm>
            <a:off x="5257800" y="3803904"/>
            <a:ext cx="109728" cy="109728"/>
          </a:xfrm>
          <a:prstGeom prst="ellipse">
            <a:avLst/>
          </a:prstGeom>
          <a:solidFill>
            <a:srgbClr val="6BBF9B"/>
          </a:solidFill>
          <a:ln w="12700">
            <a:solidFill>
              <a:srgbClr val="FFFFFF">
                <a:alpha val="0"/>
              </a:srgbClr>
            </a:solidFill>
            <a:prstDash val="solid"/>
          </a:ln>
        </p:spPr>
      </p:sp>
      <p:sp>
        <p:nvSpPr>
          <p:cNvPr id="49" name="Shape 47"/>
          <p:cNvSpPr/>
          <p:nvPr/>
        </p:nvSpPr>
        <p:spPr>
          <a:xfrm>
            <a:off x="822960" y="4096512"/>
            <a:ext cx="109728" cy="109728"/>
          </a:xfrm>
          <a:prstGeom prst="ellipse">
            <a:avLst/>
          </a:prstGeom>
          <a:solidFill>
            <a:srgbClr val="FFFFFF"/>
          </a:solidFill>
          <a:ln w="12700">
            <a:solidFill>
              <a:srgbClr val="FFFFFF">
                <a:alpha val="0"/>
              </a:srgbClr>
            </a:solidFill>
            <a:prstDash val="solid"/>
          </a:ln>
        </p:spPr>
      </p:sp>
      <p:sp>
        <p:nvSpPr>
          <p:cNvPr id="50" name="Shape 48"/>
          <p:cNvSpPr/>
          <p:nvPr/>
        </p:nvSpPr>
        <p:spPr>
          <a:xfrm>
            <a:off x="1252728" y="4096512"/>
            <a:ext cx="109728" cy="109728"/>
          </a:xfrm>
          <a:prstGeom prst="ellipse">
            <a:avLst/>
          </a:prstGeom>
          <a:solidFill>
            <a:srgbClr val="E76F51"/>
          </a:solidFill>
          <a:ln w="12700">
            <a:solidFill>
              <a:srgbClr val="FFFFFF">
                <a:alpha val="0"/>
              </a:srgbClr>
            </a:solidFill>
            <a:prstDash val="solid"/>
          </a:ln>
        </p:spPr>
      </p:sp>
      <p:sp>
        <p:nvSpPr>
          <p:cNvPr id="51" name="Shape 49"/>
          <p:cNvSpPr/>
          <p:nvPr/>
        </p:nvSpPr>
        <p:spPr>
          <a:xfrm>
            <a:off x="1682496" y="4096512"/>
            <a:ext cx="109728" cy="109728"/>
          </a:xfrm>
          <a:prstGeom prst="ellipse">
            <a:avLst/>
          </a:prstGeom>
          <a:solidFill>
            <a:srgbClr val="6BBF9B"/>
          </a:solidFill>
          <a:ln w="12700">
            <a:solidFill>
              <a:srgbClr val="FFFFFF">
                <a:alpha val="0"/>
              </a:srgbClr>
            </a:solidFill>
            <a:prstDash val="solid"/>
          </a:ln>
        </p:spPr>
      </p:sp>
      <p:sp>
        <p:nvSpPr>
          <p:cNvPr id="52" name="Shape 50"/>
          <p:cNvSpPr/>
          <p:nvPr/>
        </p:nvSpPr>
        <p:spPr>
          <a:xfrm>
            <a:off x="2112264" y="4096512"/>
            <a:ext cx="109728" cy="109728"/>
          </a:xfrm>
          <a:prstGeom prst="ellipse">
            <a:avLst/>
          </a:prstGeom>
          <a:solidFill>
            <a:srgbClr val="FFFFFF"/>
          </a:solidFill>
          <a:ln w="12700">
            <a:solidFill>
              <a:srgbClr val="FFFFFF">
                <a:alpha val="0"/>
              </a:srgbClr>
            </a:solidFill>
            <a:prstDash val="solid"/>
          </a:ln>
        </p:spPr>
      </p:sp>
      <p:sp>
        <p:nvSpPr>
          <p:cNvPr id="53" name="Shape 51"/>
          <p:cNvSpPr/>
          <p:nvPr/>
        </p:nvSpPr>
        <p:spPr>
          <a:xfrm>
            <a:off x="2542032" y="4096512"/>
            <a:ext cx="109728" cy="109728"/>
          </a:xfrm>
          <a:prstGeom prst="ellipse">
            <a:avLst/>
          </a:prstGeom>
          <a:solidFill>
            <a:srgbClr val="E76F51"/>
          </a:solidFill>
          <a:ln w="12700">
            <a:solidFill>
              <a:srgbClr val="FFFFFF">
                <a:alpha val="0"/>
              </a:srgbClr>
            </a:solidFill>
            <a:prstDash val="solid"/>
          </a:ln>
        </p:spPr>
      </p:sp>
      <p:sp>
        <p:nvSpPr>
          <p:cNvPr id="54" name="Shape 52"/>
          <p:cNvSpPr/>
          <p:nvPr/>
        </p:nvSpPr>
        <p:spPr>
          <a:xfrm>
            <a:off x="2971800" y="4096512"/>
            <a:ext cx="109728" cy="109728"/>
          </a:xfrm>
          <a:prstGeom prst="ellipse">
            <a:avLst/>
          </a:prstGeom>
          <a:solidFill>
            <a:srgbClr val="6BBF9B"/>
          </a:solidFill>
          <a:ln w="12700">
            <a:solidFill>
              <a:srgbClr val="FFFFFF">
                <a:alpha val="0"/>
              </a:srgbClr>
            </a:solidFill>
            <a:prstDash val="solid"/>
          </a:ln>
        </p:spPr>
      </p:sp>
      <p:sp>
        <p:nvSpPr>
          <p:cNvPr id="55" name="Shape 53"/>
          <p:cNvSpPr/>
          <p:nvPr/>
        </p:nvSpPr>
        <p:spPr>
          <a:xfrm>
            <a:off x="3401568" y="4096512"/>
            <a:ext cx="109728" cy="109728"/>
          </a:xfrm>
          <a:prstGeom prst="ellipse">
            <a:avLst/>
          </a:prstGeom>
          <a:solidFill>
            <a:srgbClr val="FFFFFF"/>
          </a:solidFill>
          <a:ln w="12700">
            <a:solidFill>
              <a:srgbClr val="FFFFFF">
                <a:alpha val="0"/>
              </a:srgbClr>
            </a:solidFill>
            <a:prstDash val="solid"/>
          </a:ln>
        </p:spPr>
      </p:sp>
      <p:sp>
        <p:nvSpPr>
          <p:cNvPr id="56" name="Shape 54"/>
          <p:cNvSpPr/>
          <p:nvPr/>
        </p:nvSpPr>
        <p:spPr>
          <a:xfrm>
            <a:off x="3831336" y="4096512"/>
            <a:ext cx="109728" cy="109728"/>
          </a:xfrm>
          <a:prstGeom prst="ellipse">
            <a:avLst/>
          </a:prstGeom>
          <a:solidFill>
            <a:srgbClr val="E76F51"/>
          </a:solidFill>
          <a:ln w="12700">
            <a:solidFill>
              <a:srgbClr val="FFFFFF">
                <a:alpha val="0"/>
              </a:srgbClr>
            </a:solidFill>
            <a:prstDash val="solid"/>
          </a:ln>
        </p:spPr>
      </p:sp>
      <p:sp>
        <p:nvSpPr>
          <p:cNvPr id="57" name="Shape 55"/>
          <p:cNvSpPr/>
          <p:nvPr/>
        </p:nvSpPr>
        <p:spPr>
          <a:xfrm>
            <a:off x="4261104" y="4096512"/>
            <a:ext cx="109728" cy="109728"/>
          </a:xfrm>
          <a:prstGeom prst="ellipse">
            <a:avLst/>
          </a:prstGeom>
          <a:solidFill>
            <a:srgbClr val="6BBF9B"/>
          </a:solidFill>
          <a:ln w="12700">
            <a:solidFill>
              <a:srgbClr val="FFFFFF">
                <a:alpha val="0"/>
              </a:srgbClr>
            </a:solidFill>
            <a:prstDash val="solid"/>
          </a:ln>
        </p:spPr>
      </p:sp>
      <p:sp>
        <p:nvSpPr>
          <p:cNvPr id="58" name="Shape 56"/>
          <p:cNvSpPr/>
          <p:nvPr/>
        </p:nvSpPr>
        <p:spPr>
          <a:xfrm>
            <a:off x="4690872" y="4096512"/>
            <a:ext cx="109728" cy="109728"/>
          </a:xfrm>
          <a:prstGeom prst="ellipse">
            <a:avLst/>
          </a:prstGeom>
          <a:solidFill>
            <a:srgbClr val="FFFFFF"/>
          </a:solidFill>
          <a:ln w="12700">
            <a:solidFill>
              <a:srgbClr val="FFFFFF">
                <a:alpha val="0"/>
              </a:srgbClr>
            </a:solidFill>
            <a:prstDash val="solid"/>
          </a:ln>
        </p:spPr>
      </p:sp>
      <p:sp>
        <p:nvSpPr>
          <p:cNvPr id="59" name="Shape 57"/>
          <p:cNvSpPr/>
          <p:nvPr/>
        </p:nvSpPr>
        <p:spPr>
          <a:xfrm>
            <a:off x="5120640" y="4096512"/>
            <a:ext cx="109728" cy="109728"/>
          </a:xfrm>
          <a:prstGeom prst="ellipse">
            <a:avLst/>
          </a:prstGeom>
          <a:solidFill>
            <a:srgbClr val="E76F51"/>
          </a:solidFill>
          <a:ln w="12700">
            <a:solidFill>
              <a:srgbClr val="FFFFFF">
                <a:alpha val="0"/>
              </a:srgbClr>
            </a:solidFill>
            <a:prstDash val="solid"/>
          </a:ln>
        </p:spPr>
      </p:sp>
      <p:sp>
        <p:nvSpPr>
          <p:cNvPr id="60" name="Shape 58"/>
          <p:cNvSpPr/>
          <p:nvPr/>
        </p:nvSpPr>
        <p:spPr>
          <a:xfrm>
            <a:off x="6492240" y="1325880"/>
            <a:ext cx="-411480" cy="1051560"/>
          </a:xfrm>
          <a:prstGeom prst="line">
            <a:avLst/>
          </a:prstGeom>
          <a:noFill/>
          <a:ln w="12700">
            <a:solidFill>
              <a:srgbClr val="F2C14E">
                <a:alpha val="80000"/>
              </a:srgbClr>
            </a:solidFill>
            <a:prstDash val="solid"/>
          </a:ln>
        </p:spPr>
      </p:sp>
      <p:sp>
        <p:nvSpPr>
          <p:cNvPr id="61" name="Shape 59"/>
          <p:cNvSpPr/>
          <p:nvPr/>
        </p:nvSpPr>
        <p:spPr>
          <a:xfrm>
            <a:off x="6492240" y="1325880"/>
            <a:ext cx="411480" cy="1051560"/>
          </a:xfrm>
          <a:prstGeom prst="line">
            <a:avLst/>
          </a:prstGeom>
          <a:noFill/>
          <a:ln w="12700">
            <a:solidFill>
              <a:srgbClr val="F2C14E">
                <a:alpha val="80000"/>
              </a:srgbClr>
            </a:solidFill>
            <a:prstDash val="solid"/>
          </a:ln>
        </p:spPr>
      </p:sp>
      <p:sp>
        <p:nvSpPr>
          <p:cNvPr id="62" name="Shape 60"/>
          <p:cNvSpPr/>
          <p:nvPr/>
        </p:nvSpPr>
        <p:spPr>
          <a:xfrm>
            <a:off x="6419088" y="1234440"/>
            <a:ext cx="146304" cy="146304"/>
          </a:xfrm>
          <a:prstGeom prst="ellipse">
            <a:avLst/>
          </a:prstGeom>
          <a:solidFill>
            <a:srgbClr val="F2C14E"/>
          </a:solidFill>
          <a:ln w="12700">
            <a:solidFill>
              <a:srgbClr val="F2C14E"/>
            </a:solidFill>
            <a:prstDash val="solid"/>
          </a:ln>
        </p:spPr>
      </p:sp>
      <p:sp>
        <p:nvSpPr>
          <p:cNvPr id="63" name="Shape 61"/>
          <p:cNvSpPr/>
          <p:nvPr/>
        </p:nvSpPr>
        <p:spPr>
          <a:xfrm>
            <a:off x="7315200" y="1325880"/>
            <a:ext cx="-411480" cy="1051560"/>
          </a:xfrm>
          <a:prstGeom prst="line">
            <a:avLst/>
          </a:prstGeom>
          <a:noFill/>
          <a:ln w="12700">
            <a:solidFill>
              <a:srgbClr val="F2C14E">
                <a:alpha val="80000"/>
              </a:srgbClr>
            </a:solidFill>
            <a:prstDash val="solid"/>
          </a:ln>
        </p:spPr>
      </p:sp>
      <p:sp>
        <p:nvSpPr>
          <p:cNvPr id="64" name="Shape 62"/>
          <p:cNvSpPr/>
          <p:nvPr/>
        </p:nvSpPr>
        <p:spPr>
          <a:xfrm>
            <a:off x="7315200" y="1325880"/>
            <a:ext cx="411480" cy="1051560"/>
          </a:xfrm>
          <a:prstGeom prst="line">
            <a:avLst/>
          </a:prstGeom>
          <a:noFill/>
          <a:ln w="12700">
            <a:solidFill>
              <a:srgbClr val="F2C14E">
                <a:alpha val="80000"/>
              </a:srgbClr>
            </a:solidFill>
            <a:prstDash val="solid"/>
          </a:ln>
        </p:spPr>
      </p:sp>
      <p:sp>
        <p:nvSpPr>
          <p:cNvPr id="65" name="Shape 63"/>
          <p:cNvSpPr/>
          <p:nvPr/>
        </p:nvSpPr>
        <p:spPr>
          <a:xfrm>
            <a:off x="7242048" y="1234440"/>
            <a:ext cx="146304" cy="146304"/>
          </a:xfrm>
          <a:prstGeom prst="ellipse">
            <a:avLst/>
          </a:prstGeom>
          <a:solidFill>
            <a:srgbClr val="F2C14E"/>
          </a:solidFill>
          <a:ln w="12700">
            <a:solidFill>
              <a:srgbClr val="F2C14E"/>
            </a:solidFill>
            <a:prstDash val="solid"/>
          </a:ln>
        </p:spPr>
      </p:sp>
      <p:sp>
        <p:nvSpPr>
          <p:cNvPr id="66" name="Shape 64"/>
          <p:cNvSpPr/>
          <p:nvPr/>
        </p:nvSpPr>
        <p:spPr>
          <a:xfrm>
            <a:off x="8138160" y="1325880"/>
            <a:ext cx="-411480" cy="1051560"/>
          </a:xfrm>
          <a:prstGeom prst="line">
            <a:avLst/>
          </a:prstGeom>
          <a:noFill/>
          <a:ln w="12700">
            <a:solidFill>
              <a:srgbClr val="F2C14E">
                <a:alpha val="80000"/>
              </a:srgbClr>
            </a:solidFill>
            <a:prstDash val="solid"/>
          </a:ln>
        </p:spPr>
      </p:sp>
      <p:sp>
        <p:nvSpPr>
          <p:cNvPr id="67" name="Shape 65"/>
          <p:cNvSpPr/>
          <p:nvPr/>
        </p:nvSpPr>
        <p:spPr>
          <a:xfrm>
            <a:off x="8138160" y="1325880"/>
            <a:ext cx="411480" cy="1051560"/>
          </a:xfrm>
          <a:prstGeom prst="line">
            <a:avLst/>
          </a:prstGeom>
          <a:noFill/>
          <a:ln w="12700">
            <a:solidFill>
              <a:srgbClr val="F2C14E">
                <a:alpha val="80000"/>
              </a:srgbClr>
            </a:solidFill>
            <a:prstDash val="solid"/>
          </a:ln>
        </p:spPr>
      </p:sp>
      <p:sp>
        <p:nvSpPr>
          <p:cNvPr id="68" name="Shape 66"/>
          <p:cNvSpPr/>
          <p:nvPr/>
        </p:nvSpPr>
        <p:spPr>
          <a:xfrm>
            <a:off x="8065008" y="1234440"/>
            <a:ext cx="146304" cy="146304"/>
          </a:xfrm>
          <a:prstGeom prst="ellipse">
            <a:avLst/>
          </a:prstGeom>
          <a:solidFill>
            <a:srgbClr val="F2C14E"/>
          </a:solidFill>
          <a:ln w="12700">
            <a:solidFill>
              <a:srgbClr val="F2C14E"/>
            </a:solidFill>
            <a:prstDash val="solid"/>
          </a:ln>
        </p:spPr>
      </p:sp>
      <p:sp>
        <p:nvSpPr>
          <p:cNvPr id="69" name="Shape 67"/>
          <p:cNvSpPr/>
          <p:nvPr/>
        </p:nvSpPr>
        <p:spPr>
          <a:xfrm>
            <a:off x="8961120" y="1325880"/>
            <a:ext cx="-411480" cy="1051560"/>
          </a:xfrm>
          <a:prstGeom prst="line">
            <a:avLst/>
          </a:prstGeom>
          <a:noFill/>
          <a:ln w="12700">
            <a:solidFill>
              <a:srgbClr val="F2C14E">
                <a:alpha val="80000"/>
              </a:srgbClr>
            </a:solidFill>
            <a:prstDash val="solid"/>
          </a:ln>
        </p:spPr>
      </p:sp>
      <p:sp>
        <p:nvSpPr>
          <p:cNvPr id="70" name="Shape 68"/>
          <p:cNvSpPr/>
          <p:nvPr/>
        </p:nvSpPr>
        <p:spPr>
          <a:xfrm>
            <a:off x="8961120" y="1325880"/>
            <a:ext cx="411480" cy="1051560"/>
          </a:xfrm>
          <a:prstGeom prst="line">
            <a:avLst/>
          </a:prstGeom>
          <a:noFill/>
          <a:ln w="12700">
            <a:solidFill>
              <a:srgbClr val="F2C14E">
                <a:alpha val="80000"/>
              </a:srgbClr>
            </a:solidFill>
            <a:prstDash val="solid"/>
          </a:ln>
        </p:spPr>
      </p:sp>
      <p:sp>
        <p:nvSpPr>
          <p:cNvPr id="71" name="Shape 69"/>
          <p:cNvSpPr/>
          <p:nvPr/>
        </p:nvSpPr>
        <p:spPr>
          <a:xfrm>
            <a:off x="8887968" y="1234440"/>
            <a:ext cx="146304" cy="146304"/>
          </a:xfrm>
          <a:prstGeom prst="ellipse">
            <a:avLst/>
          </a:prstGeom>
          <a:solidFill>
            <a:srgbClr val="F2C14E"/>
          </a:solidFill>
          <a:ln w="12700">
            <a:solidFill>
              <a:srgbClr val="F2C14E"/>
            </a:solidFill>
            <a:prstDash val="solid"/>
          </a:ln>
        </p:spPr>
      </p:sp>
      <p:sp>
        <p:nvSpPr>
          <p:cNvPr id="72" name="Shape 70"/>
          <p:cNvSpPr/>
          <p:nvPr/>
        </p:nvSpPr>
        <p:spPr>
          <a:xfrm>
            <a:off x="9784080" y="1325880"/>
            <a:ext cx="-411480" cy="1051560"/>
          </a:xfrm>
          <a:prstGeom prst="line">
            <a:avLst/>
          </a:prstGeom>
          <a:noFill/>
          <a:ln w="12700">
            <a:solidFill>
              <a:srgbClr val="F2C14E">
                <a:alpha val="80000"/>
              </a:srgbClr>
            </a:solidFill>
            <a:prstDash val="solid"/>
          </a:ln>
        </p:spPr>
      </p:sp>
      <p:sp>
        <p:nvSpPr>
          <p:cNvPr id="73" name="Shape 71"/>
          <p:cNvSpPr/>
          <p:nvPr/>
        </p:nvSpPr>
        <p:spPr>
          <a:xfrm>
            <a:off x="9784080" y="1325880"/>
            <a:ext cx="411480" cy="1051560"/>
          </a:xfrm>
          <a:prstGeom prst="line">
            <a:avLst/>
          </a:prstGeom>
          <a:noFill/>
          <a:ln w="12700">
            <a:solidFill>
              <a:srgbClr val="F2C14E">
                <a:alpha val="80000"/>
              </a:srgbClr>
            </a:solidFill>
            <a:prstDash val="solid"/>
          </a:ln>
        </p:spPr>
      </p:sp>
      <p:sp>
        <p:nvSpPr>
          <p:cNvPr id="74" name="Shape 72"/>
          <p:cNvSpPr/>
          <p:nvPr/>
        </p:nvSpPr>
        <p:spPr>
          <a:xfrm>
            <a:off x="9710928" y="1234440"/>
            <a:ext cx="146304" cy="146304"/>
          </a:xfrm>
          <a:prstGeom prst="ellipse">
            <a:avLst/>
          </a:prstGeom>
          <a:solidFill>
            <a:srgbClr val="F2C14E"/>
          </a:solidFill>
          <a:ln w="12700">
            <a:solidFill>
              <a:srgbClr val="F2C14E"/>
            </a:solidFill>
            <a:prstDash val="solid"/>
          </a:ln>
        </p:spPr>
      </p:sp>
      <p:sp>
        <p:nvSpPr>
          <p:cNvPr id="75" name="Text 73"/>
          <p:cNvSpPr/>
          <p:nvPr/>
        </p:nvSpPr>
        <p:spPr>
          <a:xfrm>
            <a:off x="6537960" y="2788920"/>
            <a:ext cx="3566160" cy="502920"/>
          </a:xfrm>
          <a:prstGeom prst="rect">
            <a:avLst/>
          </a:prstGeom>
          <a:noFill/>
          <a:ln/>
        </p:spPr>
        <p:txBody>
          <a:bodyPr wrap="square" lIns="0" tIns="0" rIns="0" bIns="0" rtlCol="0" anchor="ctr"/>
          <a:lstStyle/>
          <a:p>
            <a:pPr indent="0" marL="0">
              <a:buNone/>
            </a:pPr>
            <a:r>
              <a:rPr lang="en-US" sz="3300" b="1" dirty="0">
                <a:solidFill>
                  <a:srgbClr val="F2C14E"/>
                </a:solidFill>
              </a:rPr>
              <a:t>21:00–22:00</a:t>
            </a:r>
            <a:endParaRPr lang="en-US" sz="3300" dirty="0"/>
          </a:p>
        </p:txBody>
      </p:sp>
      <p:sp>
        <p:nvSpPr>
          <p:cNvPr id="76" name="Text 74"/>
          <p:cNvSpPr/>
          <p:nvPr/>
        </p:nvSpPr>
        <p:spPr>
          <a:xfrm>
            <a:off x="6583680" y="3429000"/>
            <a:ext cx="3840480" cy="237744"/>
          </a:xfrm>
          <a:prstGeom prst="rect">
            <a:avLst/>
          </a:prstGeom>
          <a:noFill/>
          <a:ln/>
        </p:spPr>
        <p:txBody>
          <a:bodyPr wrap="square" lIns="0" tIns="0" rIns="0" bIns="0" rtlCol="0" anchor="ctr"/>
          <a:lstStyle/>
          <a:p>
            <a:pPr indent="0" marL="0">
              <a:buNone/>
            </a:pPr>
            <a:r>
              <a:rPr lang="en-US" sz="1500" b="1" dirty="0">
                <a:solidFill>
                  <a:srgbClr val="FFFFFF"/>
                </a:solidFill>
              </a:rPr>
              <a:t>occupants + lighting + latent heat</a:t>
            </a:r>
            <a:endParaRPr lang="en-US" sz="1500" dirty="0"/>
          </a:p>
        </p:txBody>
      </p:sp>
      <p:sp>
        <p:nvSpPr>
          <p:cNvPr id="77" name="Shape 75"/>
          <p:cNvSpPr/>
          <p:nvPr/>
        </p:nvSpPr>
        <p:spPr>
          <a:xfrm>
            <a:off x="6629400" y="4069080"/>
            <a:ext cx="109728" cy="109728"/>
          </a:xfrm>
          <a:prstGeom prst="rect">
            <a:avLst/>
          </a:prstGeom>
          <a:solidFill>
            <a:srgbClr val="E76F51"/>
          </a:solidFill>
          <a:ln w="12700">
            <a:solidFill>
              <a:srgbClr val="E76F51"/>
            </a:solidFill>
            <a:prstDash val="solid"/>
          </a:ln>
        </p:spPr>
      </p:sp>
      <p:sp>
        <p:nvSpPr>
          <p:cNvPr id="78" name="Text 76"/>
          <p:cNvSpPr/>
          <p:nvPr/>
        </p:nvSpPr>
        <p:spPr>
          <a:xfrm>
            <a:off x="6784848" y="4055364"/>
            <a:ext cx="1417320" cy="146304"/>
          </a:xfrm>
          <a:prstGeom prst="rect">
            <a:avLst/>
          </a:prstGeom>
          <a:noFill/>
          <a:ln/>
        </p:spPr>
        <p:txBody>
          <a:bodyPr wrap="square" lIns="0" tIns="0" rIns="0" bIns="0" rtlCol="0" anchor="ctr"/>
          <a:lstStyle/>
          <a:p>
            <a:pPr indent="0" marL="0">
              <a:buNone/>
            </a:pPr>
            <a:r>
              <a:rPr lang="en-US" sz="750" dirty="0">
                <a:solidFill>
                  <a:srgbClr val="59656F"/>
                </a:solidFill>
              </a:rPr>
              <a:t>sensible heat</a:t>
            </a:r>
            <a:endParaRPr lang="en-US" sz="750" dirty="0"/>
          </a:p>
        </p:txBody>
      </p:sp>
      <p:sp>
        <p:nvSpPr>
          <p:cNvPr id="79" name="Shape 77"/>
          <p:cNvSpPr/>
          <p:nvPr/>
        </p:nvSpPr>
        <p:spPr>
          <a:xfrm>
            <a:off x="8183880" y="4069080"/>
            <a:ext cx="109728" cy="109728"/>
          </a:xfrm>
          <a:prstGeom prst="rect">
            <a:avLst/>
          </a:prstGeom>
          <a:solidFill>
            <a:srgbClr val="6BBF9B"/>
          </a:solidFill>
          <a:ln w="12700">
            <a:solidFill>
              <a:srgbClr val="6BBF9B"/>
            </a:solidFill>
            <a:prstDash val="solid"/>
          </a:ln>
        </p:spPr>
      </p:sp>
      <p:sp>
        <p:nvSpPr>
          <p:cNvPr id="80" name="Text 78"/>
          <p:cNvSpPr/>
          <p:nvPr/>
        </p:nvSpPr>
        <p:spPr>
          <a:xfrm>
            <a:off x="8339328" y="4055364"/>
            <a:ext cx="1417320" cy="146304"/>
          </a:xfrm>
          <a:prstGeom prst="rect">
            <a:avLst/>
          </a:prstGeom>
          <a:noFill/>
          <a:ln/>
        </p:spPr>
        <p:txBody>
          <a:bodyPr wrap="square" lIns="0" tIns="0" rIns="0" bIns="0" rtlCol="0" anchor="ctr"/>
          <a:lstStyle/>
          <a:p>
            <a:pPr indent="0" marL="0">
              <a:buNone/>
            </a:pPr>
            <a:r>
              <a:rPr lang="en-US" sz="750" dirty="0">
                <a:solidFill>
                  <a:srgbClr val="59656F"/>
                </a:solidFill>
              </a:rPr>
              <a:t>latent heat</a:t>
            </a:r>
            <a:endParaRPr lang="en-US" sz="750" dirty="0"/>
          </a:p>
        </p:txBody>
      </p:sp>
      <p:sp>
        <p:nvSpPr>
          <p:cNvPr id="81" name="Shape 79"/>
          <p:cNvSpPr/>
          <p:nvPr/>
        </p:nvSpPr>
        <p:spPr>
          <a:xfrm>
            <a:off x="9738360" y="4069080"/>
            <a:ext cx="109728" cy="109728"/>
          </a:xfrm>
          <a:prstGeom prst="rect">
            <a:avLst/>
          </a:prstGeom>
          <a:solidFill>
            <a:srgbClr val="F2C14E"/>
          </a:solidFill>
          <a:ln w="12700">
            <a:solidFill>
              <a:srgbClr val="F2C14E"/>
            </a:solidFill>
            <a:prstDash val="solid"/>
          </a:ln>
        </p:spPr>
      </p:sp>
      <p:sp>
        <p:nvSpPr>
          <p:cNvPr id="82" name="Text 80"/>
          <p:cNvSpPr/>
          <p:nvPr/>
        </p:nvSpPr>
        <p:spPr>
          <a:xfrm>
            <a:off x="9893808" y="4055364"/>
            <a:ext cx="1417320" cy="146304"/>
          </a:xfrm>
          <a:prstGeom prst="rect">
            <a:avLst/>
          </a:prstGeom>
          <a:noFill/>
          <a:ln/>
        </p:spPr>
        <p:txBody>
          <a:bodyPr wrap="square" lIns="0" tIns="0" rIns="0" bIns="0" rtlCol="0" anchor="ctr"/>
          <a:lstStyle/>
          <a:p>
            <a:pPr indent="0" marL="0">
              <a:buNone/>
            </a:pPr>
            <a:r>
              <a:rPr lang="en-US" sz="750" dirty="0">
                <a:solidFill>
                  <a:srgbClr val="59656F"/>
                </a:solidFill>
              </a:rPr>
              <a:t>lighting</a:t>
            </a:r>
            <a:endParaRPr lang="en-US" sz="7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A building survey turns assumptions into inputs</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The survey is the first engineering step before load calculation.</a:t>
            </a:r>
            <a:endParaRPr lang="en-US" sz="950" dirty="0"/>
          </a:p>
        </p:txBody>
      </p:sp>
      <p:sp>
        <p:nvSpPr>
          <p:cNvPr id="4" name="Shape 2"/>
          <p:cNvSpPr/>
          <p:nvPr/>
        </p:nvSpPr>
        <p:spPr>
          <a:xfrm>
            <a:off x="685800" y="2057400"/>
            <a:ext cx="2148840" cy="1097280"/>
          </a:xfrm>
          <a:prstGeom prst="roundRect">
            <a:avLst>
              <a:gd name="adj" fmla="val 10833"/>
            </a:avLst>
          </a:prstGeom>
          <a:solidFill>
            <a:srgbClr val="0B7A75"/>
          </a:solidFill>
          <a:ln w="12700">
            <a:solidFill>
              <a:srgbClr val="0B7A75"/>
            </a:solidFill>
            <a:prstDash val="solid"/>
          </a:ln>
        </p:spPr>
      </p:sp>
      <p:sp>
        <p:nvSpPr>
          <p:cNvPr id="5" name="Text 3"/>
          <p:cNvSpPr/>
          <p:nvPr/>
        </p:nvSpPr>
        <p:spPr>
          <a:xfrm>
            <a:off x="795528" y="2359152"/>
            <a:ext cx="1920240" cy="201168"/>
          </a:xfrm>
          <a:prstGeom prst="rect">
            <a:avLst/>
          </a:prstGeom>
          <a:noFill/>
          <a:ln/>
        </p:spPr>
        <p:txBody>
          <a:bodyPr wrap="square" lIns="0" tIns="0" rIns="0" bIns="0" rtlCol="0" anchor="ctr"/>
          <a:lstStyle/>
          <a:p>
            <a:pPr algn="ctr" indent="0" marL="0">
              <a:buNone/>
            </a:pPr>
            <a:r>
              <a:rPr lang="en-US" sz="1500" b="1" dirty="0">
                <a:solidFill>
                  <a:srgbClr val="FFFFFF"/>
                </a:solidFill>
              </a:rPr>
              <a:t>Survey</a:t>
            </a:r>
            <a:endParaRPr lang="en-US" sz="1500" dirty="0"/>
          </a:p>
        </p:txBody>
      </p:sp>
      <p:sp>
        <p:nvSpPr>
          <p:cNvPr id="6" name="Text 4"/>
          <p:cNvSpPr/>
          <p:nvPr/>
        </p:nvSpPr>
        <p:spPr>
          <a:xfrm>
            <a:off x="850392" y="2697480"/>
            <a:ext cx="1828800" cy="128016"/>
          </a:xfrm>
          <a:prstGeom prst="rect">
            <a:avLst/>
          </a:prstGeom>
          <a:noFill/>
          <a:ln/>
        </p:spPr>
        <p:txBody>
          <a:bodyPr wrap="square" lIns="0" tIns="0" rIns="0" bIns="0" rtlCol="0" anchor="ctr">
            <a:normAutofit/>
          </a:bodyPr>
          <a:lstStyle/>
          <a:p>
            <a:pPr algn="ctr" indent="0" marL="0">
              <a:buNone/>
            </a:pPr>
            <a:r>
              <a:rPr lang="en-US" sz="850" dirty="0">
                <a:solidFill>
                  <a:srgbClr val="FFFFFF"/>
                </a:solidFill>
              </a:rPr>
              <a:t>measure + collect</a:t>
            </a:r>
            <a:endParaRPr lang="en-US" sz="850" dirty="0"/>
          </a:p>
        </p:txBody>
      </p:sp>
      <p:sp>
        <p:nvSpPr>
          <p:cNvPr id="7" name="Shape 5"/>
          <p:cNvSpPr/>
          <p:nvPr/>
        </p:nvSpPr>
        <p:spPr>
          <a:xfrm>
            <a:off x="2907792" y="2615184"/>
            <a:ext cx="429768" cy="0"/>
          </a:xfrm>
          <a:prstGeom prst="line">
            <a:avLst/>
          </a:prstGeom>
          <a:noFill/>
          <a:ln w="12700">
            <a:solidFill>
              <a:srgbClr val="E76F51"/>
            </a:solidFill>
            <a:prstDash val="solid"/>
            <a:headEnd type="none"/>
            <a:tailEnd type="triangle"/>
          </a:ln>
        </p:spPr>
      </p:sp>
      <p:sp>
        <p:nvSpPr>
          <p:cNvPr id="8" name="Shape 6"/>
          <p:cNvSpPr/>
          <p:nvPr/>
        </p:nvSpPr>
        <p:spPr>
          <a:xfrm>
            <a:off x="3474720" y="2057400"/>
            <a:ext cx="2148840" cy="1097280"/>
          </a:xfrm>
          <a:prstGeom prst="roundRect">
            <a:avLst>
              <a:gd name="adj" fmla="val 10833"/>
            </a:avLst>
          </a:prstGeom>
          <a:solidFill>
            <a:srgbClr val="FFFFFF"/>
          </a:solidFill>
          <a:ln w="12700">
            <a:solidFill>
              <a:srgbClr val="59656F"/>
            </a:solidFill>
            <a:prstDash val="solid"/>
          </a:ln>
        </p:spPr>
      </p:sp>
      <p:sp>
        <p:nvSpPr>
          <p:cNvPr id="9" name="Text 7"/>
          <p:cNvSpPr/>
          <p:nvPr/>
        </p:nvSpPr>
        <p:spPr>
          <a:xfrm>
            <a:off x="3584448" y="2359152"/>
            <a:ext cx="1920240" cy="201168"/>
          </a:xfrm>
          <a:prstGeom prst="rect">
            <a:avLst/>
          </a:prstGeom>
          <a:noFill/>
          <a:ln/>
        </p:spPr>
        <p:txBody>
          <a:bodyPr wrap="square" lIns="0" tIns="0" rIns="0" bIns="0" rtlCol="0" anchor="ctr"/>
          <a:lstStyle/>
          <a:p>
            <a:pPr algn="ctr" indent="0" marL="0">
              <a:buNone/>
            </a:pPr>
            <a:r>
              <a:rPr lang="en-US" sz="1500" b="1" dirty="0">
                <a:solidFill>
                  <a:srgbClr val="153243"/>
                </a:solidFill>
              </a:rPr>
              <a:t>Load calculation</a:t>
            </a:r>
            <a:endParaRPr lang="en-US" sz="1500" dirty="0"/>
          </a:p>
        </p:txBody>
      </p:sp>
      <p:sp>
        <p:nvSpPr>
          <p:cNvPr id="10" name="Text 8"/>
          <p:cNvSpPr/>
          <p:nvPr/>
        </p:nvSpPr>
        <p:spPr>
          <a:xfrm>
            <a:off x="3639312" y="2697480"/>
            <a:ext cx="1828800" cy="128016"/>
          </a:xfrm>
          <a:prstGeom prst="rect">
            <a:avLst/>
          </a:prstGeom>
          <a:noFill/>
          <a:ln/>
        </p:spPr>
        <p:txBody>
          <a:bodyPr wrap="square" lIns="0" tIns="0" rIns="0" bIns="0" rtlCol="0" anchor="ctr">
            <a:normAutofit/>
          </a:bodyPr>
          <a:lstStyle/>
          <a:p>
            <a:pPr algn="ctr" indent="0" marL="0">
              <a:buNone/>
            </a:pPr>
            <a:r>
              <a:rPr lang="en-US" sz="850" dirty="0">
                <a:solidFill>
                  <a:srgbClr val="59656F"/>
                </a:solidFill>
              </a:rPr>
              <a:t>convert data to heat gain</a:t>
            </a:r>
            <a:endParaRPr lang="en-US" sz="850" dirty="0"/>
          </a:p>
        </p:txBody>
      </p:sp>
      <p:sp>
        <p:nvSpPr>
          <p:cNvPr id="11" name="Shape 9"/>
          <p:cNvSpPr/>
          <p:nvPr/>
        </p:nvSpPr>
        <p:spPr>
          <a:xfrm>
            <a:off x="5696712" y="2615184"/>
            <a:ext cx="429768" cy="0"/>
          </a:xfrm>
          <a:prstGeom prst="line">
            <a:avLst/>
          </a:prstGeom>
          <a:noFill/>
          <a:ln w="12700">
            <a:solidFill>
              <a:srgbClr val="E76F51"/>
            </a:solidFill>
            <a:prstDash val="solid"/>
            <a:headEnd type="none"/>
            <a:tailEnd type="triangle"/>
          </a:ln>
        </p:spPr>
      </p:sp>
      <p:sp>
        <p:nvSpPr>
          <p:cNvPr id="12" name="Shape 10"/>
          <p:cNvSpPr/>
          <p:nvPr/>
        </p:nvSpPr>
        <p:spPr>
          <a:xfrm>
            <a:off x="6263640" y="2057400"/>
            <a:ext cx="2148840" cy="1097280"/>
          </a:xfrm>
          <a:prstGeom prst="roundRect">
            <a:avLst>
              <a:gd name="adj" fmla="val 10833"/>
            </a:avLst>
          </a:prstGeom>
          <a:solidFill>
            <a:srgbClr val="FFFFFF"/>
          </a:solidFill>
          <a:ln w="12700">
            <a:solidFill>
              <a:srgbClr val="59656F"/>
            </a:solidFill>
            <a:prstDash val="solid"/>
          </a:ln>
        </p:spPr>
      </p:sp>
      <p:sp>
        <p:nvSpPr>
          <p:cNvPr id="13" name="Text 11"/>
          <p:cNvSpPr/>
          <p:nvPr/>
        </p:nvSpPr>
        <p:spPr>
          <a:xfrm>
            <a:off x="6373368" y="2359152"/>
            <a:ext cx="1920240" cy="201168"/>
          </a:xfrm>
          <a:prstGeom prst="rect">
            <a:avLst/>
          </a:prstGeom>
          <a:noFill/>
          <a:ln/>
        </p:spPr>
        <p:txBody>
          <a:bodyPr wrap="square" lIns="0" tIns="0" rIns="0" bIns="0" rtlCol="0" anchor="ctr"/>
          <a:lstStyle/>
          <a:p>
            <a:pPr algn="ctr" indent="0" marL="0">
              <a:buNone/>
            </a:pPr>
            <a:r>
              <a:rPr lang="en-US" sz="1500" b="1" dirty="0">
                <a:solidFill>
                  <a:srgbClr val="153243"/>
                </a:solidFill>
              </a:rPr>
              <a:t>Equipment selection</a:t>
            </a:r>
            <a:endParaRPr lang="en-US" sz="1500" dirty="0"/>
          </a:p>
        </p:txBody>
      </p:sp>
      <p:sp>
        <p:nvSpPr>
          <p:cNvPr id="14" name="Text 12"/>
          <p:cNvSpPr/>
          <p:nvPr/>
        </p:nvSpPr>
        <p:spPr>
          <a:xfrm>
            <a:off x="6428232" y="2697480"/>
            <a:ext cx="1828800" cy="128016"/>
          </a:xfrm>
          <a:prstGeom prst="rect">
            <a:avLst/>
          </a:prstGeom>
          <a:noFill/>
          <a:ln/>
        </p:spPr>
        <p:txBody>
          <a:bodyPr wrap="square" lIns="0" tIns="0" rIns="0" bIns="0" rtlCol="0" anchor="ctr">
            <a:normAutofit/>
          </a:bodyPr>
          <a:lstStyle/>
          <a:p>
            <a:pPr algn="ctr" indent="0" marL="0">
              <a:buNone/>
            </a:pPr>
            <a:r>
              <a:rPr lang="en-US" sz="850" dirty="0">
                <a:solidFill>
                  <a:srgbClr val="59656F"/>
                </a:solidFill>
              </a:rPr>
              <a:t>capacity + system type</a:t>
            </a:r>
            <a:endParaRPr lang="en-US" sz="850" dirty="0"/>
          </a:p>
        </p:txBody>
      </p:sp>
      <p:sp>
        <p:nvSpPr>
          <p:cNvPr id="15" name="Shape 13"/>
          <p:cNvSpPr/>
          <p:nvPr/>
        </p:nvSpPr>
        <p:spPr>
          <a:xfrm>
            <a:off x="8485632" y="2615184"/>
            <a:ext cx="429768" cy="0"/>
          </a:xfrm>
          <a:prstGeom prst="line">
            <a:avLst/>
          </a:prstGeom>
          <a:noFill/>
          <a:ln w="12700">
            <a:solidFill>
              <a:srgbClr val="E76F51"/>
            </a:solidFill>
            <a:prstDash val="solid"/>
            <a:headEnd type="none"/>
            <a:tailEnd type="triangle"/>
          </a:ln>
        </p:spPr>
      </p:sp>
      <p:sp>
        <p:nvSpPr>
          <p:cNvPr id="16" name="Shape 14"/>
          <p:cNvSpPr/>
          <p:nvPr/>
        </p:nvSpPr>
        <p:spPr>
          <a:xfrm>
            <a:off x="9052560" y="2057400"/>
            <a:ext cx="2148840" cy="1097280"/>
          </a:xfrm>
          <a:prstGeom prst="roundRect">
            <a:avLst>
              <a:gd name="adj" fmla="val 10833"/>
            </a:avLst>
          </a:prstGeom>
          <a:solidFill>
            <a:srgbClr val="FFFFFF"/>
          </a:solidFill>
          <a:ln w="12700">
            <a:solidFill>
              <a:srgbClr val="59656F"/>
            </a:solidFill>
            <a:prstDash val="solid"/>
          </a:ln>
        </p:spPr>
      </p:sp>
      <p:sp>
        <p:nvSpPr>
          <p:cNvPr id="17" name="Text 15"/>
          <p:cNvSpPr/>
          <p:nvPr/>
        </p:nvSpPr>
        <p:spPr>
          <a:xfrm>
            <a:off x="9162288" y="2359152"/>
            <a:ext cx="1920240" cy="201168"/>
          </a:xfrm>
          <a:prstGeom prst="rect">
            <a:avLst/>
          </a:prstGeom>
          <a:noFill/>
          <a:ln/>
        </p:spPr>
        <p:txBody>
          <a:bodyPr wrap="square" lIns="0" tIns="0" rIns="0" bIns="0" rtlCol="0" anchor="ctr"/>
          <a:lstStyle/>
          <a:p>
            <a:pPr algn="ctr" indent="0" marL="0">
              <a:buNone/>
            </a:pPr>
            <a:r>
              <a:rPr lang="en-US" sz="1500" b="1" dirty="0">
                <a:solidFill>
                  <a:srgbClr val="153243"/>
                </a:solidFill>
              </a:rPr>
              <a:t>Operation</a:t>
            </a:r>
            <a:endParaRPr lang="en-US" sz="1500" dirty="0"/>
          </a:p>
        </p:txBody>
      </p:sp>
      <p:sp>
        <p:nvSpPr>
          <p:cNvPr id="18" name="Text 16"/>
          <p:cNvSpPr/>
          <p:nvPr/>
        </p:nvSpPr>
        <p:spPr>
          <a:xfrm>
            <a:off x="9217152" y="2697480"/>
            <a:ext cx="1828800" cy="128016"/>
          </a:xfrm>
          <a:prstGeom prst="rect">
            <a:avLst/>
          </a:prstGeom>
          <a:noFill/>
          <a:ln/>
        </p:spPr>
        <p:txBody>
          <a:bodyPr wrap="square" lIns="0" tIns="0" rIns="0" bIns="0" rtlCol="0" anchor="ctr">
            <a:normAutofit/>
          </a:bodyPr>
          <a:lstStyle/>
          <a:p>
            <a:pPr algn="ctr" indent="0" marL="0">
              <a:buNone/>
            </a:pPr>
            <a:r>
              <a:rPr lang="en-US" sz="850" dirty="0">
                <a:solidFill>
                  <a:srgbClr val="59656F"/>
                </a:solidFill>
              </a:rPr>
              <a:t>comfort + reliability</a:t>
            </a:r>
            <a:endParaRPr lang="en-US" sz="850" dirty="0"/>
          </a:p>
        </p:txBody>
      </p:sp>
      <p:sp>
        <p:nvSpPr>
          <p:cNvPr id="19" name="Shape 17"/>
          <p:cNvSpPr/>
          <p:nvPr/>
        </p:nvSpPr>
        <p:spPr>
          <a:xfrm>
            <a:off x="1005840" y="3977640"/>
            <a:ext cx="9966960" cy="658368"/>
          </a:xfrm>
          <a:prstGeom prst="roundRect">
            <a:avLst>
              <a:gd name="adj" fmla="val 11111"/>
            </a:avLst>
          </a:prstGeom>
          <a:solidFill>
            <a:srgbClr val="E6F4EE"/>
          </a:solidFill>
          <a:ln w="12700">
            <a:solidFill>
              <a:srgbClr val="0B7A75"/>
            </a:solidFill>
            <a:prstDash val="solid"/>
          </a:ln>
        </p:spPr>
      </p:sp>
      <p:sp>
        <p:nvSpPr>
          <p:cNvPr id="20" name="Text 18"/>
          <p:cNvSpPr/>
          <p:nvPr/>
        </p:nvSpPr>
        <p:spPr>
          <a:xfrm>
            <a:off x="1143000" y="4215384"/>
            <a:ext cx="9692640" cy="146304"/>
          </a:xfrm>
          <a:prstGeom prst="rect">
            <a:avLst/>
          </a:prstGeom>
          <a:noFill/>
          <a:ln/>
        </p:spPr>
        <p:txBody>
          <a:bodyPr wrap="square" lIns="0" tIns="0" rIns="0" bIns="0" rtlCol="0" anchor="ctr"/>
          <a:lstStyle/>
          <a:p>
            <a:pPr algn="ctr" indent="0" marL="0">
              <a:buNone/>
            </a:pPr>
            <a:r>
              <a:rPr lang="en-US" sz="1350" b="1" dirty="0">
                <a:solidFill>
                  <a:srgbClr val="153243"/>
                </a:solidFill>
              </a:rPr>
              <a:t>Bad survey → bad load calculation → wrong equipment → comfort and energy problems</a:t>
            </a:r>
            <a:endParaRPr lang="en-US" sz="13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11</a:t>
            </a:fld>
            <a:endParaRPr lang="en-US"/>
          </a:p>
        </p:txBody>
      </p:sp>
      <p:pic>
        <p:nvPicPr>
          <p:cNvPr id="26" name="Picture 25" descr="fig_07_design_workflow_en.png"/>
          <p:cNvPicPr>
            <a:picLocks noChangeAspect="1"/>
          </p:cNvPicPr>
          <p:nvPr/>
        </p:nvPicPr>
        <p:blipFill>
          <a:blip r:embed="rId3"/>
          <a:stretch>
            <a:fillRect/>
          </a:stretch>
        </p:blipFill>
        <p:spPr>
          <a:xfrm>
            <a:off x="3108306" y="1325880"/>
            <a:ext cx="5944906" cy="50749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What must be surveyed?</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Organize inputs into external and internal data.</a:t>
            </a:r>
            <a:endParaRPr lang="en-US" sz="950" dirty="0"/>
          </a:p>
        </p:txBody>
      </p:sp>
      <p:sp>
        <p:nvSpPr>
          <p:cNvPr id="4" name="Shape 2"/>
          <p:cNvSpPr/>
          <p:nvPr/>
        </p:nvSpPr>
        <p:spPr>
          <a:xfrm>
            <a:off x="777240" y="1280160"/>
            <a:ext cx="4983480" cy="3794760"/>
          </a:xfrm>
          <a:prstGeom prst="roundRect">
            <a:avLst>
              <a:gd name="adj" fmla="val 3133"/>
            </a:avLst>
          </a:prstGeom>
          <a:solidFill>
            <a:srgbClr val="FFF1C7"/>
          </a:solidFill>
          <a:ln w="12700">
            <a:solidFill>
              <a:srgbClr val="F2C14E"/>
            </a:solidFill>
            <a:prstDash val="solid"/>
          </a:ln>
        </p:spPr>
      </p:sp>
      <p:sp>
        <p:nvSpPr>
          <p:cNvPr id="5" name="Text 3"/>
          <p:cNvSpPr/>
          <p:nvPr/>
        </p:nvSpPr>
        <p:spPr>
          <a:xfrm>
            <a:off x="1051560" y="1627632"/>
            <a:ext cx="2194560" cy="246888"/>
          </a:xfrm>
          <a:prstGeom prst="rect">
            <a:avLst/>
          </a:prstGeom>
          <a:noFill/>
          <a:ln/>
        </p:spPr>
        <p:txBody>
          <a:bodyPr wrap="square" lIns="0" tIns="0" rIns="0" bIns="0" rtlCol="0" anchor="ctr"/>
          <a:lstStyle/>
          <a:p>
            <a:pPr indent="0" marL="0">
              <a:buNone/>
            </a:pPr>
            <a:r>
              <a:rPr lang="en-US" sz="2000" b="1" dirty="0">
                <a:solidFill>
                  <a:srgbClr val="153243"/>
                </a:solidFill>
              </a:rPr>
              <a:t>External data</a:t>
            </a:r>
            <a:endParaRPr lang="en-US" sz="2000" dirty="0"/>
          </a:p>
        </p:txBody>
      </p:sp>
      <p:sp>
        <p:nvSpPr>
          <p:cNvPr id="6" name="Shape 4"/>
          <p:cNvSpPr/>
          <p:nvPr/>
        </p:nvSpPr>
        <p:spPr>
          <a:xfrm>
            <a:off x="1097280" y="2212848"/>
            <a:ext cx="292608" cy="292608"/>
          </a:xfrm>
          <a:prstGeom prst="ellipse">
            <a:avLst/>
          </a:prstGeom>
          <a:solidFill>
            <a:srgbClr val="E76F51"/>
          </a:solidFill>
          <a:ln w="12700">
            <a:solidFill>
              <a:srgbClr val="E76F51">
                <a:alpha val="0"/>
              </a:srgbClr>
            </a:solidFill>
            <a:prstDash val="solid"/>
          </a:ln>
        </p:spPr>
      </p:sp>
      <p:sp>
        <p:nvSpPr>
          <p:cNvPr id="7" name="Text 5"/>
          <p:cNvSpPr/>
          <p:nvPr/>
        </p:nvSpPr>
        <p:spPr>
          <a:xfrm>
            <a:off x="1179576" y="2276856"/>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8" name="Shape 6"/>
          <p:cNvSpPr/>
          <p:nvPr/>
        </p:nvSpPr>
        <p:spPr>
          <a:xfrm>
            <a:off x="1444752" y="2199132"/>
            <a:ext cx="2286000" cy="329184"/>
          </a:xfrm>
          <a:prstGeom prst="roundRect">
            <a:avLst>
              <a:gd name="adj" fmla="val 13889"/>
            </a:avLst>
          </a:prstGeom>
          <a:solidFill>
            <a:srgbClr val="FFFFFF">
              <a:alpha val="94000"/>
            </a:srgbClr>
          </a:solidFill>
          <a:ln w="12700">
            <a:solidFill>
              <a:srgbClr val="E76F51"/>
            </a:solidFill>
            <a:prstDash val="solid"/>
          </a:ln>
        </p:spPr>
      </p:sp>
      <p:sp>
        <p:nvSpPr>
          <p:cNvPr id="9" name="Text 7"/>
          <p:cNvSpPr/>
          <p:nvPr/>
        </p:nvSpPr>
        <p:spPr>
          <a:xfrm>
            <a:off x="1554480" y="2281428"/>
            <a:ext cx="210312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location + latitude</a:t>
            </a:r>
            <a:endParaRPr lang="en-US" sz="850" dirty="0"/>
          </a:p>
        </p:txBody>
      </p:sp>
      <p:sp>
        <p:nvSpPr>
          <p:cNvPr id="10" name="Shape 8"/>
          <p:cNvSpPr/>
          <p:nvPr/>
        </p:nvSpPr>
        <p:spPr>
          <a:xfrm>
            <a:off x="1097280" y="2779776"/>
            <a:ext cx="292608" cy="292608"/>
          </a:xfrm>
          <a:prstGeom prst="ellipse">
            <a:avLst/>
          </a:prstGeom>
          <a:solidFill>
            <a:srgbClr val="E76F51"/>
          </a:solidFill>
          <a:ln w="12700">
            <a:solidFill>
              <a:srgbClr val="E76F51">
                <a:alpha val="0"/>
              </a:srgbClr>
            </a:solidFill>
            <a:prstDash val="solid"/>
          </a:ln>
        </p:spPr>
      </p:sp>
      <p:sp>
        <p:nvSpPr>
          <p:cNvPr id="11" name="Text 9"/>
          <p:cNvSpPr/>
          <p:nvPr/>
        </p:nvSpPr>
        <p:spPr>
          <a:xfrm>
            <a:off x="1179576" y="2843784"/>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2</a:t>
            </a:r>
            <a:endParaRPr lang="en-US" sz="850" dirty="0"/>
          </a:p>
        </p:txBody>
      </p:sp>
      <p:sp>
        <p:nvSpPr>
          <p:cNvPr id="12" name="Shape 10"/>
          <p:cNvSpPr/>
          <p:nvPr/>
        </p:nvSpPr>
        <p:spPr>
          <a:xfrm>
            <a:off x="1444752" y="2766060"/>
            <a:ext cx="2286000" cy="329184"/>
          </a:xfrm>
          <a:prstGeom prst="roundRect">
            <a:avLst>
              <a:gd name="adj" fmla="val 13889"/>
            </a:avLst>
          </a:prstGeom>
          <a:solidFill>
            <a:srgbClr val="FFFFFF">
              <a:alpha val="94000"/>
            </a:srgbClr>
          </a:solidFill>
          <a:ln w="12700">
            <a:solidFill>
              <a:srgbClr val="E76F51"/>
            </a:solidFill>
            <a:prstDash val="solid"/>
          </a:ln>
        </p:spPr>
      </p:sp>
      <p:sp>
        <p:nvSpPr>
          <p:cNvPr id="13" name="Text 11"/>
          <p:cNvSpPr/>
          <p:nvPr/>
        </p:nvSpPr>
        <p:spPr>
          <a:xfrm>
            <a:off x="1554480" y="2848356"/>
            <a:ext cx="210312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orientation</a:t>
            </a:r>
            <a:endParaRPr lang="en-US" sz="850" dirty="0"/>
          </a:p>
        </p:txBody>
      </p:sp>
      <p:sp>
        <p:nvSpPr>
          <p:cNvPr id="14" name="Shape 12"/>
          <p:cNvSpPr/>
          <p:nvPr/>
        </p:nvSpPr>
        <p:spPr>
          <a:xfrm>
            <a:off x="1097280" y="3346704"/>
            <a:ext cx="292608" cy="292608"/>
          </a:xfrm>
          <a:prstGeom prst="ellipse">
            <a:avLst/>
          </a:prstGeom>
          <a:solidFill>
            <a:srgbClr val="E76F51"/>
          </a:solidFill>
          <a:ln w="12700">
            <a:solidFill>
              <a:srgbClr val="E76F51">
                <a:alpha val="0"/>
              </a:srgbClr>
            </a:solidFill>
            <a:prstDash val="solid"/>
          </a:ln>
        </p:spPr>
      </p:sp>
      <p:sp>
        <p:nvSpPr>
          <p:cNvPr id="15" name="Text 13"/>
          <p:cNvSpPr/>
          <p:nvPr/>
        </p:nvSpPr>
        <p:spPr>
          <a:xfrm>
            <a:off x="1179576" y="3410712"/>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3</a:t>
            </a:r>
            <a:endParaRPr lang="en-US" sz="850" dirty="0"/>
          </a:p>
        </p:txBody>
      </p:sp>
      <p:sp>
        <p:nvSpPr>
          <p:cNvPr id="16" name="Shape 14"/>
          <p:cNvSpPr/>
          <p:nvPr/>
        </p:nvSpPr>
        <p:spPr>
          <a:xfrm>
            <a:off x="1444752" y="3332988"/>
            <a:ext cx="2286000" cy="329184"/>
          </a:xfrm>
          <a:prstGeom prst="roundRect">
            <a:avLst>
              <a:gd name="adj" fmla="val 13889"/>
            </a:avLst>
          </a:prstGeom>
          <a:solidFill>
            <a:srgbClr val="FFFFFF">
              <a:alpha val="94000"/>
            </a:srgbClr>
          </a:solidFill>
          <a:ln w="12700">
            <a:solidFill>
              <a:srgbClr val="E76F51"/>
            </a:solidFill>
            <a:prstDash val="solid"/>
          </a:ln>
        </p:spPr>
      </p:sp>
      <p:sp>
        <p:nvSpPr>
          <p:cNvPr id="17" name="Text 15"/>
          <p:cNvSpPr/>
          <p:nvPr/>
        </p:nvSpPr>
        <p:spPr>
          <a:xfrm>
            <a:off x="1554480" y="3415284"/>
            <a:ext cx="210312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shading / surroundings</a:t>
            </a:r>
            <a:endParaRPr lang="en-US" sz="850" dirty="0"/>
          </a:p>
        </p:txBody>
      </p:sp>
      <p:sp>
        <p:nvSpPr>
          <p:cNvPr id="18" name="Shape 16"/>
          <p:cNvSpPr/>
          <p:nvPr/>
        </p:nvSpPr>
        <p:spPr>
          <a:xfrm>
            <a:off x="1097280" y="3913632"/>
            <a:ext cx="292608" cy="292608"/>
          </a:xfrm>
          <a:prstGeom prst="ellipse">
            <a:avLst/>
          </a:prstGeom>
          <a:solidFill>
            <a:srgbClr val="E76F51"/>
          </a:solidFill>
          <a:ln w="12700">
            <a:solidFill>
              <a:srgbClr val="E76F51">
                <a:alpha val="0"/>
              </a:srgbClr>
            </a:solidFill>
            <a:prstDash val="solid"/>
          </a:ln>
        </p:spPr>
      </p:sp>
      <p:sp>
        <p:nvSpPr>
          <p:cNvPr id="19" name="Text 17"/>
          <p:cNvSpPr/>
          <p:nvPr/>
        </p:nvSpPr>
        <p:spPr>
          <a:xfrm>
            <a:off x="1179576" y="3977640"/>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4</a:t>
            </a:r>
            <a:endParaRPr lang="en-US" sz="850" dirty="0"/>
          </a:p>
        </p:txBody>
      </p:sp>
      <p:sp>
        <p:nvSpPr>
          <p:cNvPr id="20" name="Shape 18"/>
          <p:cNvSpPr/>
          <p:nvPr/>
        </p:nvSpPr>
        <p:spPr>
          <a:xfrm>
            <a:off x="1444752" y="3899916"/>
            <a:ext cx="2286000" cy="329184"/>
          </a:xfrm>
          <a:prstGeom prst="roundRect">
            <a:avLst>
              <a:gd name="adj" fmla="val 13889"/>
            </a:avLst>
          </a:prstGeom>
          <a:solidFill>
            <a:srgbClr val="FFFFFF">
              <a:alpha val="94000"/>
            </a:srgbClr>
          </a:solidFill>
          <a:ln w="12700">
            <a:solidFill>
              <a:srgbClr val="E76F51"/>
            </a:solidFill>
            <a:prstDash val="solid"/>
          </a:ln>
        </p:spPr>
      </p:sp>
      <p:sp>
        <p:nvSpPr>
          <p:cNvPr id="21" name="Text 19"/>
          <p:cNvSpPr/>
          <p:nvPr/>
        </p:nvSpPr>
        <p:spPr>
          <a:xfrm>
            <a:off x="1554480" y="3982212"/>
            <a:ext cx="210312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walls, roof, glazing</a:t>
            </a:r>
            <a:endParaRPr lang="en-US" sz="850" dirty="0"/>
          </a:p>
        </p:txBody>
      </p:sp>
      <p:sp>
        <p:nvSpPr>
          <p:cNvPr id="22" name="Shape 20"/>
          <p:cNvSpPr/>
          <p:nvPr/>
        </p:nvSpPr>
        <p:spPr>
          <a:xfrm>
            <a:off x="6400800" y="1280160"/>
            <a:ext cx="4983480" cy="3794760"/>
          </a:xfrm>
          <a:prstGeom prst="roundRect">
            <a:avLst>
              <a:gd name="adj" fmla="val 3133"/>
            </a:avLst>
          </a:prstGeom>
          <a:solidFill>
            <a:srgbClr val="E6F4EE"/>
          </a:solidFill>
          <a:ln w="12700">
            <a:solidFill>
              <a:srgbClr val="0B7A75"/>
            </a:solidFill>
            <a:prstDash val="solid"/>
          </a:ln>
        </p:spPr>
      </p:sp>
      <p:sp>
        <p:nvSpPr>
          <p:cNvPr id="23" name="Text 21"/>
          <p:cNvSpPr/>
          <p:nvPr/>
        </p:nvSpPr>
        <p:spPr>
          <a:xfrm>
            <a:off x="6675120" y="1627632"/>
            <a:ext cx="2194560" cy="246888"/>
          </a:xfrm>
          <a:prstGeom prst="rect">
            <a:avLst/>
          </a:prstGeom>
          <a:noFill/>
          <a:ln/>
        </p:spPr>
        <p:txBody>
          <a:bodyPr wrap="square" lIns="0" tIns="0" rIns="0" bIns="0" rtlCol="0" anchor="ctr"/>
          <a:lstStyle/>
          <a:p>
            <a:pPr indent="0" marL="0">
              <a:buNone/>
            </a:pPr>
            <a:r>
              <a:rPr lang="en-US" sz="2000" b="1" dirty="0">
                <a:solidFill>
                  <a:srgbClr val="153243"/>
                </a:solidFill>
              </a:rPr>
              <a:t>Internal data</a:t>
            </a:r>
            <a:endParaRPr lang="en-US" sz="2000" dirty="0"/>
          </a:p>
        </p:txBody>
      </p:sp>
      <p:sp>
        <p:nvSpPr>
          <p:cNvPr id="24" name="Shape 22"/>
          <p:cNvSpPr/>
          <p:nvPr/>
        </p:nvSpPr>
        <p:spPr>
          <a:xfrm>
            <a:off x="6720840" y="2212848"/>
            <a:ext cx="292608" cy="292608"/>
          </a:xfrm>
          <a:prstGeom prst="ellipse">
            <a:avLst/>
          </a:prstGeom>
          <a:solidFill>
            <a:srgbClr val="0B7A75"/>
          </a:solidFill>
          <a:ln w="12700">
            <a:solidFill>
              <a:srgbClr val="0B7A75">
                <a:alpha val="0"/>
              </a:srgbClr>
            </a:solidFill>
            <a:prstDash val="solid"/>
          </a:ln>
        </p:spPr>
      </p:sp>
      <p:sp>
        <p:nvSpPr>
          <p:cNvPr id="25" name="Text 23"/>
          <p:cNvSpPr/>
          <p:nvPr/>
        </p:nvSpPr>
        <p:spPr>
          <a:xfrm>
            <a:off x="6803136" y="2276856"/>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26" name="Shape 24"/>
          <p:cNvSpPr/>
          <p:nvPr/>
        </p:nvSpPr>
        <p:spPr>
          <a:xfrm>
            <a:off x="7068312" y="2199132"/>
            <a:ext cx="2377440" cy="329184"/>
          </a:xfrm>
          <a:prstGeom prst="roundRect">
            <a:avLst>
              <a:gd name="adj" fmla="val 13889"/>
            </a:avLst>
          </a:prstGeom>
          <a:solidFill>
            <a:srgbClr val="FFFFFF">
              <a:alpha val="94000"/>
            </a:srgbClr>
          </a:solidFill>
          <a:ln w="12700">
            <a:solidFill>
              <a:srgbClr val="0B7A75"/>
            </a:solidFill>
            <a:prstDash val="solid"/>
          </a:ln>
        </p:spPr>
      </p:sp>
      <p:sp>
        <p:nvSpPr>
          <p:cNvPr id="27" name="Text 25"/>
          <p:cNvSpPr/>
          <p:nvPr/>
        </p:nvSpPr>
        <p:spPr>
          <a:xfrm>
            <a:off x="7178040" y="2281428"/>
            <a:ext cx="21945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area + volume</a:t>
            </a:r>
            <a:endParaRPr lang="en-US" sz="850" dirty="0"/>
          </a:p>
        </p:txBody>
      </p:sp>
      <p:sp>
        <p:nvSpPr>
          <p:cNvPr id="28" name="Shape 26"/>
          <p:cNvSpPr/>
          <p:nvPr/>
        </p:nvSpPr>
        <p:spPr>
          <a:xfrm>
            <a:off x="6720840" y="2779776"/>
            <a:ext cx="292608" cy="292608"/>
          </a:xfrm>
          <a:prstGeom prst="ellipse">
            <a:avLst/>
          </a:prstGeom>
          <a:solidFill>
            <a:srgbClr val="0B7A75"/>
          </a:solidFill>
          <a:ln w="12700">
            <a:solidFill>
              <a:srgbClr val="0B7A75">
                <a:alpha val="0"/>
              </a:srgbClr>
            </a:solidFill>
            <a:prstDash val="solid"/>
          </a:ln>
        </p:spPr>
      </p:sp>
      <p:sp>
        <p:nvSpPr>
          <p:cNvPr id="29" name="Text 27"/>
          <p:cNvSpPr/>
          <p:nvPr/>
        </p:nvSpPr>
        <p:spPr>
          <a:xfrm>
            <a:off x="6803136" y="2843784"/>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2</a:t>
            </a:r>
            <a:endParaRPr lang="en-US" sz="850" dirty="0"/>
          </a:p>
        </p:txBody>
      </p:sp>
      <p:sp>
        <p:nvSpPr>
          <p:cNvPr id="30" name="Shape 28"/>
          <p:cNvSpPr/>
          <p:nvPr/>
        </p:nvSpPr>
        <p:spPr>
          <a:xfrm>
            <a:off x="7068312" y="2766060"/>
            <a:ext cx="2377440" cy="329184"/>
          </a:xfrm>
          <a:prstGeom prst="roundRect">
            <a:avLst>
              <a:gd name="adj" fmla="val 13889"/>
            </a:avLst>
          </a:prstGeom>
          <a:solidFill>
            <a:srgbClr val="FFFFFF">
              <a:alpha val="94000"/>
            </a:srgbClr>
          </a:solidFill>
          <a:ln w="12700">
            <a:solidFill>
              <a:srgbClr val="0B7A75"/>
            </a:solidFill>
            <a:prstDash val="solid"/>
          </a:ln>
        </p:spPr>
      </p:sp>
      <p:sp>
        <p:nvSpPr>
          <p:cNvPr id="31" name="Text 29"/>
          <p:cNvSpPr/>
          <p:nvPr/>
        </p:nvSpPr>
        <p:spPr>
          <a:xfrm>
            <a:off x="7178040" y="2848356"/>
            <a:ext cx="21945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occupants + activity</a:t>
            </a:r>
            <a:endParaRPr lang="en-US" sz="850" dirty="0"/>
          </a:p>
        </p:txBody>
      </p:sp>
      <p:sp>
        <p:nvSpPr>
          <p:cNvPr id="32" name="Shape 30"/>
          <p:cNvSpPr/>
          <p:nvPr/>
        </p:nvSpPr>
        <p:spPr>
          <a:xfrm>
            <a:off x="6720840" y="3346704"/>
            <a:ext cx="292608" cy="292608"/>
          </a:xfrm>
          <a:prstGeom prst="ellipse">
            <a:avLst/>
          </a:prstGeom>
          <a:solidFill>
            <a:srgbClr val="0B7A75"/>
          </a:solidFill>
          <a:ln w="12700">
            <a:solidFill>
              <a:srgbClr val="0B7A75">
                <a:alpha val="0"/>
              </a:srgbClr>
            </a:solidFill>
            <a:prstDash val="solid"/>
          </a:ln>
        </p:spPr>
      </p:sp>
      <p:sp>
        <p:nvSpPr>
          <p:cNvPr id="33" name="Text 31"/>
          <p:cNvSpPr/>
          <p:nvPr/>
        </p:nvSpPr>
        <p:spPr>
          <a:xfrm>
            <a:off x="6803136" y="3410712"/>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3</a:t>
            </a:r>
            <a:endParaRPr lang="en-US" sz="850" dirty="0"/>
          </a:p>
        </p:txBody>
      </p:sp>
      <p:sp>
        <p:nvSpPr>
          <p:cNvPr id="34" name="Shape 32"/>
          <p:cNvSpPr/>
          <p:nvPr/>
        </p:nvSpPr>
        <p:spPr>
          <a:xfrm>
            <a:off x="7068312" y="3332988"/>
            <a:ext cx="2377440" cy="329184"/>
          </a:xfrm>
          <a:prstGeom prst="roundRect">
            <a:avLst>
              <a:gd name="adj" fmla="val 13889"/>
            </a:avLst>
          </a:prstGeom>
          <a:solidFill>
            <a:srgbClr val="FFFFFF">
              <a:alpha val="94000"/>
            </a:srgbClr>
          </a:solidFill>
          <a:ln w="12700">
            <a:solidFill>
              <a:srgbClr val="0B7A75"/>
            </a:solidFill>
            <a:prstDash val="solid"/>
          </a:ln>
        </p:spPr>
      </p:sp>
      <p:sp>
        <p:nvSpPr>
          <p:cNvPr id="35" name="Text 33"/>
          <p:cNvSpPr/>
          <p:nvPr/>
        </p:nvSpPr>
        <p:spPr>
          <a:xfrm>
            <a:off x="7178040" y="3415284"/>
            <a:ext cx="21945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lighting density</a:t>
            </a:r>
            <a:endParaRPr lang="en-US" sz="850" dirty="0"/>
          </a:p>
        </p:txBody>
      </p:sp>
      <p:sp>
        <p:nvSpPr>
          <p:cNvPr id="36" name="Shape 34"/>
          <p:cNvSpPr/>
          <p:nvPr/>
        </p:nvSpPr>
        <p:spPr>
          <a:xfrm>
            <a:off x="6720840" y="3913632"/>
            <a:ext cx="292608" cy="292608"/>
          </a:xfrm>
          <a:prstGeom prst="ellipse">
            <a:avLst/>
          </a:prstGeom>
          <a:solidFill>
            <a:srgbClr val="0B7A75"/>
          </a:solidFill>
          <a:ln w="12700">
            <a:solidFill>
              <a:srgbClr val="0B7A75">
                <a:alpha val="0"/>
              </a:srgbClr>
            </a:solidFill>
            <a:prstDash val="solid"/>
          </a:ln>
        </p:spPr>
      </p:sp>
      <p:sp>
        <p:nvSpPr>
          <p:cNvPr id="37" name="Text 35"/>
          <p:cNvSpPr/>
          <p:nvPr/>
        </p:nvSpPr>
        <p:spPr>
          <a:xfrm>
            <a:off x="6803136" y="3977640"/>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4</a:t>
            </a:r>
            <a:endParaRPr lang="en-US" sz="850" dirty="0"/>
          </a:p>
        </p:txBody>
      </p:sp>
      <p:sp>
        <p:nvSpPr>
          <p:cNvPr id="38" name="Shape 36"/>
          <p:cNvSpPr/>
          <p:nvPr/>
        </p:nvSpPr>
        <p:spPr>
          <a:xfrm>
            <a:off x="7068312" y="3899916"/>
            <a:ext cx="2377440" cy="329184"/>
          </a:xfrm>
          <a:prstGeom prst="roundRect">
            <a:avLst>
              <a:gd name="adj" fmla="val 13889"/>
            </a:avLst>
          </a:prstGeom>
          <a:solidFill>
            <a:srgbClr val="FFFFFF">
              <a:alpha val="94000"/>
            </a:srgbClr>
          </a:solidFill>
          <a:ln w="12700">
            <a:solidFill>
              <a:srgbClr val="0B7A75"/>
            </a:solidFill>
            <a:prstDash val="solid"/>
          </a:ln>
        </p:spPr>
      </p:sp>
      <p:sp>
        <p:nvSpPr>
          <p:cNvPr id="39" name="Text 37"/>
          <p:cNvSpPr/>
          <p:nvPr/>
        </p:nvSpPr>
        <p:spPr>
          <a:xfrm>
            <a:off x="7178040" y="3982212"/>
            <a:ext cx="21945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equipment + schedule</a:t>
            </a:r>
            <a:endParaRPr lang="en-US" sz="850" dirty="0"/>
          </a:p>
        </p:txBody>
      </p:sp>
      <p:sp>
        <p:nvSpPr>
          <p:cNvPr id="40" name="Text 38"/>
          <p:cNvSpPr/>
          <p:nvPr/>
        </p:nvSpPr>
        <p:spPr>
          <a:xfrm>
            <a:off x="1143000" y="5413248"/>
            <a:ext cx="9875520" cy="256032"/>
          </a:xfrm>
          <a:prstGeom prst="rect">
            <a:avLst/>
          </a:prstGeom>
          <a:noFill/>
          <a:ln/>
        </p:spPr>
        <p:txBody>
          <a:bodyPr wrap="square" lIns="0" tIns="0" rIns="0" bIns="0" rtlCol="0" anchor="ctr"/>
          <a:lstStyle/>
          <a:p>
            <a:pPr algn="ctr" indent="0" marL="0">
              <a:buNone/>
            </a:pPr>
            <a:r>
              <a:rPr lang="en-US" sz="1700" b="1" dirty="0">
                <a:solidFill>
                  <a:srgbClr val="153243"/>
                </a:solidFill>
              </a:rPr>
              <a:t>Survey data are not paperwork — they are boundary conditions for engineering calculation.</a:t>
            </a:r>
            <a:endParaRPr lang="en-US" sz="17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12</a:t>
            </a:fld>
            <a:endParaRPr lang="en-US"/>
          </a:p>
        </p:txBody>
      </p:sp>
      <p:pic>
        <p:nvPicPr>
          <p:cNvPr id="41" name="Picture 40" descr="fig_04_circulation_compare_en.png"/>
          <p:cNvPicPr>
            <a:picLocks noChangeAspect="1"/>
          </p:cNvPicPr>
          <p:nvPr/>
        </p:nvPicPr>
        <p:blipFill>
          <a:blip r:embed="rId3"/>
          <a:stretch>
            <a:fillRect/>
          </a:stretch>
        </p:blipFill>
        <p:spPr>
          <a:xfrm>
            <a:off x="1477925" y="1325880"/>
            <a:ext cx="9205668" cy="50749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This course focuses on cooling-mode AC in Thailand</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Scope the textbook/course so students know what is included and excluded.</a:t>
            </a:r>
            <a:endParaRPr lang="en-US" sz="950" dirty="0"/>
          </a:p>
        </p:txBody>
      </p:sp>
      <p:sp>
        <p:nvSpPr>
          <p:cNvPr id="4" name="Shape 2"/>
          <p:cNvSpPr/>
          <p:nvPr/>
        </p:nvSpPr>
        <p:spPr>
          <a:xfrm>
            <a:off x="822960" y="1280160"/>
            <a:ext cx="4480560" cy="3794760"/>
          </a:xfrm>
          <a:prstGeom prst="rect">
            <a:avLst/>
          </a:prstGeom>
          <a:solidFill>
            <a:srgbClr val="FCE8DF"/>
          </a:solidFill>
          <a:ln w="12700">
            <a:solidFill>
              <a:srgbClr val="E76F51"/>
            </a:solidFill>
            <a:prstDash val="solid"/>
          </a:ln>
        </p:spPr>
      </p:sp>
      <p:sp>
        <p:nvSpPr>
          <p:cNvPr id="5" name="Text 3"/>
          <p:cNvSpPr/>
          <p:nvPr/>
        </p:nvSpPr>
        <p:spPr>
          <a:xfrm>
            <a:off x="1115568" y="1627632"/>
            <a:ext cx="2651760" cy="256032"/>
          </a:xfrm>
          <a:prstGeom prst="rect">
            <a:avLst/>
          </a:prstGeom>
          <a:noFill/>
          <a:ln/>
        </p:spPr>
        <p:txBody>
          <a:bodyPr wrap="square" lIns="0" tIns="0" rIns="0" bIns="0" rtlCol="0" anchor="ctr"/>
          <a:lstStyle/>
          <a:p>
            <a:pPr indent="0" marL="0">
              <a:buNone/>
            </a:pPr>
            <a:r>
              <a:rPr lang="en-US" sz="2100" b="1" dirty="0">
                <a:solidFill>
                  <a:srgbClr val="153243"/>
                </a:solidFill>
              </a:rPr>
              <a:t>Thailand context</a:t>
            </a:r>
            <a:endParaRPr lang="en-US" sz="2100" dirty="0"/>
          </a:p>
        </p:txBody>
      </p:sp>
      <p:sp>
        <p:nvSpPr>
          <p:cNvPr id="6" name="Text 4"/>
          <p:cNvSpPr/>
          <p:nvPr/>
        </p:nvSpPr>
        <p:spPr>
          <a:xfrm>
            <a:off x="1170432" y="2331720"/>
            <a:ext cx="3566160" cy="914400"/>
          </a:xfrm>
          <a:prstGeom prst="rect">
            <a:avLst/>
          </a:prstGeom>
          <a:noFill/>
          <a:ln/>
        </p:spPr>
        <p:txBody>
          <a:bodyPr wrap="square" lIns="0" tIns="0" rIns="0" bIns="0" rtlCol="0" anchor="ctr">
            <a:normAutofit/>
          </a:bodyPr>
          <a:lstStyle/>
          <a:p>
            <a:pPr indent="0" marL="0">
              <a:buNone/>
            </a:pPr>
            <a:r>
              <a:rPr lang="en-US" sz="2100" b="1" dirty="0">
                <a:solidFill>
                  <a:srgbClr val="E76F51"/>
                </a:solidFill>
              </a:rPr>
              <a:t>High outdoor temperature</a:t>
            </a:r>
            <a:endParaRPr lang="en-US" sz="2100" dirty="0"/>
          </a:p>
          <a:p>
            <a:pPr indent="0" marL="0">
              <a:buNone/>
            </a:pPr>
            <a:r>
              <a:rPr lang="en-US" sz="2100" b="1" dirty="0">
                <a:solidFill>
                  <a:srgbClr val="E76F51"/>
                </a:solidFill>
              </a:rPr>
              <a:t>+ high humidity</a:t>
            </a:r>
            <a:endParaRPr lang="en-US" sz="2100" dirty="0"/>
          </a:p>
          <a:p>
            <a:pPr indent="0" marL="0">
              <a:buNone/>
            </a:pPr>
            <a:r>
              <a:rPr lang="en-US" sz="2100" b="1" dirty="0">
                <a:solidFill>
                  <a:srgbClr val="E76F51"/>
                </a:solidFill>
              </a:rPr>
              <a:t>+ cooling demand dominates</a:t>
            </a:r>
            <a:endParaRPr lang="en-US" sz="2100" dirty="0"/>
          </a:p>
        </p:txBody>
      </p:sp>
      <p:sp>
        <p:nvSpPr>
          <p:cNvPr id="7" name="Shape 5"/>
          <p:cNvSpPr/>
          <p:nvPr/>
        </p:nvSpPr>
        <p:spPr>
          <a:xfrm>
            <a:off x="6400800" y="1554480"/>
            <a:ext cx="4389120" cy="2423160"/>
          </a:xfrm>
          <a:prstGeom prst="cloud">
            <a:avLst/>
          </a:prstGeom>
          <a:solidFill>
            <a:srgbClr val="DDECF0"/>
          </a:solidFill>
          <a:ln w="12700">
            <a:solidFill>
              <a:srgbClr val="4A90A4"/>
            </a:solidFill>
            <a:prstDash val="solid"/>
          </a:ln>
        </p:spPr>
      </p:sp>
      <p:sp>
        <p:nvSpPr>
          <p:cNvPr id="8" name="Text 6"/>
          <p:cNvSpPr/>
          <p:nvPr/>
        </p:nvSpPr>
        <p:spPr>
          <a:xfrm>
            <a:off x="6858000" y="2240280"/>
            <a:ext cx="3474720" cy="685800"/>
          </a:xfrm>
          <a:prstGeom prst="rect">
            <a:avLst/>
          </a:prstGeom>
          <a:noFill/>
          <a:ln/>
        </p:spPr>
        <p:txBody>
          <a:bodyPr wrap="square" lIns="0" tIns="0" rIns="0" bIns="0" rtlCol="0" anchor="ctr">
            <a:normAutofit/>
          </a:bodyPr>
          <a:lstStyle/>
          <a:p>
            <a:pPr algn="ctr" indent="0" marL="0">
              <a:buNone/>
            </a:pPr>
            <a:r>
              <a:rPr lang="en-US" sz="2400" b="1" dirty="0">
                <a:solidFill>
                  <a:srgbClr val="153243"/>
                </a:solidFill>
              </a:rPr>
              <a:t>Main action:</a:t>
            </a:r>
            <a:endParaRPr lang="en-US" sz="2400" dirty="0"/>
          </a:p>
          <a:p>
            <a:pPr algn="ctr" indent="0" marL="0">
              <a:buNone/>
            </a:pPr>
            <a:r>
              <a:rPr lang="en-US" sz="2400" b="1" dirty="0">
                <a:solidFill>
                  <a:srgbClr val="153243"/>
                </a:solidFill>
              </a:rPr>
              <a:t>remove heat + moisture</a:t>
            </a:r>
            <a:endParaRPr lang="en-US" sz="2400" dirty="0"/>
          </a:p>
        </p:txBody>
      </p:sp>
      <p:sp>
        <p:nvSpPr>
          <p:cNvPr id="9" name="Shape 7"/>
          <p:cNvSpPr/>
          <p:nvPr/>
        </p:nvSpPr>
        <p:spPr>
          <a:xfrm>
            <a:off x="5394960" y="3154680"/>
            <a:ext cx="1097280" cy="-365760"/>
          </a:xfrm>
          <a:prstGeom prst="line">
            <a:avLst/>
          </a:prstGeom>
          <a:noFill/>
          <a:ln w="12700">
            <a:solidFill>
              <a:srgbClr val="E76F51"/>
            </a:solidFill>
            <a:prstDash val="solid"/>
            <a:headEnd type="none"/>
            <a:tailEnd type="triangle"/>
          </a:ln>
        </p:spPr>
      </p:sp>
      <p:sp>
        <p:nvSpPr>
          <p:cNvPr id="10" name="Text 8"/>
          <p:cNvSpPr/>
          <p:nvPr/>
        </p:nvSpPr>
        <p:spPr>
          <a:xfrm>
            <a:off x="1188720" y="5413248"/>
            <a:ext cx="9875520" cy="237744"/>
          </a:xfrm>
          <a:prstGeom prst="rect">
            <a:avLst/>
          </a:prstGeom>
          <a:noFill/>
          <a:ln/>
        </p:spPr>
        <p:txBody>
          <a:bodyPr wrap="square" lIns="0" tIns="0" rIns="0" bIns="0" rtlCol="0" anchor="ctr"/>
          <a:lstStyle/>
          <a:p>
            <a:pPr algn="ctr" indent="0" marL="0">
              <a:buNone/>
            </a:pPr>
            <a:r>
              <a:rPr lang="en-US" sz="1600" b="1" dirty="0">
                <a:solidFill>
                  <a:srgbClr val="153243"/>
                </a:solidFill>
              </a:rPr>
              <a:t>Heating systems for cold climates are outside this course scope.</a:t>
            </a:r>
            <a:endParaRPr lang="en-US" sz="16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Pause question: which parameter controls the problem?</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Use this as an interactive slide before summarizing.</a:t>
            </a:r>
            <a:endParaRPr lang="en-US" sz="950" dirty="0"/>
          </a:p>
        </p:txBody>
      </p:sp>
      <p:sp>
        <p:nvSpPr>
          <p:cNvPr id="4" name="Shape 2"/>
          <p:cNvSpPr/>
          <p:nvPr/>
        </p:nvSpPr>
        <p:spPr>
          <a:xfrm>
            <a:off x="777240" y="1234440"/>
            <a:ext cx="6583680" cy="676656"/>
          </a:xfrm>
          <a:prstGeom prst="roundRect">
            <a:avLst>
              <a:gd name="adj" fmla="val 10811"/>
            </a:avLst>
          </a:prstGeom>
          <a:solidFill>
            <a:srgbClr val="FFFFFF"/>
          </a:solidFill>
          <a:ln w="12700">
            <a:solidFill>
              <a:srgbClr val="D8D0C6"/>
            </a:solidFill>
            <a:prstDash val="solid"/>
          </a:ln>
        </p:spPr>
      </p:sp>
      <p:sp>
        <p:nvSpPr>
          <p:cNvPr id="5" name="Text 3"/>
          <p:cNvSpPr/>
          <p:nvPr/>
        </p:nvSpPr>
        <p:spPr>
          <a:xfrm>
            <a:off x="987552" y="1435608"/>
            <a:ext cx="6080760" cy="164592"/>
          </a:xfrm>
          <a:prstGeom prst="rect">
            <a:avLst/>
          </a:prstGeom>
          <a:noFill/>
          <a:ln/>
        </p:spPr>
        <p:txBody>
          <a:bodyPr wrap="square" lIns="0" tIns="0" rIns="0" bIns="0" rtlCol="0" anchor="ctr">
            <a:normAutofit/>
          </a:bodyPr>
          <a:lstStyle/>
          <a:p>
            <a:pPr indent="0" marL="0">
              <a:buNone/>
            </a:pPr>
            <a:r>
              <a:rPr lang="en-US" sz="1300" b="1" dirty="0">
                <a:solidFill>
                  <a:srgbClr val="17212B"/>
                </a:solidFill>
              </a:rPr>
              <a:t>A classroom is 25 °C but students feel sticky.</a:t>
            </a:r>
            <a:endParaRPr lang="en-US" sz="1300" dirty="0"/>
          </a:p>
        </p:txBody>
      </p:sp>
      <p:sp>
        <p:nvSpPr>
          <p:cNvPr id="6" name="Shape 4"/>
          <p:cNvSpPr/>
          <p:nvPr/>
        </p:nvSpPr>
        <p:spPr>
          <a:xfrm>
            <a:off x="7635240" y="1234440"/>
            <a:ext cx="3246120" cy="676656"/>
          </a:xfrm>
          <a:prstGeom prst="roundRect">
            <a:avLst>
              <a:gd name="adj" fmla="val 10811"/>
            </a:avLst>
          </a:prstGeom>
          <a:solidFill>
            <a:srgbClr val="DDECF0"/>
          </a:solidFill>
          <a:ln w="12700">
            <a:solidFill>
              <a:srgbClr val="4A90A4"/>
            </a:solidFill>
            <a:prstDash val="solid"/>
          </a:ln>
        </p:spPr>
      </p:sp>
      <p:sp>
        <p:nvSpPr>
          <p:cNvPr id="7" name="Text 5"/>
          <p:cNvSpPr/>
          <p:nvPr/>
        </p:nvSpPr>
        <p:spPr>
          <a:xfrm>
            <a:off x="7818120" y="1435608"/>
            <a:ext cx="2880360" cy="164592"/>
          </a:xfrm>
          <a:prstGeom prst="rect">
            <a:avLst/>
          </a:prstGeom>
          <a:noFill/>
          <a:ln/>
        </p:spPr>
        <p:txBody>
          <a:bodyPr wrap="square" lIns="0" tIns="0" rIns="0" bIns="0" rtlCol="0" anchor="ctr">
            <a:normAutofit/>
          </a:bodyPr>
          <a:lstStyle/>
          <a:p>
            <a:pPr algn="ctr" indent="0" marL="0">
              <a:buNone/>
            </a:pPr>
            <a:r>
              <a:rPr lang="en-US" sz="1230" b="1" dirty="0">
                <a:solidFill>
                  <a:srgbClr val="153243"/>
                </a:solidFill>
              </a:rPr>
              <a:t>Humidity / air motion</a:t>
            </a:r>
            <a:endParaRPr lang="en-US" sz="1230" dirty="0"/>
          </a:p>
        </p:txBody>
      </p:sp>
      <p:sp>
        <p:nvSpPr>
          <p:cNvPr id="8" name="Shape 6"/>
          <p:cNvSpPr/>
          <p:nvPr/>
        </p:nvSpPr>
        <p:spPr>
          <a:xfrm>
            <a:off x="777240" y="2194560"/>
            <a:ext cx="6583680" cy="676656"/>
          </a:xfrm>
          <a:prstGeom prst="roundRect">
            <a:avLst>
              <a:gd name="adj" fmla="val 10811"/>
            </a:avLst>
          </a:prstGeom>
          <a:solidFill>
            <a:srgbClr val="FFFFFF"/>
          </a:solidFill>
          <a:ln w="12700">
            <a:solidFill>
              <a:srgbClr val="D8D0C6"/>
            </a:solidFill>
            <a:prstDash val="solid"/>
          </a:ln>
        </p:spPr>
      </p:sp>
      <p:sp>
        <p:nvSpPr>
          <p:cNvPr id="9" name="Text 7"/>
          <p:cNvSpPr/>
          <p:nvPr/>
        </p:nvSpPr>
        <p:spPr>
          <a:xfrm>
            <a:off x="987552" y="2395728"/>
            <a:ext cx="6080760" cy="164592"/>
          </a:xfrm>
          <a:prstGeom prst="rect">
            <a:avLst/>
          </a:prstGeom>
          <a:noFill/>
          <a:ln/>
        </p:spPr>
        <p:txBody>
          <a:bodyPr wrap="square" lIns="0" tIns="0" rIns="0" bIns="0" rtlCol="0" anchor="ctr">
            <a:normAutofit/>
          </a:bodyPr>
          <a:lstStyle/>
          <a:p>
            <a:pPr indent="0" marL="0">
              <a:buNone/>
            </a:pPr>
            <a:r>
              <a:rPr lang="en-US" sz="1300" b="1" dirty="0">
                <a:solidFill>
                  <a:srgbClr val="17212B"/>
                </a:solidFill>
              </a:rPr>
              <a:t>Threads break in a textile weaving hall.</a:t>
            </a:r>
            <a:endParaRPr lang="en-US" sz="1300" dirty="0"/>
          </a:p>
        </p:txBody>
      </p:sp>
      <p:sp>
        <p:nvSpPr>
          <p:cNvPr id="10" name="Shape 8"/>
          <p:cNvSpPr/>
          <p:nvPr/>
        </p:nvSpPr>
        <p:spPr>
          <a:xfrm>
            <a:off x="7635240" y="2194560"/>
            <a:ext cx="3246120" cy="676656"/>
          </a:xfrm>
          <a:prstGeom prst="roundRect">
            <a:avLst>
              <a:gd name="adj" fmla="val 10811"/>
            </a:avLst>
          </a:prstGeom>
          <a:solidFill>
            <a:srgbClr val="E6F4EE"/>
          </a:solidFill>
          <a:ln w="12700">
            <a:solidFill>
              <a:srgbClr val="0B7A75"/>
            </a:solidFill>
            <a:prstDash val="solid"/>
          </a:ln>
        </p:spPr>
      </p:sp>
      <p:sp>
        <p:nvSpPr>
          <p:cNvPr id="11" name="Text 9"/>
          <p:cNvSpPr/>
          <p:nvPr/>
        </p:nvSpPr>
        <p:spPr>
          <a:xfrm>
            <a:off x="7818120" y="2395728"/>
            <a:ext cx="2880360" cy="164592"/>
          </a:xfrm>
          <a:prstGeom prst="rect">
            <a:avLst/>
          </a:prstGeom>
          <a:noFill/>
          <a:ln/>
        </p:spPr>
        <p:txBody>
          <a:bodyPr wrap="square" lIns="0" tIns="0" rIns="0" bIns="0" rtlCol="0" anchor="ctr">
            <a:normAutofit/>
          </a:bodyPr>
          <a:lstStyle/>
          <a:p>
            <a:pPr algn="ctr" indent="0" marL="0">
              <a:buNone/>
            </a:pPr>
            <a:r>
              <a:rPr lang="en-US" sz="1230" b="1" dirty="0">
                <a:solidFill>
                  <a:srgbClr val="153243"/>
                </a:solidFill>
              </a:rPr>
              <a:t>Humidity</a:t>
            </a:r>
            <a:endParaRPr lang="en-US" sz="1230" dirty="0"/>
          </a:p>
        </p:txBody>
      </p:sp>
      <p:sp>
        <p:nvSpPr>
          <p:cNvPr id="12" name="Shape 10"/>
          <p:cNvSpPr/>
          <p:nvPr/>
        </p:nvSpPr>
        <p:spPr>
          <a:xfrm>
            <a:off x="777240" y="3154680"/>
            <a:ext cx="6583680" cy="676656"/>
          </a:xfrm>
          <a:prstGeom prst="roundRect">
            <a:avLst>
              <a:gd name="adj" fmla="val 10811"/>
            </a:avLst>
          </a:prstGeom>
          <a:solidFill>
            <a:srgbClr val="FFFFFF"/>
          </a:solidFill>
          <a:ln w="12700">
            <a:solidFill>
              <a:srgbClr val="D8D0C6"/>
            </a:solidFill>
            <a:prstDash val="solid"/>
          </a:ln>
        </p:spPr>
      </p:sp>
      <p:sp>
        <p:nvSpPr>
          <p:cNvPr id="13" name="Text 11"/>
          <p:cNvSpPr/>
          <p:nvPr/>
        </p:nvSpPr>
        <p:spPr>
          <a:xfrm>
            <a:off x="987552" y="3355848"/>
            <a:ext cx="6080760" cy="164592"/>
          </a:xfrm>
          <a:prstGeom prst="rect">
            <a:avLst/>
          </a:prstGeom>
          <a:noFill/>
          <a:ln/>
        </p:spPr>
        <p:txBody>
          <a:bodyPr wrap="square" lIns="0" tIns="0" rIns="0" bIns="0" rtlCol="0" anchor="ctr">
            <a:normAutofit/>
          </a:bodyPr>
          <a:lstStyle/>
          <a:p>
            <a:pPr indent="0" marL="0">
              <a:buNone/>
            </a:pPr>
            <a:r>
              <a:rPr lang="en-US" sz="1300" b="1" dirty="0">
                <a:solidFill>
                  <a:srgbClr val="17212B"/>
                </a:solidFill>
              </a:rPr>
              <a:t>A server room runs hot after installation.</a:t>
            </a:r>
            <a:endParaRPr lang="en-US" sz="1300" dirty="0"/>
          </a:p>
        </p:txBody>
      </p:sp>
      <p:sp>
        <p:nvSpPr>
          <p:cNvPr id="14" name="Shape 12"/>
          <p:cNvSpPr/>
          <p:nvPr/>
        </p:nvSpPr>
        <p:spPr>
          <a:xfrm>
            <a:off x="7635240" y="3154680"/>
            <a:ext cx="3246120" cy="676656"/>
          </a:xfrm>
          <a:prstGeom prst="roundRect">
            <a:avLst>
              <a:gd name="adj" fmla="val 10811"/>
            </a:avLst>
          </a:prstGeom>
          <a:solidFill>
            <a:srgbClr val="DDECF0"/>
          </a:solidFill>
          <a:ln w="12700">
            <a:solidFill>
              <a:srgbClr val="4A90A4"/>
            </a:solidFill>
            <a:prstDash val="solid"/>
          </a:ln>
        </p:spPr>
      </p:sp>
      <p:sp>
        <p:nvSpPr>
          <p:cNvPr id="15" name="Text 13"/>
          <p:cNvSpPr/>
          <p:nvPr/>
        </p:nvSpPr>
        <p:spPr>
          <a:xfrm>
            <a:off x="7818120" y="3355848"/>
            <a:ext cx="2880360" cy="164592"/>
          </a:xfrm>
          <a:prstGeom prst="rect">
            <a:avLst/>
          </a:prstGeom>
          <a:noFill/>
          <a:ln/>
        </p:spPr>
        <p:txBody>
          <a:bodyPr wrap="square" lIns="0" tIns="0" rIns="0" bIns="0" rtlCol="0" anchor="ctr">
            <a:normAutofit/>
          </a:bodyPr>
          <a:lstStyle/>
          <a:p>
            <a:pPr algn="ctr" indent="0" marL="0">
              <a:buNone/>
            </a:pPr>
            <a:r>
              <a:rPr lang="en-US" sz="1230" b="1" dirty="0">
                <a:solidFill>
                  <a:srgbClr val="153243"/>
                </a:solidFill>
              </a:rPr>
              <a:t>Cooling load / equipment capacity</a:t>
            </a:r>
            <a:endParaRPr lang="en-US" sz="1230" dirty="0"/>
          </a:p>
        </p:txBody>
      </p:sp>
      <p:sp>
        <p:nvSpPr>
          <p:cNvPr id="16" name="Shape 14"/>
          <p:cNvSpPr/>
          <p:nvPr/>
        </p:nvSpPr>
        <p:spPr>
          <a:xfrm>
            <a:off x="777240" y="4114800"/>
            <a:ext cx="6583680" cy="676656"/>
          </a:xfrm>
          <a:prstGeom prst="roundRect">
            <a:avLst>
              <a:gd name="adj" fmla="val 10811"/>
            </a:avLst>
          </a:prstGeom>
          <a:solidFill>
            <a:srgbClr val="FFFFFF"/>
          </a:solidFill>
          <a:ln w="12700">
            <a:solidFill>
              <a:srgbClr val="D8D0C6"/>
            </a:solidFill>
            <a:prstDash val="solid"/>
          </a:ln>
        </p:spPr>
      </p:sp>
      <p:sp>
        <p:nvSpPr>
          <p:cNvPr id="17" name="Text 15"/>
          <p:cNvSpPr/>
          <p:nvPr/>
        </p:nvSpPr>
        <p:spPr>
          <a:xfrm>
            <a:off x="987552" y="4315968"/>
            <a:ext cx="6080760" cy="164592"/>
          </a:xfrm>
          <a:prstGeom prst="rect">
            <a:avLst/>
          </a:prstGeom>
          <a:noFill/>
          <a:ln/>
        </p:spPr>
        <p:txBody>
          <a:bodyPr wrap="square" lIns="0" tIns="0" rIns="0" bIns="0" rtlCol="0" anchor="ctr">
            <a:normAutofit/>
          </a:bodyPr>
          <a:lstStyle/>
          <a:p>
            <a:pPr indent="0" marL="0">
              <a:buNone/>
            </a:pPr>
            <a:r>
              <a:rPr lang="en-US" sz="1300" b="1" dirty="0">
                <a:solidFill>
                  <a:srgbClr val="17212B"/>
                </a:solidFill>
              </a:rPr>
              <a:t>A room smells stale despite correct temperature.</a:t>
            </a:r>
            <a:endParaRPr lang="en-US" sz="1300" dirty="0"/>
          </a:p>
        </p:txBody>
      </p:sp>
      <p:sp>
        <p:nvSpPr>
          <p:cNvPr id="18" name="Shape 16"/>
          <p:cNvSpPr/>
          <p:nvPr/>
        </p:nvSpPr>
        <p:spPr>
          <a:xfrm>
            <a:off x="7635240" y="4114800"/>
            <a:ext cx="3246120" cy="676656"/>
          </a:xfrm>
          <a:prstGeom prst="roundRect">
            <a:avLst>
              <a:gd name="adj" fmla="val 10811"/>
            </a:avLst>
          </a:prstGeom>
          <a:solidFill>
            <a:srgbClr val="E6F4EE"/>
          </a:solidFill>
          <a:ln w="12700">
            <a:solidFill>
              <a:srgbClr val="0B7A75"/>
            </a:solidFill>
            <a:prstDash val="solid"/>
          </a:ln>
        </p:spPr>
      </p:sp>
      <p:sp>
        <p:nvSpPr>
          <p:cNvPr id="19" name="Text 17"/>
          <p:cNvSpPr/>
          <p:nvPr/>
        </p:nvSpPr>
        <p:spPr>
          <a:xfrm>
            <a:off x="7818120" y="4315968"/>
            <a:ext cx="2880360" cy="164592"/>
          </a:xfrm>
          <a:prstGeom prst="rect">
            <a:avLst/>
          </a:prstGeom>
          <a:noFill/>
          <a:ln/>
        </p:spPr>
        <p:txBody>
          <a:bodyPr wrap="square" lIns="0" tIns="0" rIns="0" bIns="0" rtlCol="0" anchor="ctr">
            <a:normAutofit/>
          </a:bodyPr>
          <a:lstStyle/>
          <a:p>
            <a:pPr algn="ctr" indent="0" marL="0">
              <a:buNone/>
            </a:pPr>
            <a:r>
              <a:rPr lang="en-US" sz="1230" b="1" dirty="0">
                <a:solidFill>
                  <a:srgbClr val="153243"/>
                </a:solidFill>
              </a:rPr>
              <a:t>Fresh air / cleanliness</a:t>
            </a:r>
            <a:endParaRPr lang="en-US" sz="123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324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3243"/>
          </a:solidFill>
          <a:ln w="12700">
            <a:solidFill>
              <a:srgbClr val="153243"/>
            </a:solidFill>
            <a:prstDash val="solid"/>
          </a:ln>
        </p:spPr>
      </p:sp>
      <p:sp>
        <p:nvSpPr>
          <p:cNvPr id="3" name="Text 1"/>
          <p:cNvSpPr/>
          <p:nvPr/>
        </p:nvSpPr>
        <p:spPr>
          <a:xfrm>
            <a:off x="685800" y="594360"/>
            <a:ext cx="8503920" cy="320040"/>
          </a:xfrm>
          <a:prstGeom prst="rect">
            <a:avLst/>
          </a:prstGeom>
          <a:noFill/>
          <a:ln/>
        </p:spPr>
        <p:txBody>
          <a:bodyPr wrap="square" lIns="0" tIns="0" rIns="0" bIns="0" rtlCol="0" anchor="ctr"/>
          <a:lstStyle/>
          <a:p>
            <a:pPr indent="0" marL="0">
              <a:buNone/>
            </a:pPr>
            <a:r>
              <a:rPr lang="en-US" sz="2400" b="1" dirty="0">
                <a:solidFill>
                  <a:srgbClr val="FFFFFF"/>
                </a:solidFill>
              </a:rPr>
              <a:t>Topic 1.1 — what students should remember</a:t>
            </a:r>
            <a:endParaRPr lang="en-US" sz="2400" dirty="0"/>
          </a:p>
        </p:txBody>
      </p:sp>
      <p:sp>
        <p:nvSpPr>
          <p:cNvPr id="4" name="Shape 2"/>
          <p:cNvSpPr/>
          <p:nvPr/>
        </p:nvSpPr>
        <p:spPr>
          <a:xfrm>
            <a:off x="1005840" y="1325880"/>
            <a:ext cx="384048" cy="384048"/>
          </a:xfrm>
          <a:prstGeom prst="ellipse">
            <a:avLst/>
          </a:prstGeom>
          <a:solidFill>
            <a:srgbClr val="6BBF9B"/>
          </a:solidFill>
          <a:ln w="12700">
            <a:solidFill>
              <a:srgbClr val="6BBF9B"/>
            </a:solidFill>
            <a:prstDash val="solid"/>
          </a:ln>
        </p:spPr>
      </p:sp>
      <p:sp>
        <p:nvSpPr>
          <p:cNvPr id="5" name="Text 3"/>
          <p:cNvSpPr/>
          <p:nvPr/>
        </p:nvSpPr>
        <p:spPr>
          <a:xfrm>
            <a:off x="1133856" y="1426464"/>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1</a:t>
            </a:r>
            <a:endParaRPr lang="en-US" sz="900" dirty="0"/>
          </a:p>
        </p:txBody>
      </p:sp>
      <p:sp>
        <p:nvSpPr>
          <p:cNvPr id="6" name="Text 4"/>
          <p:cNvSpPr/>
          <p:nvPr/>
        </p:nvSpPr>
        <p:spPr>
          <a:xfrm>
            <a:off x="1600200" y="1344168"/>
            <a:ext cx="3657600" cy="164592"/>
          </a:xfrm>
          <a:prstGeom prst="rect">
            <a:avLst/>
          </a:prstGeom>
          <a:noFill/>
          <a:ln/>
        </p:spPr>
        <p:txBody>
          <a:bodyPr wrap="square" lIns="0" tIns="0" rIns="0" bIns="0" rtlCol="0" anchor="ctr"/>
          <a:lstStyle/>
          <a:p>
            <a:pPr indent="0" marL="0">
              <a:buNone/>
            </a:pPr>
            <a:r>
              <a:rPr lang="en-US" sz="1500" b="1" dirty="0">
                <a:solidFill>
                  <a:srgbClr val="FFFFFF"/>
                </a:solidFill>
              </a:rPr>
              <a:t>AC = simultaneous control</a:t>
            </a:r>
            <a:endParaRPr lang="en-US" sz="1500" dirty="0"/>
          </a:p>
        </p:txBody>
      </p:sp>
      <p:sp>
        <p:nvSpPr>
          <p:cNvPr id="7" name="Text 5"/>
          <p:cNvSpPr/>
          <p:nvPr/>
        </p:nvSpPr>
        <p:spPr>
          <a:xfrm>
            <a:off x="5029200" y="1362456"/>
            <a:ext cx="5303520" cy="164592"/>
          </a:xfrm>
          <a:prstGeom prst="rect">
            <a:avLst/>
          </a:prstGeom>
          <a:noFill/>
          <a:ln/>
        </p:spPr>
        <p:txBody>
          <a:bodyPr wrap="square" lIns="0" tIns="0" rIns="0" bIns="0" rtlCol="0" anchor="ctr">
            <a:normAutofit/>
          </a:bodyPr>
          <a:lstStyle/>
          <a:p>
            <a:pPr indent="0" marL="0">
              <a:buNone/>
            </a:pPr>
            <a:r>
              <a:rPr lang="en-US" sz="1200" dirty="0">
                <a:solidFill>
                  <a:srgbClr val="DDECF0"/>
                </a:solidFill>
              </a:rPr>
              <a:t>temperature + humidity + circulation + cleanliness</a:t>
            </a:r>
            <a:endParaRPr lang="en-US" sz="1200" dirty="0"/>
          </a:p>
        </p:txBody>
      </p:sp>
      <p:sp>
        <p:nvSpPr>
          <p:cNvPr id="8" name="Shape 6"/>
          <p:cNvSpPr/>
          <p:nvPr/>
        </p:nvSpPr>
        <p:spPr>
          <a:xfrm>
            <a:off x="1005840" y="2130552"/>
            <a:ext cx="384048" cy="384048"/>
          </a:xfrm>
          <a:prstGeom prst="ellipse">
            <a:avLst/>
          </a:prstGeom>
          <a:solidFill>
            <a:srgbClr val="E76F51"/>
          </a:solidFill>
          <a:ln w="12700">
            <a:solidFill>
              <a:srgbClr val="E76F51"/>
            </a:solidFill>
            <a:prstDash val="solid"/>
          </a:ln>
        </p:spPr>
      </p:sp>
      <p:sp>
        <p:nvSpPr>
          <p:cNvPr id="9" name="Text 7"/>
          <p:cNvSpPr/>
          <p:nvPr/>
        </p:nvSpPr>
        <p:spPr>
          <a:xfrm>
            <a:off x="1133856" y="2231136"/>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2</a:t>
            </a:r>
            <a:endParaRPr lang="en-US" sz="900" dirty="0"/>
          </a:p>
        </p:txBody>
      </p:sp>
      <p:sp>
        <p:nvSpPr>
          <p:cNvPr id="10" name="Text 8"/>
          <p:cNvSpPr/>
          <p:nvPr/>
        </p:nvSpPr>
        <p:spPr>
          <a:xfrm>
            <a:off x="1600200" y="2148840"/>
            <a:ext cx="3657600" cy="164592"/>
          </a:xfrm>
          <a:prstGeom prst="rect">
            <a:avLst/>
          </a:prstGeom>
          <a:noFill/>
          <a:ln/>
        </p:spPr>
        <p:txBody>
          <a:bodyPr wrap="square" lIns="0" tIns="0" rIns="0" bIns="0" rtlCol="0" anchor="ctr"/>
          <a:lstStyle/>
          <a:p>
            <a:pPr indent="0" marL="0">
              <a:buNone/>
            </a:pPr>
            <a:r>
              <a:rPr lang="en-US" sz="1500" b="1" dirty="0">
                <a:solidFill>
                  <a:srgbClr val="FFFFFF"/>
                </a:solidFill>
              </a:rPr>
              <a:t>Purpose sets the target</a:t>
            </a:r>
            <a:endParaRPr lang="en-US" sz="1500" dirty="0"/>
          </a:p>
        </p:txBody>
      </p:sp>
      <p:sp>
        <p:nvSpPr>
          <p:cNvPr id="11" name="Text 9"/>
          <p:cNvSpPr/>
          <p:nvPr/>
        </p:nvSpPr>
        <p:spPr>
          <a:xfrm>
            <a:off x="5029200" y="2167128"/>
            <a:ext cx="5303520" cy="164592"/>
          </a:xfrm>
          <a:prstGeom prst="rect">
            <a:avLst/>
          </a:prstGeom>
          <a:noFill/>
          <a:ln/>
        </p:spPr>
        <p:txBody>
          <a:bodyPr wrap="square" lIns="0" tIns="0" rIns="0" bIns="0" rtlCol="0" anchor="ctr">
            <a:normAutofit/>
          </a:bodyPr>
          <a:lstStyle/>
          <a:p>
            <a:pPr indent="0" marL="0">
              <a:buNone/>
            </a:pPr>
            <a:r>
              <a:rPr lang="en-US" sz="1200" dirty="0">
                <a:solidFill>
                  <a:srgbClr val="DDECF0"/>
                </a:solidFill>
              </a:rPr>
              <a:t>comfort AC ≠ process AC</a:t>
            </a:r>
            <a:endParaRPr lang="en-US" sz="1200" dirty="0"/>
          </a:p>
        </p:txBody>
      </p:sp>
      <p:sp>
        <p:nvSpPr>
          <p:cNvPr id="12" name="Shape 10"/>
          <p:cNvSpPr/>
          <p:nvPr/>
        </p:nvSpPr>
        <p:spPr>
          <a:xfrm>
            <a:off x="1005840" y="2935224"/>
            <a:ext cx="384048" cy="384048"/>
          </a:xfrm>
          <a:prstGeom prst="ellipse">
            <a:avLst/>
          </a:prstGeom>
          <a:solidFill>
            <a:srgbClr val="6BBF9B"/>
          </a:solidFill>
          <a:ln w="12700">
            <a:solidFill>
              <a:srgbClr val="6BBF9B"/>
            </a:solidFill>
            <a:prstDash val="solid"/>
          </a:ln>
        </p:spPr>
      </p:sp>
      <p:sp>
        <p:nvSpPr>
          <p:cNvPr id="13" name="Text 11"/>
          <p:cNvSpPr/>
          <p:nvPr/>
        </p:nvSpPr>
        <p:spPr>
          <a:xfrm>
            <a:off x="1133856" y="3035808"/>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3</a:t>
            </a:r>
            <a:endParaRPr lang="en-US" sz="900" dirty="0"/>
          </a:p>
        </p:txBody>
      </p:sp>
      <p:sp>
        <p:nvSpPr>
          <p:cNvPr id="14" name="Text 12"/>
          <p:cNvSpPr/>
          <p:nvPr/>
        </p:nvSpPr>
        <p:spPr>
          <a:xfrm>
            <a:off x="1600200" y="2953512"/>
            <a:ext cx="3657600" cy="164592"/>
          </a:xfrm>
          <a:prstGeom prst="rect">
            <a:avLst/>
          </a:prstGeom>
          <a:noFill/>
          <a:ln/>
        </p:spPr>
        <p:txBody>
          <a:bodyPr wrap="square" lIns="0" tIns="0" rIns="0" bIns="0" rtlCol="0" anchor="ctr"/>
          <a:lstStyle/>
          <a:p>
            <a:pPr indent="0" marL="0">
              <a:buNone/>
            </a:pPr>
            <a:r>
              <a:rPr lang="en-US" sz="1500" b="1" dirty="0">
                <a:solidFill>
                  <a:srgbClr val="FFFFFF"/>
                </a:solidFill>
              </a:rPr>
              <a:t>Capacity follows peak load</a:t>
            </a:r>
            <a:endParaRPr lang="en-US" sz="1500" dirty="0"/>
          </a:p>
        </p:txBody>
      </p:sp>
      <p:sp>
        <p:nvSpPr>
          <p:cNvPr id="15" name="Text 13"/>
          <p:cNvSpPr/>
          <p:nvPr/>
        </p:nvSpPr>
        <p:spPr>
          <a:xfrm>
            <a:off x="5029200" y="2971800"/>
            <a:ext cx="5303520" cy="164592"/>
          </a:xfrm>
          <a:prstGeom prst="rect">
            <a:avLst/>
          </a:prstGeom>
          <a:noFill/>
          <a:ln/>
        </p:spPr>
        <p:txBody>
          <a:bodyPr wrap="square" lIns="0" tIns="0" rIns="0" bIns="0" rtlCol="0" anchor="ctr">
            <a:normAutofit/>
          </a:bodyPr>
          <a:lstStyle/>
          <a:p>
            <a:pPr indent="0" marL="0">
              <a:buNone/>
            </a:pPr>
            <a:r>
              <a:rPr lang="en-US" sz="1200" dirty="0">
                <a:solidFill>
                  <a:srgbClr val="DDECF0"/>
                </a:solidFill>
              </a:rPr>
              <a:t>office and nightclub can peak at different hours</a:t>
            </a:r>
            <a:endParaRPr lang="en-US" sz="1200" dirty="0"/>
          </a:p>
        </p:txBody>
      </p:sp>
      <p:sp>
        <p:nvSpPr>
          <p:cNvPr id="16" name="Shape 14"/>
          <p:cNvSpPr/>
          <p:nvPr/>
        </p:nvSpPr>
        <p:spPr>
          <a:xfrm>
            <a:off x="1005840" y="3739896"/>
            <a:ext cx="384048" cy="384048"/>
          </a:xfrm>
          <a:prstGeom prst="ellipse">
            <a:avLst/>
          </a:prstGeom>
          <a:solidFill>
            <a:srgbClr val="E76F51"/>
          </a:solidFill>
          <a:ln w="12700">
            <a:solidFill>
              <a:srgbClr val="E76F51"/>
            </a:solidFill>
            <a:prstDash val="solid"/>
          </a:ln>
        </p:spPr>
      </p:sp>
      <p:sp>
        <p:nvSpPr>
          <p:cNvPr id="17" name="Text 15"/>
          <p:cNvSpPr/>
          <p:nvPr/>
        </p:nvSpPr>
        <p:spPr>
          <a:xfrm>
            <a:off x="1133856" y="3840480"/>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4</a:t>
            </a:r>
            <a:endParaRPr lang="en-US" sz="900" dirty="0"/>
          </a:p>
        </p:txBody>
      </p:sp>
      <p:sp>
        <p:nvSpPr>
          <p:cNvPr id="18" name="Text 16"/>
          <p:cNvSpPr/>
          <p:nvPr/>
        </p:nvSpPr>
        <p:spPr>
          <a:xfrm>
            <a:off x="1600200" y="3758184"/>
            <a:ext cx="3657600" cy="164592"/>
          </a:xfrm>
          <a:prstGeom prst="rect">
            <a:avLst/>
          </a:prstGeom>
          <a:noFill/>
          <a:ln/>
        </p:spPr>
        <p:txBody>
          <a:bodyPr wrap="square" lIns="0" tIns="0" rIns="0" bIns="0" rtlCol="0" anchor="ctr"/>
          <a:lstStyle/>
          <a:p>
            <a:pPr indent="0" marL="0">
              <a:buNone/>
            </a:pPr>
            <a:r>
              <a:rPr lang="en-US" sz="1500" b="1" dirty="0">
                <a:solidFill>
                  <a:srgbClr val="FFFFFF"/>
                </a:solidFill>
              </a:rPr>
              <a:t>Survey comes before calculation</a:t>
            </a:r>
            <a:endParaRPr lang="en-US" sz="1500" dirty="0"/>
          </a:p>
        </p:txBody>
      </p:sp>
      <p:sp>
        <p:nvSpPr>
          <p:cNvPr id="19" name="Text 17"/>
          <p:cNvSpPr/>
          <p:nvPr/>
        </p:nvSpPr>
        <p:spPr>
          <a:xfrm>
            <a:off x="5029200" y="3776472"/>
            <a:ext cx="5303520" cy="164592"/>
          </a:xfrm>
          <a:prstGeom prst="rect">
            <a:avLst/>
          </a:prstGeom>
          <a:noFill/>
          <a:ln/>
        </p:spPr>
        <p:txBody>
          <a:bodyPr wrap="square" lIns="0" tIns="0" rIns="0" bIns="0" rtlCol="0" anchor="ctr">
            <a:normAutofit/>
          </a:bodyPr>
          <a:lstStyle/>
          <a:p>
            <a:pPr indent="0" marL="0">
              <a:buNone/>
            </a:pPr>
            <a:r>
              <a:rPr lang="en-US" sz="1200" dirty="0">
                <a:solidFill>
                  <a:srgbClr val="DDECF0"/>
                </a:solidFill>
              </a:rPr>
              <a:t>survey data become load-calculation inputs</a:t>
            </a:r>
            <a:endParaRPr lang="en-US" sz="1200" dirty="0"/>
          </a:p>
        </p:txBody>
      </p:sp>
      <p:sp>
        <p:nvSpPr>
          <p:cNvPr id="20" name="Shape 18"/>
          <p:cNvSpPr/>
          <p:nvPr/>
        </p:nvSpPr>
        <p:spPr>
          <a:xfrm>
            <a:off x="1005840" y="4544568"/>
            <a:ext cx="384048" cy="384048"/>
          </a:xfrm>
          <a:prstGeom prst="ellipse">
            <a:avLst/>
          </a:prstGeom>
          <a:solidFill>
            <a:srgbClr val="6BBF9B"/>
          </a:solidFill>
          <a:ln w="12700">
            <a:solidFill>
              <a:srgbClr val="6BBF9B"/>
            </a:solidFill>
            <a:prstDash val="solid"/>
          </a:ln>
        </p:spPr>
      </p:sp>
      <p:sp>
        <p:nvSpPr>
          <p:cNvPr id="21" name="Text 19"/>
          <p:cNvSpPr/>
          <p:nvPr/>
        </p:nvSpPr>
        <p:spPr>
          <a:xfrm>
            <a:off x="1133856" y="4645152"/>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5</a:t>
            </a:r>
            <a:endParaRPr lang="en-US" sz="900" dirty="0"/>
          </a:p>
        </p:txBody>
      </p:sp>
      <p:sp>
        <p:nvSpPr>
          <p:cNvPr id="22" name="Text 20"/>
          <p:cNvSpPr/>
          <p:nvPr/>
        </p:nvSpPr>
        <p:spPr>
          <a:xfrm>
            <a:off x="1600200" y="4562856"/>
            <a:ext cx="3657600" cy="164592"/>
          </a:xfrm>
          <a:prstGeom prst="rect">
            <a:avLst/>
          </a:prstGeom>
          <a:noFill/>
          <a:ln/>
        </p:spPr>
        <p:txBody>
          <a:bodyPr wrap="square" lIns="0" tIns="0" rIns="0" bIns="0" rtlCol="0" anchor="ctr"/>
          <a:lstStyle/>
          <a:p>
            <a:pPr indent="0" marL="0">
              <a:buNone/>
            </a:pPr>
            <a:r>
              <a:rPr lang="en-US" sz="1500" b="1" dirty="0">
                <a:solidFill>
                  <a:srgbClr val="FFFFFF"/>
                </a:solidFill>
              </a:rPr>
              <a:t>Thailand scope</a:t>
            </a:r>
            <a:endParaRPr lang="en-US" sz="1500" dirty="0"/>
          </a:p>
        </p:txBody>
      </p:sp>
      <p:sp>
        <p:nvSpPr>
          <p:cNvPr id="23" name="Text 21"/>
          <p:cNvSpPr/>
          <p:nvPr/>
        </p:nvSpPr>
        <p:spPr>
          <a:xfrm>
            <a:off x="5029200" y="4581144"/>
            <a:ext cx="5303520" cy="164592"/>
          </a:xfrm>
          <a:prstGeom prst="rect">
            <a:avLst/>
          </a:prstGeom>
          <a:noFill/>
          <a:ln/>
        </p:spPr>
        <p:txBody>
          <a:bodyPr wrap="square" lIns="0" tIns="0" rIns="0" bIns="0" rtlCol="0" anchor="ctr">
            <a:normAutofit/>
          </a:bodyPr>
          <a:lstStyle/>
          <a:p>
            <a:pPr indent="0" marL="0">
              <a:buNone/>
            </a:pPr>
            <a:r>
              <a:rPr lang="en-US" sz="1200" dirty="0">
                <a:solidFill>
                  <a:srgbClr val="DDECF0"/>
                </a:solidFill>
              </a:rPr>
              <a:t>cooling and dehumidification dominate</a:t>
            </a:r>
            <a:endParaRPr lang="en-US" sz="1200" dirty="0"/>
          </a:p>
        </p:txBody>
      </p:sp>
      <p:sp>
        <p:nvSpPr>
          <p:cNvPr id="24" name="Shape 22"/>
          <p:cNvSpPr/>
          <p:nvPr/>
        </p:nvSpPr>
        <p:spPr>
          <a:xfrm>
            <a:off x="7772400" y="5166360"/>
            <a:ext cx="3337560" cy="530352"/>
          </a:xfrm>
          <a:prstGeom prst="roundRect">
            <a:avLst>
              <a:gd name="adj" fmla="val 13793"/>
            </a:avLst>
          </a:prstGeom>
          <a:solidFill>
            <a:srgbClr val="E76F51"/>
          </a:solidFill>
          <a:ln w="12700">
            <a:solidFill>
              <a:srgbClr val="E76F51"/>
            </a:solidFill>
            <a:prstDash val="solid"/>
          </a:ln>
        </p:spPr>
      </p:sp>
      <p:sp>
        <p:nvSpPr>
          <p:cNvPr id="25" name="Text 23"/>
          <p:cNvSpPr/>
          <p:nvPr/>
        </p:nvSpPr>
        <p:spPr>
          <a:xfrm>
            <a:off x="7973568" y="5340096"/>
            <a:ext cx="2971800" cy="137160"/>
          </a:xfrm>
          <a:prstGeom prst="rect">
            <a:avLst/>
          </a:prstGeom>
          <a:noFill/>
          <a:ln/>
        </p:spPr>
        <p:txBody>
          <a:bodyPr wrap="square" lIns="0" tIns="0" rIns="0" bIns="0" rtlCol="0" anchor="ctr"/>
          <a:lstStyle/>
          <a:p>
            <a:pPr algn="ctr" indent="0" marL="0">
              <a:buNone/>
            </a:pPr>
            <a:r>
              <a:rPr lang="en-US" sz="1150" b="1" dirty="0">
                <a:solidFill>
                  <a:srgbClr val="FFFFFF"/>
                </a:solidFill>
              </a:rPr>
              <a:t>Next: system types and components</a:t>
            </a:r>
            <a:endParaRPr lang="en-US" sz="11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CMU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Conditioning — Definition, Purpose, and Scope</dc:title>
  <dc:subject>Air Conditioning Engineering Topic 1.1</dc:subject>
  <dc:creator>Gaia for Piakman</dc:creator>
  <cp:lastModifiedBy>Gaia for Piakman</cp:lastModifiedBy>
  <cp:revision>1</cp:revision>
  <dcterms:created xsi:type="dcterms:W3CDTF">2026-06-14T12:09:10Z</dcterms:created>
  <dcterms:modified xsi:type="dcterms:W3CDTF">2026-06-14T12:09:10Z</dcterms:modified>
</cp:coreProperties>
</file>