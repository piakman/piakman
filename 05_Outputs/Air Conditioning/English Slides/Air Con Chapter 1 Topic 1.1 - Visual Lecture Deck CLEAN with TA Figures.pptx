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1374B"/>
                </a:solidFill>
                <a:latin typeface="Aptos"/>
              </a:rPr>
              <a:t>1.1 | Air Conditioning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6973"/>
                </a:solidFill>
                <a:latin typeface="Aptos"/>
              </a:rPr>
              <a:t>Definition, Purpose, and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78828C"/>
                </a:solidFill>
                <a:latin typeface="Aptos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737360"/>
            <a:ext cx="1083564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1498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232D37"/>
                </a:solidFill>
                <a:latin typeface="Aptos"/>
              </a:defRPr>
            </a:pPr>
            <a:r>
              <a:t>occupied space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1143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78828C"/>
                </a:solidFill>
              </a:rPr>
              <a:t>Air Conditioning · Chapter 1 · Topic 1.1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1374B"/>
                </a:solidFill>
                <a:latin typeface="Aptos"/>
              </a:rPr>
              <a:t>Cooling alone is not air conditioning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6973"/>
                </a:solidFill>
                <a:latin typeface="Aptos"/>
              </a:rPr>
              <a:t>Start with the misconception and correct it visually.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78828C"/>
                </a:solidFill>
                <a:latin typeface="Aptos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737360"/>
            <a:ext cx="1083564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1498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232D37"/>
                </a:solidFill>
                <a:latin typeface="Aptos"/>
              </a:defRPr>
            </a:pPr>
            <a:r>
              <a:t>Air conditioning controls the indoor environment, not only air temperature.</a:t>
            </a:r>
          </a:p>
          <a:p>
            <a:pPr>
              <a:spcAft>
                <a:spcPts val="1200"/>
              </a:spcAft>
              <a:defRPr sz="2200">
                <a:solidFill>
                  <a:srgbClr val="232D37"/>
                </a:solidFill>
                <a:latin typeface="Aptos"/>
              </a:defRPr>
            </a:pPr>
            <a:r>
              <a:t>Core idea: cooling is only one part of air conditioning.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1143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78828C"/>
                </a:solidFill>
              </a:rPr>
              <a:t>Air Conditioning · Chapter 1 · Topic 1.1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1374B"/>
                </a:solidFill>
                <a:latin typeface="Aptos"/>
              </a:rPr>
              <a:t>Four parameters must be controlled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6973"/>
                </a:solidFill>
                <a:latin typeface="Aptos"/>
              </a:rPr>
              <a:t>Use the 2×2 visual as the core definition.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78828C"/>
                </a:solidFill>
                <a:latin typeface="Aptos"/>
              </a:rP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691640"/>
            <a:ext cx="4572000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965960"/>
            <a:ext cx="4023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Temperature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Humidity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Air circulation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Air cleanliness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40680" y="1691640"/>
            <a:ext cx="6126480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_01_four_params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7501" y="1874519"/>
            <a:ext cx="5752837" cy="4069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6446520"/>
            <a:ext cx="1143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78828C"/>
                </a:solidFill>
              </a:rPr>
              <a:t>Air Conditioning · Chapter 1 · Topic 1.1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1374B"/>
                </a:solidFill>
                <a:latin typeface="Aptos"/>
              </a:rPr>
              <a:t>If one control fails, the whole environment can fail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6973"/>
                </a:solidFill>
                <a:latin typeface="Aptos"/>
              </a:rPr>
              <a:t>A good temperature reading does not guarantee a good indoor environment.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78828C"/>
                </a:solidFill>
                <a:latin typeface="Aptos"/>
              </a:rP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691640"/>
            <a:ext cx="4572000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965960"/>
            <a:ext cx="4023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Example: 25 °C but high humidity can still feel sticky.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Example: poor ventilation can allow CO₂ or VOCs to accumulate.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40680" y="1691640"/>
            <a:ext cx="6126480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_05_air_processing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8082" y="1874519"/>
            <a:ext cx="5231674" cy="4069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6446520"/>
            <a:ext cx="1143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78828C"/>
                </a:solidFill>
              </a:rPr>
              <a:t>Air Conditioning · Chapter 1 · Topic 1.1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1374B"/>
                </a:solidFill>
                <a:latin typeface="Aptos"/>
              </a:rPr>
              <a:t>Purpose changes the design target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6973"/>
                </a:solidFill>
                <a:latin typeface="Aptos"/>
              </a:rPr>
              <a:t>Comfort AC and process AC use the same variables for different goals.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78828C"/>
                </a:solidFill>
                <a:latin typeface="Aptos"/>
              </a:rP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691640"/>
            <a:ext cx="4572000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965960"/>
            <a:ext cx="4023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Comfort AC: human thermal comfort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Process AC: product, material, or process requirement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5440680" y="1691640"/>
            <a:ext cx="6126480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_06_classification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2180844"/>
            <a:ext cx="5760720" cy="3456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6446520"/>
            <a:ext cx="1143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78828C"/>
                </a:solidFill>
              </a:rPr>
              <a:t>Air Conditioning · Chapter 1 · Topic 1.1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1374B"/>
                </a:solidFill>
                <a:latin typeface="Aptos"/>
              </a:rPr>
              <a:t>Comfort AC supports the body’s heat balance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6973"/>
                </a:solidFill>
                <a:latin typeface="Aptos"/>
              </a:rPr>
              <a:t>Use the human body as the “sensor” for comfort air conditioning.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78828C"/>
                </a:solidFill>
                <a:latin typeface="Aptos"/>
              </a:rPr>
              <a:t>6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691640"/>
            <a:ext cx="4572000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965960"/>
            <a:ext cx="4023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Convection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Radiation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Conduction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Evaporation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440680" y="1691640"/>
            <a:ext cx="6126480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_02_temp_comfort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2284241"/>
            <a:ext cx="5760720" cy="32496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6446520"/>
            <a:ext cx="1143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78828C"/>
                </a:solidFill>
              </a:rPr>
              <a:t>Air Conditioning · Chapter 1 · Topic 1.1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1374B"/>
                </a:solidFill>
                <a:latin typeface="Aptos"/>
              </a:rPr>
              <a:t>Process AC may target conditions humans would not choose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6973"/>
                </a:solidFill>
                <a:latin typeface="Aptos"/>
              </a:rPr>
              <a:t>Let the product/process define the control objective.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78828C"/>
                </a:solidFill>
                <a:latin typeface="Aptos"/>
              </a:rP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691640"/>
            <a:ext cx="4572000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965960"/>
            <a:ext cx="4023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Textile mill: higher RH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Paper storage: lower RH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Seed storage: low temperature and humidity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40680" y="1691640"/>
            <a:ext cx="6126480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_03_humidity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2284241"/>
            <a:ext cx="5760720" cy="32496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6446520"/>
            <a:ext cx="1143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78828C"/>
                </a:solidFill>
              </a:rPr>
              <a:t>Air Conditioning · Chapter 1 · Topic 1.1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1374B"/>
                </a:solidFill>
                <a:latin typeface="Aptos"/>
              </a:rPr>
              <a:t>Equipment sizing is a peak-load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6973"/>
                </a:solidFill>
                <a:latin typeface="Aptos"/>
              </a:rPr>
              <a:t>Capacity must match the maximum heat gain rate during operation.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78828C"/>
                </a:solidFill>
                <a:latin typeface="Aptos"/>
              </a:rPr>
              <a:t>8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737360"/>
            <a:ext cx="1083564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1498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232D37"/>
                </a:solidFill>
                <a:latin typeface="Aptos"/>
              </a:defRPr>
            </a:pPr>
            <a:r>
              <a:t>Air conditioners are sized for the maximum expected load, not the average load.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1143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78828C"/>
                </a:solidFill>
              </a:rPr>
              <a:t>Air Conditioning · Chapter 1 · Topic 1.1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1374B"/>
                </a:solidFill>
                <a:latin typeface="Aptos"/>
              </a:rPr>
              <a:t>Office peak load often occurs after solar noon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6973"/>
                </a:solidFill>
                <a:latin typeface="Aptos"/>
              </a:rPr>
              <a:t>Stored heat and internal gains shift the maximum into mid-afternoon.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78828C"/>
                </a:solidFill>
                <a:latin typeface="Aptos"/>
              </a:rPr>
              <a:t>9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737360"/>
            <a:ext cx="1083564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1498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232D37"/>
                </a:solidFill>
                <a:latin typeface="Aptos"/>
              </a:defRPr>
            </a:pPr>
            <a:r>
              <a:t>Solar gain + envelope thermal lag + occupants + lighting + equipment</a:t>
            </a:r>
          </a:p>
          <a:p>
            <a:pPr>
              <a:spcAft>
                <a:spcPts val="1200"/>
              </a:spcAft>
              <a:defRPr sz="2200">
                <a:solidFill>
                  <a:srgbClr val="232D37"/>
                </a:solidFill>
                <a:latin typeface="Aptos"/>
              </a:defRPr>
            </a:pPr>
            <a:r>
              <a:t>Typical office peak: around 15:00–16:00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1143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78828C"/>
                </a:solidFill>
              </a:rPr>
              <a:t>Air Conditioning · Chapter 1 · Topic 1.1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1374B"/>
                </a:solidFill>
                <a:latin typeface="Aptos"/>
              </a:rPr>
              <a:t>Nightclub peak load is driven by people and lighting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6973"/>
                </a:solidFill>
                <a:latin typeface="Aptos"/>
              </a:rPr>
              <a:t>A building with little solar gain can peak at night.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78828C"/>
                </a:solidFill>
                <a:latin typeface="Aptos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737360"/>
            <a:ext cx="1083564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1498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232D37"/>
                </a:solidFill>
                <a:latin typeface="Aptos"/>
              </a:defRPr>
            </a:pPr>
            <a:r>
              <a:t>Peak may occur around 21:00–22:00</a:t>
            </a:r>
          </a:p>
          <a:p>
            <a:pPr>
              <a:spcAft>
                <a:spcPts val="1200"/>
              </a:spcAft>
              <a:defRPr sz="2200">
                <a:solidFill>
                  <a:srgbClr val="232D37"/>
                </a:solidFill>
                <a:latin typeface="Aptos"/>
              </a:defRPr>
            </a:pPr>
            <a:r>
              <a:t>Dominant loads: occupants, lighting, latent heat, and equipment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1143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78828C"/>
                </a:solidFill>
              </a:rPr>
              <a:t>Air Conditioning · Chapter 1 · Topic 1.1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1374B"/>
                </a:solidFill>
                <a:latin typeface="Aptos"/>
              </a:rPr>
              <a:t>A building survey turns assumptions into inputs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6973"/>
                </a:solidFill>
                <a:latin typeface="Aptos"/>
              </a:rPr>
              <a:t>The survey is the first engineering step before load calculation.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78828C"/>
                </a:solidFill>
                <a:latin typeface="Aptos"/>
              </a:rP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691640"/>
            <a:ext cx="4572000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965960"/>
            <a:ext cx="4023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Survey = measure + collect + verify project data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Good survey data reduce over-sizing, under-sizing, and design uncertainty.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40680" y="1691640"/>
            <a:ext cx="6126480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_07_design_workflow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0601" y="1874519"/>
            <a:ext cx="4766636" cy="4069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6446520"/>
            <a:ext cx="1143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78828C"/>
                </a:solidFill>
              </a:rPr>
              <a:t>Air Conditioning · Chapter 1 · Topic 1.1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1374B"/>
                </a:solidFill>
                <a:latin typeface="Aptos"/>
              </a:rPr>
              <a:t>What must be surveyed?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6973"/>
                </a:solidFill>
                <a:latin typeface="Aptos"/>
              </a:rPr>
              <a:t>Organize inputs into external and internal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78828C"/>
                </a:solidFill>
                <a:latin typeface="Aptos"/>
              </a:rPr>
              <a:t>12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691640"/>
            <a:ext cx="4572000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965960"/>
            <a:ext cx="4023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External: location, orientation, solar exposure, shading, outdoor unit location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Internal: room size, occupancy, lighting, equipment, ventilation, schedule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40680" y="1691640"/>
            <a:ext cx="6126480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_04_circulation_compare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2321169"/>
            <a:ext cx="5760720" cy="317578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6446520"/>
            <a:ext cx="1143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78828C"/>
                </a:solidFill>
              </a:rPr>
              <a:t>Air Conditioning · Chapter 1 · Topic 1.1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1374B"/>
                </a:solidFill>
                <a:latin typeface="Aptos"/>
              </a:rPr>
              <a:t>This course focuses on cooling-mode AC in Thailand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6973"/>
                </a:solidFill>
                <a:latin typeface="Aptos"/>
              </a:rPr>
              <a:t>Scope the course so students know what is included and excluded.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78828C"/>
                </a:solidFill>
                <a:latin typeface="Aptos"/>
              </a:rPr>
              <a:t>13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737360"/>
            <a:ext cx="1083564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1498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232D37"/>
                </a:solidFill>
                <a:latin typeface="Aptos"/>
              </a:defRPr>
            </a:pPr>
            <a:r>
              <a:t>Thailand context: high outdoor temperature + high humidity</a:t>
            </a:r>
          </a:p>
          <a:p>
            <a:pPr>
              <a:spcAft>
                <a:spcPts val="1200"/>
              </a:spcAft>
              <a:defRPr sz="2200">
                <a:solidFill>
                  <a:srgbClr val="232D37"/>
                </a:solidFill>
                <a:latin typeface="Aptos"/>
              </a:defRPr>
            </a:pPr>
            <a:r>
              <a:t>Main needs: cooling and dehumidification</a:t>
            </a:r>
          </a:p>
          <a:p>
            <a:pPr>
              <a:spcAft>
                <a:spcPts val="1200"/>
              </a:spcAft>
              <a:defRPr sz="2200">
                <a:solidFill>
                  <a:srgbClr val="232D37"/>
                </a:solidFill>
                <a:latin typeface="Aptos"/>
              </a:defRPr>
            </a:pPr>
            <a:r>
              <a:t>Heating and humidification are outside the main scope.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1143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78828C"/>
                </a:solidFill>
              </a:rPr>
              <a:t>Air Conditioning · Chapter 1 · Topic 1.1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1374B"/>
                </a:solidFill>
                <a:latin typeface="Aptos"/>
              </a:rPr>
              <a:t>Pause question: which parameter controls the problem?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6973"/>
                </a:solidFill>
                <a:latin typeface="Aptos"/>
              </a:rPr>
              <a:t>Use this as an interactive slide before summarizing.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78828C"/>
                </a:solidFill>
                <a:latin typeface="Aptos"/>
              </a:rPr>
              <a:t>14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737360"/>
            <a:ext cx="1083564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1498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232D37"/>
                </a:solidFill>
                <a:latin typeface="Aptos"/>
              </a:defRPr>
            </a:pPr>
            <a:r>
              <a:t>A classroom is 25 °C but students feel sticky. Which parameter is likely the problem?</a:t>
            </a:r>
          </a:p>
          <a:p>
            <a:pPr>
              <a:spcAft>
                <a:spcPts val="1200"/>
              </a:spcAft>
              <a:defRPr sz="2200">
                <a:solidFill>
                  <a:srgbClr val="232D37"/>
                </a:solidFill>
                <a:latin typeface="Aptos"/>
              </a:defRPr>
            </a:pPr>
            <a:r>
              <a:t>Answer: humidity and/or air movement.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1143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78828C"/>
                </a:solidFill>
              </a:rPr>
              <a:t>Air Conditioning · Chapter 1 · Topic 1.1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1374B"/>
                </a:solidFill>
                <a:latin typeface="Aptos"/>
              </a:rPr>
              <a:t>Topic 1.1 — what students should remember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78828C"/>
                </a:solidFill>
                <a:latin typeface="Aptos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737360"/>
            <a:ext cx="1083564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57400"/>
            <a:ext cx="101498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232D37"/>
                </a:solidFill>
                <a:latin typeface="Aptos"/>
              </a:defRPr>
            </a:pPr>
            <a:r>
              <a:t>AC = simultaneous control of temperature + humidity + circulation + cleanliness</a:t>
            </a:r>
          </a:p>
          <a:p>
            <a:pPr>
              <a:spcAft>
                <a:spcPts val="1200"/>
              </a:spcAft>
              <a:defRPr sz="2200">
                <a:solidFill>
                  <a:srgbClr val="232D37"/>
                </a:solidFill>
                <a:latin typeface="Aptos"/>
              </a:defRPr>
            </a:pPr>
            <a:r>
              <a:t>Comfort AC is for humans; process AC is for materials or production.</a:t>
            </a:r>
          </a:p>
          <a:p>
            <a:pPr>
              <a:spcAft>
                <a:spcPts val="1200"/>
              </a:spcAft>
              <a:defRPr sz="2200">
                <a:solidFill>
                  <a:srgbClr val="232D37"/>
                </a:solidFill>
                <a:latin typeface="Aptos"/>
              </a:defRPr>
            </a:pPr>
            <a:r>
              <a:t>Building survey provides inputs for load calculation and system selection.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78828C"/>
                </a:solidFill>
              </a:rPr>
              <a:t>Air Conditioning · Chapter 1 · Topic 1.1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