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5"/>
  </p:normalViewPr>
  <p:slideViewPr>
    <p:cSldViewPr snapToGrid="0" snapToObjects="1">
      <p:cViewPr varScale="1">
        <p:scale>
          <a:sx n="85" d="100"/>
          <a:sy n="85" d="100"/>
        </p:scale>
        <p:origin x="76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>
            <a:off x="9098280" y="201168"/>
            <a:ext cx="3090672" cy="2176272"/>
          </a:xfrm>
          <a:prstGeom prst="rtTriangle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Triangle 3"/>
          <p:cNvSpPr/>
          <p:nvPr/>
        </p:nvSpPr>
        <p:spPr>
          <a:xfrm>
            <a:off x="9692640" y="4434840"/>
            <a:ext cx="2496312" cy="2423160"/>
          </a:xfrm>
          <a:prstGeom prst="rtTriangle">
            <a:avLst/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A9D8F"/>
                </a:solidFill>
                <a:latin typeface="Aptos"/>
              </a:rPr>
              <a:t>AIR CONDITIONING · CHAPTER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170432"/>
            <a:ext cx="5349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i="0">
                <a:solidFill>
                  <a:srgbClr val="11374B"/>
                </a:solidFill>
                <a:latin typeface="Aptos"/>
              </a:rPr>
              <a:t>1.1 Air
Conditioning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33172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5A6973"/>
                </a:solidFill>
                <a:latin typeface="Aptos"/>
              </a:rPr>
              <a:t>Definition, Purpose, and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5257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232D37"/>
                </a:solidFill>
                <a:latin typeface="Aptos"/>
              </a:rPr>
              <a:t>Air conditioning is not simply cooling. It is the simultaneous control of the indoor environment.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133087"/>
            <a:ext cx="2212848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77240" y="4233672"/>
            <a:ext cx="182880" cy="18288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42415" y="4233672"/>
            <a:ext cx="166420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 i="0">
                <a:solidFill>
                  <a:srgbClr val="E76F51"/>
                </a:solidFill>
                <a:latin typeface="Aptos"/>
              </a:rPr>
              <a:t>Temperature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45536" y="4133087"/>
            <a:ext cx="2212848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264408" y="4233672"/>
            <a:ext cx="182880" cy="182880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29584" y="4233672"/>
            <a:ext cx="166420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 i="0">
                <a:solidFill>
                  <a:srgbClr val="457B9D"/>
                </a:solidFill>
                <a:latin typeface="Aptos"/>
              </a:rPr>
              <a:t>Humidity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700016"/>
            <a:ext cx="2212848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77240" y="4800600"/>
            <a:ext cx="182880" cy="18288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42415" y="4800600"/>
            <a:ext cx="166420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 i="0">
                <a:solidFill>
                  <a:srgbClr val="2A9D8F"/>
                </a:solidFill>
                <a:latin typeface="Aptos"/>
              </a:rPr>
              <a:t>Air circulation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45536" y="4700016"/>
            <a:ext cx="2212848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264408" y="4800600"/>
            <a:ext cx="182880" cy="18288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29584" y="4800600"/>
            <a:ext cx="166420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 i="0">
                <a:solidFill>
                  <a:srgbClr val="4CAF50"/>
                </a:solidFill>
                <a:latin typeface="Aptos"/>
              </a:rPr>
              <a:t>Air cleanliness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440680"/>
            <a:ext cx="5074920" cy="457200"/>
          </a:xfrm>
          <a:prstGeom prst="roundRect">
            <a:avLst/>
          </a:prstGeom>
          <a:solidFill>
            <a:srgbClr val="E6F4F7"/>
          </a:solidFill>
          <a:ln w="12700">
            <a:solidFill>
              <a:srgbClr val="B9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5577840"/>
            <a:ext cx="4617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1374B"/>
                </a:solidFill>
                <a:latin typeface="Aptos"/>
              </a:rPr>
              <a:t>Teaching focus: cooling-mode AC for Thailand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932688"/>
            <a:ext cx="544068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142651"/>
            <a:ext cx="5074920" cy="28561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94360" y="64465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78828C"/>
                </a:solidFill>
                <a:latin typeface="Aptos"/>
              </a:rPr>
              <a:t>Air Conditioning · Chapter 1 · Topic 1.1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4652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78828C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oling-only-vs-air-conditioning-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59" y="758952"/>
            <a:ext cx="10647680" cy="5989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74980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374B"/>
                </a:solidFill>
                <a:latin typeface="Aptos"/>
              </a:rPr>
              <a:t>1.1 | Cooling only is not air conditioning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6766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A6973"/>
                </a:solidFill>
                <a:latin typeface="Aptos"/>
              </a:rPr>
              <a:t>Start with the misconception and correct it visually.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78828C"/>
                </a:solidFill>
                <a:latin typeface="Aptos"/>
              </a:rPr>
              <a:t>Air Conditioning · Chapter 1 · Topic 1.1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78828C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1374B"/>
                </a:solidFill>
                <a:latin typeface="Aptos"/>
              </a:rPr>
              <a:t>Four parameters must be controlled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A6973"/>
                </a:solidFill>
                <a:latin typeface="Aptos"/>
              </a:rPr>
              <a:t>Use the 2×2 visual as the core definition.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8828C"/>
                </a:solidFill>
                <a:latin typeface="Aptos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78828C"/>
                </a:solidFill>
                <a:latin typeface="Aptos"/>
              </a:rPr>
              <a:t>Air Conditioning · Chapter 1 · Topic 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828C"/>
                </a:solidFill>
                <a:latin typeface="Aptos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1691640"/>
            <a:ext cx="612648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ig_01_four_params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01" y="1874519"/>
            <a:ext cx="5752837" cy="4069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1792" y="1664208"/>
            <a:ext cx="4590288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" y="1664208"/>
            <a:ext cx="109728" cy="444398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1892807"/>
            <a:ext cx="3886200" cy="21031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50" b="1" i="0">
                <a:solidFill>
                  <a:srgbClr val="2A9D8F"/>
                </a:solidFill>
                <a:latin typeface="Aptos Display"/>
              </a:rPr>
              <a:t>CORE DEFINITION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139696"/>
            <a:ext cx="3886200" cy="60350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100" b="1" i="0">
                <a:solidFill>
                  <a:srgbClr val="11374B"/>
                </a:solidFill>
                <a:latin typeface="Aptos Display"/>
              </a:rPr>
              <a:t>Control these together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" y="2788920"/>
            <a:ext cx="3913632" cy="658368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" y="2953512"/>
            <a:ext cx="384048" cy="384048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3044952"/>
            <a:ext cx="384048" cy="1097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916936"/>
            <a:ext cx="283464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50" b="1" i="0">
                <a:solidFill>
                  <a:srgbClr val="232D37"/>
                </a:solidFill>
                <a:latin typeface="Aptos Display"/>
              </a:rPr>
              <a:t>Temperature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182112"/>
            <a:ext cx="2971800" cy="23774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80" b="0" i="0">
                <a:solidFill>
                  <a:srgbClr val="5A6973"/>
                </a:solidFill>
                <a:latin typeface="Aptos"/>
              </a:rPr>
              <a:t>sensible heat balance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" y="3547872"/>
            <a:ext cx="3913632" cy="658368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60704" y="3712463"/>
            <a:ext cx="384048" cy="384048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" y="3803904"/>
            <a:ext cx="384048" cy="1097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3675887"/>
            <a:ext cx="283464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50" b="1" i="0">
                <a:solidFill>
                  <a:srgbClr val="232D37"/>
                </a:solidFill>
                <a:latin typeface="Aptos Display"/>
              </a:rPr>
              <a:t>Humidity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3941063"/>
            <a:ext cx="2971800" cy="23774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80" b="0" i="0">
                <a:solidFill>
                  <a:srgbClr val="5A6973"/>
                </a:solidFill>
                <a:latin typeface="Aptos"/>
              </a:rPr>
              <a:t>latent moisture control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" y="4306824"/>
            <a:ext cx="3913632" cy="658368"/>
          </a:xfrm>
          <a:prstGeom prst="roundRect">
            <a:avLst/>
          </a:prstGeom>
          <a:solidFill>
            <a:srgbClr val="E6F4F7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60704" y="4471416"/>
            <a:ext cx="384048" cy="384048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0704" y="4562856"/>
            <a:ext cx="384048" cy="1097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4434840"/>
            <a:ext cx="283464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50" b="1" i="0">
                <a:solidFill>
                  <a:srgbClr val="232D37"/>
                </a:solidFill>
                <a:latin typeface="Aptos Display"/>
              </a:rPr>
              <a:t>Air circulation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4700016"/>
            <a:ext cx="2971800" cy="23774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80" b="0" i="0">
                <a:solidFill>
                  <a:srgbClr val="5A6973"/>
                </a:solidFill>
                <a:latin typeface="Aptos"/>
              </a:rPr>
              <a:t>mixing + distribution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112" y="5065775"/>
            <a:ext cx="3913632" cy="658368"/>
          </a:xfrm>
          <a:prstGeom prst="roundRect">
            <a:avLst/>
          </a:prstGeom>
          <a:solidFill>
            <a:srgbClr val="ECF8EE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60704" y="5230367"/>
            <a:ext cx="384048" cy="38404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0704" y="5321807"/>
            <a:ext cx="384048" cy="1097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193791"/>
            <a:ext cx="283464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50" b="1" i="0">
                <a:solidFill>
                  <a:srgbClr val="232D37"/>
                </a:solidFill>
                <a:latin typeface="Aptos Display"/>
              </a:rPr>
              <a:t>Air cleanliness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5458967"/>
            <a:ext cx="2971800" cy="23774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80" b="0" i="0">
                <a:solidFill>
                  <a:srgbClr val="5A6973"/>
                </a:solidFill>
                <a:latin typeface="Aptos"/>
              </a:rPr>
              <a:t>filtration + dilution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1374B"/>
                </a:solidFill>
                <a:latin typeface="Aptos"/>
              </a:rPr>
              <a:t>If one control fails, the whole environment can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A6973"/>
                </a:solidFill>
                <a:latin typeface="Aptos"/>
              </a:rPr>
              <a:t>A good temperature reading does not guarantee a good indoor environment.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8828C"/>
                </a:solidFill>
                <a:latin typeface="Aptos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78828C"/>
                </a:solidFill>
                <a:latin typeface="Aptos"/>
              </a:rPr>
              <a:t>Air Conditioning · Chapter 1 · Topic 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828C"/>
                </a:solidFill>
                <a:latin typeface="Aptos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1691640"/>
            <a:ext cx="612648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ig_05_air_processing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082" y="1874519"/>
            <a:ext cx="5231674" cy="4069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1792" y="1664208"/>
            <a:ext cx="4590288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" y="1664208"/>
            <a:ext cx="109728" cy="444398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1892807"/>
            <a:ext cx="3886200" cy="21031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50" b="1" i="0">
                <a:solidFill>
                  <a:srgbClr val="2A9D8F"/>
                </a:solidFill>
                <a:latin typeface="Aptos Display"/>
              </a:rPr>
              <a:t>WHY IT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139696"/>
            <a:ext cx="3886200" cy="60350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100" b="1" i="0">
                <a:solidFill>
                  <a:srgbClr val="11374B"/>
                </a:solidFill>
                <a:latin typeface="Aptos Display"/>
              </a:rPr>
              <a:t>One weak control can ruin comfort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" y="2926080"/>
            <a:ext cx="3913632" cy="786384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" y="3090672"/>
            <a:ext cx="384048" cy="384048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3182112"/>
            <a:ext cx="384048" cy="1097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054096"/>
            <a:ext cx="283464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50" b="1" i="0">
                <a:solidFill>
                  <a:srgbClr val="232D37"/>
                </a:solidFill>
                <a:latin typeface="Aptos Display"/>
              </a:rPr>
              <a:t>Sticky at 25 °C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319272"/>
            <a:ext cx="2971800" cy="23774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80" b="0" i="0">
                <a:solidFill>
                  <a:srgbClr val="5A6973"/>
                </a:solidFill>
                <a:latin typeface="Aptos"/>
              </a:rPr>
              <a:t>humidity is still too high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" y="3858768"/>
            <a:ext cx="3913632" cy="786384"/>
          </a:xfrm>
          <a:prstGeom prst="roundRect">
            <a:avLst/>
          </a:prstGeom>
          <a:solidFill>
            <a:srgbClr val="E6F4F7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60704" y="4023360"/>
            <a:ext cx="384048" cy="384048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" y="4114800"/>
            <a:ext cx="384048" cy="1097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3986784"/>
            <a:ext cx="283464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50" b="1" i="0">
                <a:solidFill>
                  <a:srgbClr val="232D37"/>
                </a:solidFill>
                <a:latin typeface="Aptos Display"/>
              </a:rPr>
              <a:t>Stale or smelly air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251960"/>
            <a:ext cx="2971800" cy="23774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80" b="0" i="0">
                <a:solidFill>
                  <a:srgbClr val="5A6973"/>
                </a:solidFill>
                <a:latin typeface="Aptos"/>
              </a:rPr>
              <a:t>ventilation/cleanliness is weak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" y="4791456"/>
            <a:ext cx="3913632" cy="786384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60704" y="4956048"/>
            <a:ext cx="384048" cy="384048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0704" y="5047488"/>
            <a:ext cx="384048" cy="1097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4919472"/>
            <a:ext cx="283464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50" b="1" i="0">
                <a:solidFill>
                  <a:srgbClr val="232D37"/>
                </a:solidFill>
                <a:latin typeface="Aptos Display"/>
              </a:rPr>
              <a:t>Uneven room comfort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5184648"/>
            <a:ext cx="2971800" cy="23774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80" b="0" i="0">
                <a:solidFill>
                  <a:srgbClr val="5A6973"/>
                </a:solidFill>
                <a:latin typeface="Aptos"/>
              </a:rPr>
              <a:t>poor air distribution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1374B"/>
                </a:solidFill>
                <a:latin typeface="Aptos"/>
              </a:rPr>
              <a:t>Purpose changes the design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A6973"/>
                </a:solidFill>
                <a:latin typeface="Aptos"/>
              </a:rPr>
              <a:t>Comfort AC and process AC use the same variables for different goals.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8828C"/>
                </a:solidFill>
                <a:latin typeface="Aptos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78828C"/>
                </a:solidFill>
                <a:latin typeface="Aptos"/>
              </a:rPr>
              <a:t>Air Conditioning · Chapter 1 · Topic 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828C"/>
                </a:solidFill>
                <a:latin typeface="Aptos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1691640"/>
            <a:ext cx="612648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ig_06_classification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180844"/>
            <a:ext cx="5760720" cy="345643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1792" y="1664208"/>
            <a:ext cx="4590288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" y="1664208"/>
            <a:ext cx="109728" cy="444398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1892807"/>
            <a:ext cx="3886200" cy="21031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50" b="1" i="0">
                <a:solidFill>
                  <a:srgbClr val="2A9D8F"/>
                </a:solidFill>
                <a:latin typeface="Aptos Display"/>
              </a:rPr>
              <a:t>DESIGN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139696"/>
            <a:ext cx="3886200" cy="60350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100" b="1" i="0">
                <a:solidFill>
                  <a:srgbClr val="11374B"/>
                </a:solidFill>
                <a:latin typeface="Aptos Display"/>
              </a:rPr>
              <a:t>Purpose changes the setpoint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" y="2926080"/>
            <a:ext cx="3913632" cy="786384"/>
          </a:xfrm>
          <a:prstGeom prst="roundRect">
            <a:avLst/>
          </a:prstGeom>
          <a:solidFill>
            <a:srgbClr val="E6F4F7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" y="3090672"/>
            <a:ext cx="384048" cy="384048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3182112"/>
            <a:ext cx="384048" cy="1097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054096"/>
            <a:ext cx="283464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50" b="1" i="0">
                <a:solidFill>
                  <a:srgbClr val="232D37"/>
                </a:solidFill>
                <a:latin typeface="Aptos Display"/>
              </a:rPr>
              <a:t>Comfort AC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319272"/>
            <a:ext cx="2971800" cy="23774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80" b="0" i="0">
                <a:solidFill>
                  <a:srgbClr val="5A6973"/>
                </a:solidFill>
                <a:latin typeface="Aptos"/>
              </a:rPr>
              <a:t>human thermal comfort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" y="3858768"/>
            <a:ext cx="3913632" cy="786384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60704" y="4023360"/>
            <a:ext cx="384048" cy="384048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" y="4114800"/>
            <a:ext cx="384048" cy="1097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3986784"/>
            <a:ext cx="283464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50" b="1" i="0">
                <a:solidFill>
                  <a:srgbClr val="232D37"/>
                </a:solidFill>
                <a:latin typeface="Aptos Display"/>
              </a:rPr>
              <a:t>Process AC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251960"/>
            <a:ext cx="2971800" cy="23774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80" b="0" i="0">
                <a:solidFill>
                  <a:srgbClr val="5A6973"/>
                </a:solidFill>
                <a:latin typeface="Aptos"/>
              </a:rPr>
              <a:t>product, material, or process requirement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1374B"/>
                </a:solidFill>
                <a:latin typeface="Aptos"/>
              </a:rPr>
              <a:t>Comfort AC supports the body’s heat 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A6973"/>
                </a:solidFill>
                <a:latin typeface="Aptos"/>
              </a:rPr>
              <a:t>Use the human body as the “sensor” for comfort air conditioning.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8828C"/>
                </a:solidFill>
                <a:latin typeface="Aptos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78828C"/>
                </a:solidFill>
                <a:latin typeface="Aptos"/>
              </a:rPr>
              <a:t>Air Conditioning · Chapter 1 · Topic 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828C"/>
                </a:solidFill>
                <a:latin typeface="Aptos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1691640"/>
            <a:ext cx="612648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ig_02_temp_comfort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284241"/>
            <a:ext cx="5760720" cy="324963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1792" y="1664208"/>
            <a:ext cx="4590288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" y="1664208"/>
            <a:ext cx="109728" cy="444398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1892807"/>
            <a:ext cx="3886200" cy="21031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50" b="1" i="0">
                <a:solidFill>
                  <a:srgbClr val="2A9D8F"/>
                </a:solidFill>
                <a:latin typeface="Aptos Display"/>
              </a:rPr>
              <a:t>COMFORT MECHANISMS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139696"/>
            <a:ext cx="3886200" cy="60350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100" b="1" i="0">
                <a:solidFill>
                  <a:srgbClr val="11374B"/>
                </a:solidFill>
                <a:latin typeface="Aptos Display"/>
              </a:rPr>
              <a:t>The body is the sensor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" y="2788920"/>
            <a:ext cx="3913632" cy="658368"/>
          </a:xfrm>
          <a:prstGeom prst="roundRect">
            <a:avLst/>
          </a:prstGeom>
          <a:solidFill>
            <a:srgbClr val="E6F4F7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" y="2953512"/>
            <a:ext cx="384048" cy="384048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3044952"/>
            <a:ext cx="384048" cy="1097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916936"/>
            <a:ext cx="283464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50" b="1" i="0">
                <a:solidFill>
                  <a:srgbClr val="232D37"/>
                </a:solidFill>
                <a:latin typeface="Aptos Display"/>
              </a:rPr>
              <a:t>Convection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182112"/>
            <a:ext cx="2971800" cy="23774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80" b="0" i="0">
                <a:solidFill>
                  <a:srgbClr val="5A6973"/>
                </a:solidFill>
                <a:latin typeface="Aptos"/>
              </a:rPr>
              <a:t>heat transfer to moving air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" y="3547872"/>
            <a:ext cx="3913632" cy="658368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60704" y="3712463"/>
            <a:ext cx="384048" cy="384048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" y="3803904"/>
            <a:ext cx="384048" cy="1097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3675887"/>
            <a:ext cx="283464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50" b="1" i="0">
                <a:solidFill>
                  <a:srgbClr val="232D37"/>
                </a:solidFill>
                <a:latin typeface="Aptos Display"/>
              </a:rPr>
              <a:t>Radiation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3941063"/>
            <a:ext cx="2971800" cy="23774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80" b="0" i="0">
                <a:solidFill>
                  <a:srgbClr val="5A6973"/>
                </a:solidFill>
                <a:latin typeface="Aptos"/>
              </a:rPr>
              <a:t>exchange with surfaces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" y="4306824"/>
            <a:ext cx="3913632" cy="658368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60704" y="4471416"/>
            <a:ext cx="384048" cy="384048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0704" y="4562856"/>
            <a:ext cx="384048" cy="1097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4434840"/>
            <a:ext cx="283464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50" b="1" i="0">
                <a:solidFill>
                  <a:srgbClr val="232D37"/>
                </a:solidFill>
                <a:latin typeface="Aptos Display"/>
              </a:rPr>
              <a:t>Conduction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4700016"/>
            <a:ext cx="2971800" cy="23774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80" b="0" i="0">
                <a:solidFill>
                  <a:srgbClr val="5A6973"/>
                </a:solidFill>
                <a:latin typeface="Aptos"/>
              </a:rPr>
              <a:t>contact with materials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112" y="5065775"/>
            <a:ext cx="3913632" cy="658368"/>
          </a:xfrm>
          <a:prstGeom prst="roundRect">
            <a:avLst/>
          </a:prstGeom>
          <a:solidFill>
            <a:srgbClr val="ECF8EE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60704" y="5230367"/>
            <a:ext cx="384048" cy="38404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0704" y="5321807"/>
            <a:ext cx="384048" cy="1097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193791"/>
            <a:ext cx="283464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50" b="1" i="0">
                <a:solidFill>
                  <a:srgbClr val="232D37"/>
                </a:solidFill>
                <a:latin typeface="Aptos Display"/>
              </a:rPr>
              <a:t>Evaporation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5458967"/>
            <a:ext cx="2971800" cy="23774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80" b="0" i="0">
                <a:solidFill>
                  <a:srgbClr val="5A6973"/>
                </a:solidFill>
                <a:latin typeface="Aptos"/>
              </a:rPr>
              <a:t>sweat + moisture removal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1374B"/>
                </a:solidFill>
                <a:latin typeface="Aptos"/>
              </a:rPr>
              <a:t>Process AC may target conditions humans would not choose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A6973"/>
                </a:solidFill>
                <a:latin typeface="Aptos"/>
              </a:rPr>
              <a:t>Let the product/process define the control objective.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8828C"/>
                </a:solidFill>
                <a:latin typeface="Aptos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78828C"/>
                </a:solidFill>
                <a:latin typeface="Aptos"/>
              </a:rPr>
              <a:t>Air Conditioning · Chapter 1 · Topic 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828C"/>
                </a:solidFill>
                <a:latin typeface="Aptos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1691640"/>
            <a:ext cx="612648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ig_03_humidity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284241"/>
            <a:ext cx="5760720" cy="324963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1792" y="1664208"/>
            <a:ext cx="4590288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" y="1664208"/>
            <a:ext cx="109728" cy="444398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1892807"/>
            <a:ext cx="3886200" cy="21031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50" b="1" i="0">
                <a:solidFill>
                  <a:srgbClr val="2A9D8F"/>
                </a:solidFill>
                <a:latin typeface="Aptos Display"/>
              </a:rPr>
              <a:t>PROCESS EXAMPLES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139696"/>
            <a:ext cx="3886200" cy="60350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100" b="1" i="0">
                <a:solidFill>
                  <a:srgbClr val="11374B"/>
                </a:solidFill>
                <a:latin typeface="Aptos Display"/>
              </a:rPr>
              <a:t>The product defines comfort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" y="2926080"/>
            <a:ext cx="3913632" cy="786384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" y="3090672"/>
            <a:ext cx="384048" cy="384048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3182112"/>
            <a:ext cx="384048" cy="1097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054096"/>
            <a:ext cx="283464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50" b="1" i="0">
                <a:solidFill>
                  <a:srgbClr val="232D37"/>
                </a:solidFill>
                <a:latin typeface="Aptos Display"/>
              </a:rPr>
              <a:t>Textile mill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319272"/>
            <a:ext cx="2971800" cy="23774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80" b="0" i="0">
                <a:solidFill>
                  <a:srgbClr val="5A6973"/>
                </a:solidFill>
                <a:latin typeface="Aptos"/>
              </a:rPr>
              <a:t>higher RH for fibers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" y="3858768"/>
            <a:ext cx="3913632" cy="786384"/>
          </a:xfrm>
          <a:prstGeom prst="roundRect">
            <a:avLst/>
          </a:prstGeom>
          <a:solidFill>
            <a:srgbClr val="E6F4F7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60704" y="4023360"/>
            <a:ext cx="384048" cy="384048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" y="4114800"/>
            <a:ext cx="384048" cy="1097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3986784"/>
            <a:ext cx="283464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50" b="1" i="0">
                <a:solidFill>
                  <a:srgbClr val="232D37"/>
                </a:solidFill>
                <a:latin typeface="Aptos Display"/>
              </a:rPr>
              <a:t>Paper storage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251960"/>
            <a:ext cx="2971800" cy="23774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80" b="0" i="0">
                <a:solidFill>
                  <a:srgbClr val="5A6973"/>
                </a:solidFill>
                <a:latin typeface="Aptos"/>
              </a:rPr>
              <a:t>lower RH to protect stock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" y="4791456"/>
            <a:ext cx="3913632" cy="786384"/>
          </a:xfrm>
          <a:prstGeom prst="roundRect">
            <a:avLst/>
          </a:prstGeom>
          <a:solidFill>
            <a:srgbClr val="ECF8EE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60704" y="4956048"/>
            <a:ext cx="384048" cy="38404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0704" y="5047488"/>
            <a:ext cx="384048" cy="1097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4919472"/>
            <a:ext cx="283464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50" b="1" i="0">
                <a:solidFill>
                  <a:srgbClr val="232D37"/>
                </a:solidFill>
                <a:latin typeface="Aptos Display"/>
              </a:rPr>
              <a:t>Seed storage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5184648"/>
            <a:ext cx="2971800" cy="23774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80" b="0" i="0">
                <a:solidFill>
                  <a:srgbClr val="5A6973"/>
                </a:solidFill>
                <a:latin typeface="Aptos"/>
              </a:rPr>
              <a:t>low temperature + low humidity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1374B"/>
                </a:solidFill>
                <a:latin typeface="Aptos"/>
              </a:rPr>
              <a:t>Equipment sizing is a peak-load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A6973"/>
                </a:solidFill>
                <a:latin typeface="Aptos"/>
              </a:rPr>
              <a:t>Capacity must match the maximum heat gain rate during operation.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8828C"/>
                </a:solidFill>
                <a:latin typeface="Aptos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78828C"/>
                </a:solidFill>
                <a:latin typeface="Aptos"/>
              </a:rPr>
              <a:t>Air Conditioning · Chapter 1 · Topic 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828C"/>
                </a:solidFill>
                <a:latin typeface="Aptos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1074420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5486400" y="4983479"/>
            <a:ext cx="4937760" cy="0"/>
          </a:xfrm>
          <a:prstGeom prst="line">
            <a:avLst/>
          </a:prstGeom>
          <a:ln w="12700">
            <a:solidFill>
              <a:srgbClr val="8C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486400" y="2331720"/>
            <a:ext cx="0" cy="2651759"/>
          </a:xfrm>
          <a:prstGeom prst="line">
            <a:avLst/>
          </a:prstGeom>
          <a:ln w="12700">
            <a:solidFill>
              <a:srgbClr val="8C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486400" y="4055363"/>
            <a:ext cx="987552" cy="397764"/>
          </a:xfrm>
          <a:prstGeom prst="line">
            <a:avLst/>
          </a:prstGeom>
          <a:ln w="3810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473952" y="3525011"/>
            <a:ext cx="987552" cy="530352"/>
          </a:xfrm>
          <a:prstGeom prst="line">
            <a:avLst/>
          </a:prstGeom>
          <a:ln w="3810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461504" y="2464308"/>
            <a:ext cx="987552" cy="1060703"/>
          </a:xfrm>
          <a:prstGeom prst="line">
            <a:avLst/>
          </a:prstGeom>
          <a:ln w="3810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449056" y="2464308"/>
            <a:ext cx="987552" cy="662940"/>
          </a:xfrm>
          <a:prstGeom prst="line">
            <a:avLst/>
          </a:prstGeom>
          <a:ln w="3810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436608" y="3127248"/>
            <a:ext cx="987552" cy="928115"/>
          </a:xfrm>
          <a:prstGeom prst="line">
            <a:avLst/>
          </a:prstGeom>
          <a:ln w="3810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445252" y="4411979"/>
            <a:ext cx="82296" cy="82296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32804" y="4014215"/>
            <a:ext cx="82296" cy="82296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420356" y="3483863"/>
            <a:ext cx="82296" cy="82296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407908" y="2423160"/>
            <a:ext cx="82296" cy="82296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395460" y="3086100"/>
            <a:ext cx="82296" cy="82296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383012" y="4014215"/>
            <a:ext cx="82296" cy="82296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35440" y="24231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E76F51"/>
                </a:solidFill>
                <a:latin typeface="Aptos"/>
              </a:rPr>
              <a:t>Peak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0" y="4069080"/>
            <a:ext cx="4937760" cy="0"/>
          </a:xfrm>
          <a:prstGeom prst="line">
            <a:avLst/>
          </a:prstGeom>
          <a:ln w="25400">
            <a:solidFill>
              <a:srgbClr val="457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646920" y="4133087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457B9D"/>
                </a:solidFill>
                <a:latin typeface="Aptos"/>
              </a:rPr>
              <a:t>Avg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516636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6973"/>
                </a:solidFill>
                <a:latin typeface="Aptos"/>
              </a:rPr>
              <a:t>Time of day 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" y="1874519"/>
            <a:ext cx="406908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0120" y="1874519"/>
            <a:ext cx="109728" cy="278892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34440" y="2121408"/>
            <a:ext cx="333756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50" b="1" i="0">
                <a:solidFill>
                  <a:srgbClr val="E76F51"/>
                </a:solidFill>
                <a:latin typeface="Aptos Display"/>
              </a:rPr>
              <a:t>SIZING PRINCIPLE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2404872"/>
            <a:ext cx="3474720" cy="49377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100" b="1" i="0">
                <a:solidFill>
                  <a:srgbClr val="11374B"/>
                </a:solidFill>
                <a:latin typeface="Aptos Display"/>
              </a:rPr>
              <a:t>Peak load sets capacity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34440" y="3108960"/>
            <a:ext cx="3429000" cy="566928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89888" y="3246120"/>
            <a:ext cx="292608" cy="292608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83080" y="3200400"/>
            <a:ext cx="2514600" cy="16459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150" b="1" i="0">
                <a:solidFill>
                  <a:srgbClr val="232D37"/>
                </a:solidFill>
                <a:latin typeface="Aptos Display"/>
              </a:rPr>
              <a:t>Design for maximum expected load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83080" y="3429000"/>
            <a:ext cx="2514600" cy="14630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50" b="0" i="0">
                <a:solidFill>
                  <a:srgbClr val="5A6973"/>
                </a:solidFill>
                <a:latin typeface="Aptos"/>
              </a:rPr>
              <a:t>not the daily average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" y="3858768"/>
            <a:ext cx="3429000" cy="566928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389888" y="3995928"/>
            <a:ext cx="292608" cy="292608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783080" y="3950207"/>
            <a:ext cx="2514600" cy="16459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150" b="1" i="0">
                <a:solidFill>
                  <a:srgbClr val="232D37"/>
                </a:solidFill>
                <a:latin typeface="Aptos Display"/>
              </a:rPr>
              <a:t>Average load can be misleading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83080" y="4178807"/>
            <a:ext cx="2514600" cy="14630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50" b="0" i="0">
                <a:solidFill>
                  <a:srgbClr val="5A6973"/>
                </a:solidFill>
                <a:latin typeface="Aptos"/>
              </a:rPr>
              <a:t>capacity may be undersized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1374B"/>
                </a:solidFill>
                <a:latin typeface="Aptos"/>
              </a:rPr>
              <a:t>Office peak load often occurs after solar noon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A6973"/>
                </a:solidFill>
                <a:latin typeface="Aptos"/>
              </a:rPr>
              <a:t>Stored heat and internal gains shift the maximum into mid-afternoon.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8828C"/>
                </a:solidFill>
                <a:latin typeface="Aptos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78828C"/>
                </a:solidFill>
                <a:latin typeface="Aptos"/>
              </a:rPr>
              <a:t>Air Conditioning · Chapter 1 · Topic 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828C"/>
                </a:solidFill>
                <a:latin typeface="Aptos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1074420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1143000" y="4983479"/>
            <a:ext cx="6400800" cy="0"/>
          </a:xfrm>
          <a:prstGeom prst="line">
            <a:avLst/>
          </a:prstGeom>
          <a:ln w="12700">
            <a:solidFill>
              <a:srgbClr val="8C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43000" y="2331720"/>
            <a:ext cx="0" cy="2651759"/>
          </a:xfrm>
          <a:prstGeom prst="line">
            <a:avLst/>
          </a:prstGeom>
          <a:ln w="12700">
            <a:solidFill>
              <a:srgbClr val="8C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43000" y="4187952"/>
            <a:ext cx="1408176" cy="397764"/>
          </a:xfrm>
          <a:prstGeom prst="line">
            <a:avLst/>
          </a:prstGeom>
          <a:ln w="3810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551176" y="3392424"/>
            <a:ext cx="1472184" cy="795528"/>
          </a:xfrm>
          <a:prstGeom prst="line">
            <a:avLst/>
          </a:prstGeom>
          <a:ln w="3810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023360" y="2543860"/>
            <a:ext cx="1280160" cy="848564"/>
          </a:xfrm>
          <a:prstGeom prst="line">
            <a:avLst/>
          </a:prstGeom>
          <a:ln w="3810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303520" y="2543860"/>
            <a:ext cx="1280160" cy="715975"/>
          </a:xfrm>
          <a:prstGeom prst="line">
            <a:avLst/>
          </a:prstGeom>
          <a:ln w="3810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83680" y="3259835"/>
            <a:ext cx="960120" cy="1193292"/>
          </a:xfrm>
          <a:prstGeom prst="line">
            <a:avLst/>
          </a:prstGeom>
          <a:ln w="3810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101852" y="4544568"/>
            <a:ext cx="82296" cy="82296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510028" y="4146804"/>
            <a:ext cx="82296" cy="82296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982212" y="3351276"/>
            <a:ext cx="82296" cy="82296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262372" y="2502712"/>
            <a:ext cx="82296" cy="82296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542532" y="3218687"/>
            <a:ext cx="82296" cy="82296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502652" y="4411979"/>
            <a:ext cx="82296" cy="82296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24231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E76F51"/>
                </a:solidFill>
                <a:latin typeface="Aptos"/>
              </a:rPr>
              <a:t>Load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07492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973"/>
                </a:solidFill>
                <a:latin typeface="Aptos"/>
              </a:rPr>
              <a:t>08:00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507492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973"/>
                </a:solidFill>
                <a:latin typeface="Aptos"/>
              </a:rPr>
              <a:t>12:00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507492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973"/>
                </a:solidFill>
                <a:latin typeface="Aptos"/>
              </a:rPr>
              <a:t>16:00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507492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973"/>
                </a:solidFill>
                <a:latin typeface="Aptos"/>
              </a:rPr>
              <a:t>20:00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2148840"/>
            <a:ext cx="2926080" cy="2606040"/>
          </a:xfrm>
          <a:prstGeom prst="roundRect">
            <a:avLst/>
          </a:prstGeom>
          <a:solidFill>
            <a:srgbClr val="F5F9FA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21040" y="2468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76F51"/>
                </a:solidFill>
                <a:latin typeface="Aptos"/>
              </a:rPr>
              <a:t>Peak around 15:00–16:00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15468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32D37"/>
                </a:solidFill>
                <a:latin typeface="Aptos"/>
              </a:rPr>
              <a:t>solar + thermal lag + internal gains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0690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6973"/>
                </a:solidFill>
                <a:latin typeface="Aptos"/>
              </a:rPr>
              <a:t>Peak follows use pattern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1374B"/>
                </a:solidFill>
                <a:latin typeface="Aptos"/>
              </a:rPr>
              <a:t>Nightclub peak load is driven by people and lighting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A6973"/>
                </a:solidFill>
                <a:latin typeface="Aptos"/>
              </a:rPr>
              <a:t>A building with little solar gain can peak at night.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8828C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78828C"/>
                </a:solidFill>
                <a:latin typeface="Aptos"/>
              </a:rPr>
              <a:t>Air Conditioning · Chapter 1 · Topic 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828C"/>
                </a:solidFill>
                <a:latin typeface="Aptos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1074420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1143000" y="4983479"/>
            <a:ext cx="6400800" cy="0"/>
          </a:xfrm>
          <a:prstGeom prst="line">
            <a:avLst/>
          </a:prstGeom>
          <a:ln w="12700">
            <a:solidFill>
              <a:srgbClr val="8C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43000" y="2331720"/>
            <a:ext cx="0" cy="2651759"/>
          </a:xfrm>
          <a:prstGeom prst="line">
            <a:avLst/>
          </a:prstGeom>
          <a:ln w="12700">
            <a:solidFill>
              <a:srgbClr val="8C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43000" y="4771339"/>
            <a:ext cx="1600200" cy="79553"/>
          </a:xfrm>
          <a:prstGeom prst="line">
            <a:avLst/>
          </a:prstGeom>
          <a:ln w="381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743200" y="4585716"/>
            <a:ext cx="1600200" cy="185623"/>
          </a:xfrm>
          <a:prstGeom prst="line">
            <a:avLst/>
          </a:prstGeom>
          <a:ln w="381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343400" y="2464308"/>
            <a:ext cx="1792224" cy="2121408"/>
          </a:xfrm>
          <a:prstGeom prst="line">
            <a:avLst/>
          </a:prstGeom>
          <a:ln w="381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135624" y="2464308"/>
            <a:ext cx="1408176" cy="1060703"/>
          </a:xfrm>
          <a:prstGeom prst="line">
            <a:avLst/>
          </a:prstGeom>
          <a:ln w="381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101852" y="4809744"/>
            <a:ext cx="82296" cy="8229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702052" y="4730191"/>
            <a:ext cx="82296" cy="8229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302252" y="4544568"/>
            <a:ext cx="82296" cy="8229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094476" y="2423160"/>
            <a:ext cx="82296" cy="8229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502652" y="3483863"/>
            <a:ext cx="82296" cy="8229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24231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2A9D8F"/>
                </a:solidFill>
                <a:latin typeface="Aptos"/>
              </a:rPr>
              <a:t>Load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07492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973"/>
                </a:solidFill>
                <a:latin typeface="Aptos"/>
              </a:rPr>
              <a:t>18:00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507492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973"/>
                </a:solidFill>
                <a:latin typeface="Aptos"/>
              </a:rPr>
              <a:t>20:00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507492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973"/>
                </a:solidFill>
                <a:latin typeface="Aptos"/>
              </a:rPr>
              <a:t>22:00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507492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973"/>
                </a:solidFill>
                <a:latin typeface="Aptos"/>
              </a:rPr>
              <a:t>24:00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2148840"/>
            <a:ext cx="2926080" cy="2606040"/>
          </a:xfrm>
          <a:prstGeom prst="roundRect">
            <a:avLst/>
          </a:prstGeom>
          <a:solidFill>
            <a:srgbClr val="F5F9FA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0" y="2468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A9D8F"/>
                </a:solidFill>
                <a:latin typeface="Aptos"/>
              </a:rPr>
              <a:t>Peak around 21:00–22:00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15468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32D37"/>
                </a:solidFill>
                <a:latin typeface="Aptos"/>
              </a:rPr>
              <a:t>occupants + lighting + latent heat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0690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6973"/>
                </a:solidFill>
                <a:latin typeface="Aptos"/>
              </a:rPr>
              <a:t>Peak follows use pattern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1374B"/>
                </a:solidFill>
                <a:latin typeface="Aptos"/>
              </a:rPr>
              <a:t>A building survey turns assumptions into inputs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A6973"/>
                </a:solidFill>
                <a:latin typeface="Aptos"/>
              </a:rPr>
              <a:t>The survey is the first engineering step before load calculation.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8828C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78828C"/>
                </a:solidFill>
                <a:latin typeface="Aptos"/>
              </a:rPr>
              <a:t>Air Conditioning · Chapter 1 · Topic 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828C"/>
                </a:solidFill>
                <a:latin typeface="Aptos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1691640"/>
            <a:ext cx="612648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ig_07_design_workflow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601" y="1874519"/>
            <a:ext cx="4766636" cy="4069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1792" y="1664208"/>
            <a:ext cx="4590288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" y="1664208"/>
            <a:ext cx="109728" cy="444398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1892807"/>
            <a:ext cx="3886200" cy="21031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50" b="1" i="0">
                <a:solidFill>
                  <a:srgbClr val="2A9D8F"/>
                </a:solidFill>
                <a:latin typeface="Aptos Display"/>
              </a:rPr>
              <a:t>FIRST ENGINEERING STEP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139696"/>
            <a:ext cx="3886200" cy="60350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100" b="1" i="0">
                <a:solidFill>
                  <a:srgbClr val="11374B"/>
                </a:solidFill>
                <a:latin typeface="Aptos Display"/>
              </a:rPr>
              <a:t>Survey before calculating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" y="2926080"/>
            <a:ext cx="3913632" cy="786384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" y="3090672"/>
            <a:ext cx="384048" cy="384048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3182112"/>
            <a:ext cx="384048" cy="1097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054096"/>
            <a:ext cx="283464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50" b="1" i="0">
                <a:solidFill>
                  <a:srgbClr val="232D37"/>
                </a:solidFill>
                <a:latin typeface="Aptos Display"/>
              </a:rPr>
              <a:t>Measure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319272"/>
            <a:ext cx="2971800" cy="23774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80" b="0" i="0">
                <a:solidFill>
                  <a:srgbClr val="5A6973"/>
                </a:solidFill>
                <a:latin typeface="Aptos"/>
              </a:rPr>
              <a:t>room size and envelope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" y="3858768"/>
            <a:ext cx="3913632" cy="786384"/>
          </a:xfrm>
          <a:prstGeom prst="roundRect">
            <a:avLst/>
          </a:prstGeom>
          <a:solidFill>
            <a:srgbClr val="E6F4F7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60704" y="4023360"/>
            <a:ext cx="384048" cy="384048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" y="4114800"/>
            <a:ext cx="384048" cy="1097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3986784"/>
            <a:ext cx="283464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50" b="1" i="0">
                <a:solidFill>
                  <a:srgbClr val="232D37"/>
                </a:solidFill>
                <a:latin typeface="Aptos Display"/>
              </a:rPr>
              <a:t>Collect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251960"/>
            <a:ext cx="2971800" cy="23774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80" b="0" i="0">
                <a:solidFill>
                  <a:srgbClr val="5A6973"/>
                </a:solidFill>
                <a:latin typeface="Aptos"/>
              </a:rPr>
              <a:t>loads, schedules, ventilation needs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" y="4791456"/>
            <a:ext cx="3913632" cy="786384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60704" y="4956048"/>
            <a:ext cx="384048" cy="384048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0704" y="5047488"/>
            <a:ext cx="384048" cy="1097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4919472"/>
            <a:ext cx="283464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50" b="1" i="0">
                <a:solidFill>
                  <a:srgbClr val="232D37"/>
                </a:solidFill>
                <a:latin typeface="Aptos Display"/>
              </a:rPr>
              <a:t>Verify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5184648"/>
            <a:ext cx="2971800" cy="23774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80" b="0" i="0">
                <a:solidFill>
                  <a:srgbClr val="5A6973"/>
                </a:solidFill>
                <a:latin typeface="Aptos"/>
              </a:rPr>
              <a:t>reduce over/under-sizing risk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1374B"/>
                </a:solidFill>
                <a:latin typeface="Aptos"/>
              </a:rPr>
              <a:t>What must be surveyed?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A6973"/>
                </a:solidFill>
                <a:latin typeface="Aptos"/>
              </a:rPr>
              <a:t>Organize inputs into external and internal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8828C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78828C"/>
                </a:solidFill>
                <a:latin typeface="Aptos"/>
              </a:rPr>
              <a:t>Air Conditioning · Chapter 1 · Topic 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828C"/>
                </a:solidFill>
                <a:latin typeface="Aptos"/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1691640"/>
            <a:ext cx="612648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ig_04_circulation_compar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321169"/>
            <a:ext cx="5760720" cy="317578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1792" y="1664208"/>
            <a:ext cx="4590288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" y="1664208"/>
            <a:ext cx="109728" cy="444398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1892807"/>
            <a:ext cx="3886200" cy="21031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50" b="1" i="0">
                <a:solidFill>
                  <a:srgbClr val="2A9D8F"/>
                </a:solidFill>
                <a:latin typeface="Aptos Display"/>
              </a:rPr>
              <a:t>SURVEY CHECKLIST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139696"/>
            <a:ext cx="3886200" cy="60350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100" b="1" i="0">
                <a:solidFill>
                  <a:srgbClr val="11374B"/>
                </a:solidFill>
                <a:latin typeface="Aptos Display"/>
              </a:rPr>
              <a:t>External + internal inputs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" y="2926080"/>
            <a:ext cx="3913632" cy="786384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" y="3090672"/>
            <a:ext cx="384048" cy="384048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3182112"/>
            <a:ext cx="384048" cy="1097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054096"/>
            <a:ext cx="283464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50" b="1" i="0">
                <a:solidFill>
                  <a:srgbClr val="232D37"/>
                </a:solidFill>
                <a:latin typeface="Aptos Display"/>
              </a:rPr>
              <a:t>External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319272"/>
            <a:ext cx="2971800" cy="23774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80" b="0" i="0">
                <a:solidFill>
                  <a:srgbClr val="5A6973"/>
                </a:solidFill>
                <a:latin typeface="Aptos"/>
              </a:rPr>
              <a:t>location, orientation, solar exposure, shading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" y="3858768"/>
            <a:ext cx="3913632" cy="786384"/>
          </a:xfrm>
          <a:prstGeom prst="roundRect">
            <a:avLst/>
          </a:prstGeom>
          <a:solidFill>
            <a:srgbClr val="E6F4F7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60704" y="4023360"/>
            <a:ext cx="384048" cy="384048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" y="4114800"/>
            <a:ext cx="384048" cy="1097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3986784"/>
            <a:ext cx="283464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50" b="1" i="0">
                <a:solidFill>
                  <a:srgbClr val="232D37"/>
                </a:solidFill>
                <a:latin typeface="Aptos Display"/>
              </a:rPr>
              <a:t>Internal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251960"/>
            <a:ext cx="2971800" cy="23774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80" b="0" i="0">
                <a:solidFill>
                  <a:srgbClr val="5A6973"/>
                </a:solidFill>
                <a:latin typeface="Aptos"/>
              </a:rPr>
              <a:t>room size, occupancy, lighting, equipment, schedule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1374B"/>
                </a:solidFill>
                <a:latin typeface="Aptos"/>
              </a:rPr>
              <a:t>This course focuses on cooling-mode AC in Thailand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A6973"/>
                </a:solidFill>
                <a:latin typeface="Aptos"/>
              </a:rPr>
              <a:t>Scope the course so students know what is included and excluded.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8828C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78828C"/>
                </a:solidFill>
                <a:latin typeface="Aptos"/>
              </a:rPr>
              <a:t>Air Conditioning · Chapter 1 · Topic 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828C"/>
                </a:solidFill>
                <a:latin typeface="Aptos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1074420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1374B"/>
                </a:solidFill>
                <a:latin typeface="Aptos"/>
              </a:rPr>
              <a:t>Thailand design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2743200"/>
            <a:ext cx="29718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399032" y="2907792"/>
            <a:ext cx="475488" cy="475488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99032" y="2962656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926080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32D37"/>
                </a:solidFill>
                <a:latin typeface="Aptos"/>
              </a:rPr>
              <a:t>High outdoor temperature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273552"/>
            <a:ext cx="2057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5A6973"/>
                </a:solidFill>
                <a:latin typeface="Aptos"/>
              </a:rPr>
              <a:t>sensible load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2743200"/>
            <a:ext cx="29718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828031" y="2907792"/>
            <a:ext cx="475488" cy="475488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28031" y="2962656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RH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79" y="2926080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32D37"/>
                </a:solidFill>
                <a:latin typeface="Aptos"/>
              </a:rPr>
              <a:t>High humidity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79" y="3273552"/>
            <a:ext cx="2057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5A6973"/>
                </a:solidFill>
                <a:latin typeface="Aptos"/>
              </a:rPr>
              <a:t>latent load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2743200"/>
            <a:ext cx="29718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257031" y="2907792"/>
            <a:ext cx="475488" cy="475488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57031" y="2962656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AC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926080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32D37"/>
                </a:solidFill>
                <a:latin typeface="Aptos"/>
              </a:rPr>
              <a:t>Cooling + dehumidification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3273552"/>
            <a:ext cx="2057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5A6973"/>
                </a:solidFill>
                <a:latin typeface="Aptos"/>
              </a:rPr>
              <a:t>main course 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89204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A6973"/>
                </a:solidFill>
                <a:latin typeface="Aptos"/>
              </a:rPr>
              <a:t>Heating and humidification are not the main focus for this course.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1374B"/>
                </a:solidFill>
                <a:latin typeface="Aptos"/>
              </a:rPr>
              <a:t>Pause question: which parameter controls the problem?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A6973"/>
                </a:solidFill>
                <a:latin typeface="Aptos"/>
              </a:rPr>
              <a:t>Use this as an interactive slide before summarizing.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8828C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78828C"/>
                </a:solidFill>
                <a:latin typeface="Aptos"/>
              </a:rPr>
              <a:t>Air Conditioning · Chapter 1 · Topic 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828C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737360"/>
            <a:ext cx="101498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54480" y="21488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i="0">
                <a:solidFill>
                  <a:srgbClr val="11374B"/>
                </a:solidFill>
                <a:latin typeface="Aptos"/>
              </a:rPr>
              <a:t>A classroom is 25 °C, but students feel sticky.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97180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232D37"/>
                </a:solidFill>
                <a:latin typeface="Aptos"/>
              </a:rPr>
              <a:t>Which parameter is likely the problem?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3886200"/>
            <a:ext cx="2057400" cy="777240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17320" y="4142232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Temperature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3886200"/>
            <a:ext cx="2057400" cy="77724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77639" y="4142232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Humidity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59" y="3886200"/>
            <a:ext cx="2057400" cy="77724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59" y="4142232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Air motion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3886200"/>
            <a:ext cx="2057400" cy="7772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98280" y="4142232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Cleanliness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5120640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A6973"/>
                </a:solidFill>
                <a:latin typeface="Aptos"/>
              </a:rPr>
              <a:t>Expected answer: humidity and/or air movement.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1374B"/>
                </a:solidFill>
                <a:latin typeface="Aptos"/>
              </a:rPr>
              <a:t>Topic 1.1 — what students should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8828C"/>
                </a:solidFill>
                <a:latin typeface="Aptos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78828C"/>
                </a:solidFill>
                <a:latin typeface="Aptos"/>
              </a:rPr>
              <a:t>Air Conditioning · Chapter 1 · Topic 1.1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828C"/>
                </a:solidFill>
                <a:latin typeface="Aptos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4420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43000" y="2240280"/>
            <a:ext cx="2971800" cy="2560320"/>
          </a:xfrm>
          <a:prstGeom prst="roundRect">
            <a:avLst/>
          </a:prstGeom>
          <a:solidFill>
            <a:srgbClr val="F5F9FA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212848" y="2514600"/>
            <a:ext cx="822960" cy="82296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12848" y="274320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566160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32D37"/>
                </a:solidFill>
                <a:latin typeface="Aptos"/>
              </a:rPr>
              <a:t>AC = simultaneous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977639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5A6973"/>
                </a:solidFill>
                <a:latin typeface="Aptos"/>
              </a:rPr>
              <a:t>Temperature + humidity + circulation + cleanliness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240280"/>
            <a:ext cx="2971800" cy="2560320"/>
          </a:xfrm>
          <a:prstGeom prst="roundRect">
            <a:avLst/>
          </a:prstGeom>
          <a:solidFill>
            <a:srgbClr val="F5F9FA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641848" y="2514600"/>
            <a:ext cx="822960" cy="822960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41848" y="274320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566160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32D37"/>
                </a:solidFill>
                <a:latin typeface="Aptos"/>
              </a:rPr>
              <a:t>Purpose defines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977639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5A6973"/>
                </a:solidFill>
                <a:latin typeface="Aptos"/>
              </a:rPr>
              <a:t>Comfort for people or process conditions for materials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2240280"/>
            <a:ext cx="2971800" cy="2560320"/>
          </a:xfrm>
          <a:prstGeom prst="roundRect">
            <a:avLst/>
          </a:prstGeom>
          <a:solidFill>
            <a:srgbClr val="F5F9FA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070848" y="2514600"/>
            <a:ext cx="822960" cy="82296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70848" y="274320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566160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32D37"/>
                </a:solidFill>
                <a:latin typeface="Aptos"/>
              </a:rPr>
              <a:t>Survey before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977639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5A6973"/>
                </a:solidFill>
                <a:latin typeface="Aptos"/>
              </a:rPr>
              <a:t>Survey data become load-calculation inputs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719</Words>
  <Application>Microsoft Macintosh PowerPoint</Application>
  <PresentationFormat>Widescreen</PresentationFormat>
  <Paragraphs>147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YOTTANA KHUNATORN</cp:lastModifiedBy>
  <cp:revision>1</cp:revision>
  <dcterms:created xsi:type="dcterms:W3CDTF">2013-01-27T09:14:16Z</dcterms:created>
  <dcterms:modified xsi:type="dcterms:W3CDTF">2026-06-14T14:37:33Z</dcterms:modified>
  <cp:category/>
</cp:coreProperties>
</file>