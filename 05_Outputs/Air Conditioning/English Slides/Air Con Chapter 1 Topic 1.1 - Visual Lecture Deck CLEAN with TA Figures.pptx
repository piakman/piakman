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1374B"/>
                </a:solidFill>
                <a:latin typeface="Aptos"/>
              </a:rPr>
              <a:t>1.1 | Air Conditioning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A6973"/>
                </a:solidFill>
                <a:latin typeface="Aptos"/>
              </a:rPr>
              <a:t>Definition, Purpose, and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6132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886200" y="2148840"/>
            <a:ext cx="4389120" cy="2103120"/>
          </a:xfrm>
          <a:prstGeom prst="roundRect">
            <a:avLst/>
          </a:prstGeom>
          <a:solidFill>
            <a:srgbClr val="E6F4F7"/>
          </a:solidFill>
          <a:ln w="12700">
            <a:solidFill>
              <a:srgbClr val="B4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27889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11374B"/>
                </a:solidFill>
                <a:latin typeface="Aptos"/>
              </a:rPr>
              <a:t>Conditioned Space</a:t>
            </a:r>
          </a:p>
        </p:txBody>
      </p:sp>
      <p:sp>
        <p:nvSpPr>
          <p:cNvPr id="11" name="Oval 10"/>
          <p:cNvSpPr/>
          <p:nvPr/>
        </p:nvSpPr>
        <p:spPr>
          <a:xfrm>
            <a:off x="1828800" y="1828800"/>
            <a:ext cx="914400" cy="91440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ptos"/>
              </a:rPr>
              <a:t>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816352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E76F51"/>
                </a:solidFill>
                <a:latin typeface="Aptos"/>
              </a:rPr>
              <a:t>Temperature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286000" y="2286000"/>
            <a:ext cx="3794760" cy="914400"/>
          </a:xfrm>
          <a:prstGeom prst="line">
            <a:avLst/>
          </a:prstGeom>
          <a:ln w="2540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9555480" y="1828800"/>
            <a:ext cx="914400" cy="914400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5548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ptos"/>
              </a:rPr>
              <a:t>RH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6840" y="2816352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457B9D"/>
                </a:solidFill>
                <a:latin typeface="Aptos"/>
              </a:rPr>
              <a:t>Humidity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6080760" y="2286000"/>
            <a:ext cx="3931920" cy="914400"/>
          </a:xfrm>
          <a:prstGeom prst="line">
            <a:avLst/>
          </a:prstGeom>
          <a:ln w="25400">
            <a:solidFill>
              <a:srgbClr val="457B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1828800" y="4709160"/>
            <a:ext cx="914400" cy="91440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28800" y="4965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ptos"/>
              </a:rPr>
              <a:t>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5696712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A9D8F"/>
                </a:solidFill>
                <a:latin typeface="Aptos"/>
              </a:rPr>
              <a:t>Air circulation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2286000" y="3200400"/>
            <a:ext cx="3794760" cy="1965960"/>
          </a:xfrm>
          <a:prstGeom prst="line">
            <a:avLst/>
          </a:prstGeom>
          <a:ln w="25400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9555480" y="4709160"/>
            <a:ext cx="914400" cy="914400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55480" y="4965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ptos"/>
              </a:rPr>
              <a:t>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06840" y="5696712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4CAF50"/>
                </a:solidFill>
                <a:latin typeface="Aptos"/>
              </a:rPr>
              <a:t>Air cleanliness</a:t>
            </a:r>
          </a:p>
        </p:txBody>
      </p:sp>
      <p:cxnSp>
        <p:nvCxnSpPr>
          <p:cNvPr id="26" name="Connector 25"/>
          <p:cNvCxnSpPr/>
          <p:nvPr/>
        </p:nvCxnSpPr>
        <p:spPr>
          <a:xfrm flipH="1" flipV="1">
            <a:off x="6080760" y="3200400"/>
            <a:ext cx="3931920" cy="1965960"/>
          </a:xfrm>
          <a:prstGeom prst="line">
            <a:avLst/>
          </a:prstGeom>
          <a:ln w="25400">
            <a:solidFill>
              <a:srgbClr val="4CAF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1374B"/>
                </a:solidFill>
                <a:latin typeface="Aptos"/>
              </a:rPr>
              <a:t>Cooling alone is not air conditioning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A6973"/>
                </a:solidFill>
                <a:latin typeface="Aptos"/>
              </a:rPr>
              <a:t>Start with the misconception and correct it visually.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516636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09360" y="1691640"/>
            <a:ext cx="516636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938528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457B9D"/>
                </a:solidFill>
                <a:latin typeface="Aptos"/>
              </a:rPr>
              <a:t>Cooling 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938528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A9D8F"/>
                </a:solidFill>
                <a:latin typeface="Aptos"/>
              </a:rPr>
              <a:t>Air conditioning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2697480" y="2697480"/>
            <a:ext cx="1143000" cy="1143000"/>
          </a:xfrm>
          <a:prstGeom prst="downArrow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" y="4160520"/>
            <a:ext cx="4160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232D37"/>
                </a:solidFill>
                <a:latin typeface="Aptos"/>
              </a:rPr>
              <a:t>One variable:
lower air temperature</a:t>
            </a:r>
          </a:p>
        </p:txBody>
      </p:sp>
      <p:sp>
        <p:nvSpPr>
          <p:cNvPr id="14" name="Oval 13"/>
          <p:cNvSpPr/>
          <p:nvPr/>
        </p:nvSpPr>
        <p:spPr>
          <a:xfrm>
            <a:off x="6995160" y="2743200"/>
            <a:ext cx="731520" cy="73152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95160" y="297180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T</a:t>
            </a:r>
          </a:p>
        </p:txBody>
      </p:sp>
      <p:sp>
        <p:nvSpPr>
          <p:cNvPr id="16" name="Oval 15"/>
          <p:cNvSpPr/>
          <p:nvPr/>
        </p:nvSpPr>
        <p:spPr>
          <a:xfrm>
            <a:off x="7955280" y="2743200"/>
            <a:ext cx="731520" cy="731520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80" y="297180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RH</a:t>
            </a:r>
          </a:p>
        </p:txBody>
      </p:sp>
      <p:sp>
        <p:nvSpPr>
          <p:cNvPr id="18" name="Oval 17"/>
          <p:cNvSpPr/>
          <p:nvPr/>
        </p:nvSpPr>
        <p:spPr>
          <a:xfrm>
            <a:off x="8915400" y="2743200"/>
            <a:ext cx="731520" cy="73152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5400" y="297180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Air</a:t>
            </a:r>
          </a:p>
        </p:txBody>
      </p:sp>
      <p:sp>
        <p:nvSpPr>
          <p:cNvPr id="20" name="Oval 19"/>
          <p:cNvSpPr/>
          <p:nvPr/>
        </p:nvSpPr>
        <p:spPr>
          <a:xfrm>
            <a:off x="9875520" y="2743200"/>
            <a:ext cx="731520" cy="731520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75520" y="297180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Clean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416052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232D37"/>
                </a:solidFill>
                <a:latin typeface="Aptos"/>
              </a:rPr>
              <a:t>Four variables:
controlled together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1374B"/>
                </a:solidFill>
                <a:latin typeface="Aptos"/>
              </a:rPr>
              <a:t>Four parameters must be controlled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A6973"/>
                </a:solidFill>
                <a:latin typeface="Aptos"/>
              </a:rPr>
              <a:t>Use the 2×2 visual as the core definition.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" y="1691640"/>
            <a:ext cx="457200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65960"/>
            <a:ext cx="4023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Temperature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Humidity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Air circulation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Air cleanliness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1691640"/>
            <a:ext cx="612648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g_01_four_params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7501" y="1874519"/>
            <a:ext cx="5752837" cy="40690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1374B"/>
                </a:solidFill>
                <a:latin typeface="Aptos"/>
              </a:rPr>
              <a:t>If one control fails, the whole environment can fail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A6973"/>
                </a:solidFill>
                <a:latin typeface="Aptos"/>
              </a:rPr>
              <a:t>A good temperature reading does not guarantee a good indoor environment.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" y="1691640"/>
            <a:ext cx="457200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65960"/>
            <a:ext cx="4023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Example: 25 °C but high humidity can still feel sticky.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Example: poor ventilation can allow CO₂ or VOCs to accumulate.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1691640"/>
            <a:ext cx="612648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g_05_air_processing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8082" y="1874519"/>
            <a:ext cx="5231674" cy="40690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1374B"/>
                </a:solidFill>
                <a:latin typeface="Aptos"/>
              </a:rPr>
              <a:t>Purpose changes the design target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A6973"/>
                </a:solidFill>
                <a:latin typeface="Aptos"/>
              </a:rPr>
              <a:t>Comfort AC and process AC use the same variables for different goals.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" y="1691640"/>
            <a:ext cx="457200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65960"/>
            <a:ext cx="4023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Comfort AC: human thermal comfort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Process AC: product, material, or process requirement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1691640"/>
            <a:ext cx="612648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g_06_classification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2180844"/>
            <a:ext cx="5760720" cy="345643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1374B"/>
                </a:solidFill>
                <a:latin typeface="Aptos"/>
              </a:rPr>
              <a:t>Comfort AC supports the body’s heat balance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A6973"/>
                </a:solidFill>
                <a:latin typeface="Aptos"/>
              </a:rPr>
              <a:t>Use the human body as the “sensor” for comfort air conditioning.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" y="1691640"/>
            <a:ext cx="457200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65960"/>
            <a:ext cx="4023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Convection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Radiation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Conduction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Evaporation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1691640"/>
            <a:ext cx="612648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g_02_temp_comfort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2284241"/>
            <a:ext cx="5760720" cy="32496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1374B"/>
                </a:solidFill>
                <a:latin typeface="Aptos"/>
              </a:rPr>
              <a:t>Process AC may target conditions humans would not choose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A6973"/>
                </a:solidFill>
                <a:latin typeface="Aptos"/>
              </a:rPr>
              <a:t>Let the product/process define the control objective.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" y="1691640"/>
            <a:ext cx="457200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65960"/>
            <a:ext cx="4023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Textile mill: higher RH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Paper storage: lower RH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Seed storage: low temperature and humidity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1691640"/>
            <a:ext cx="612648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g_03_humidity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2284241"/>
            <a:ext cx="5760720" cy="32496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1374B"/>
                </a:solidFill>
                <a:latin typeface="Aptos"/>
              </a:rPr>
              <a:t>Equipment sizing is a peak-load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A6973"/>
                </a:solidFill>
                <a:latin typeface="Aptos"/>
              </a:rPr>
              <a:t>Capacity must match the maximum heat gain rate during operation.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691640"/>
            <a:ext cx="1074420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11374B"/>
                </a:solidFill>
                <a:latin typeface="Aptos"/>
              </a:rPr>
              <a:t>Average load ≠ design load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514600"/>
            <a:ext cx="3931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32D37"/>
                </a:solidFill>
                <a:latin typeface="Aptos"/>
              </a:defRPr>
            </a:pPr>
            <a:r>
              <a:t>Equipment must cover the maximum expected load.</a:t>
            </a:r>
          </a:p>
          <a:p>
            <a:pPr>
              <a:spcAft>
                <a:spcPts val="1000"/>
              </a:spcAft>
              <a:defRPr sz="1700">
                <a:solidFill>
                  <a:srgbClr val="232D37"/>
                </a:solidFill>
                <a:latin typeface="Aptos"/>
              </a:defRPr>
            </a:pPr>
            <a:r>
              <a:t>Average load can understate the required capacity.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0" y="4983479"/>
            <a:ext cx="4937760" cy="0"/>
          </a:xfrm>
          <a:prstGeom prst="line">
            <a:avLst/>
          </a:prstGeom>
          <a:ln w="12700">
            <a:solidFill>
              <a:srgbClr val="8C9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5486400" y="2331720"/>
            <a:ext cx="0" cy="2651759"/>
          </a:xfrm>
          <a:prstGeom prst="line">
            <a:avLst/>
          </a:prstGeom>
          <a:ln w="12700">
            <a:solidFill>
              <a:srgbClr val="8C9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5486400" y="4055363"/>
            <a:ext cx="987552" cy="397764"/>
          </a:xfrm>
          <a:prstGeom prst="line">
            <a:avLst/>
          </a:prstGeom>
          <a:ln w="3810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6473952" y="3525011"/>
            <a:ext cx="987552" cy="530352"/>
          </a:xfrm>
          <a:prstGeom prst="line">
            <a:avLst/>
          </a:prstGeom>
          <a:ln w="3810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7461504" y="2464308"/>
            <a:ext cx="987552" cy="1060703"/>
          </a:xfrm>
          <a:prstGeom prst="line">
            <a:avLst/>
          </a:prstGeom>
          <a:ln w="3810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449056" y="2464308"/>
            <a:ext cx="987552" cy="662940"/>
          </a:xfrm>
          <a:prstGeom prst="line">
            <a:avLst/>
          </a:prstGeom>
          <a:ln w="3810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36608" y="3127248"/>
            <a:ext cx="987552" cy="928115"/>
          </a:xfrm>
          <a:prstGeom prst="line">
            <a:avLst/>
          </a:prstGeom>
          <a:ln w="3810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5445252" y="4411979"/>
            <a:ext cx="82296" cy="82296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32804" y="4014215"/>
            <a:ext cx="82296" cy="82296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420356" y="3483863"/>
            <a:ext cx="82296" cy="82296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407908" y="2423160"/>
            <a:ext cx="82296" cy="82296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395460" y="3086100"/>
            <a:ext cx="82296" cy="82296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383012" y="4014215"/>
            <a:ext cx="82296" cy="82296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242316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E76F51"/>
                </a:solidFill>
                <a:latin typeface="Aptos"/>
              </a:rPr>
              <a:t>Peak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86400" y="4069080"/>
            <a:ext cx="4937760" cy="0"/>
          </a:xfrm>
          <a:prstGeom prst="line">
            <a:avLst/>
          </a:prstGeom>
          <a:ln w="25400">
            <a:solidFill>
              <a:srgbClr val="457B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646920" y="4133087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457B9D"/>
                </a:solidFill>
                <a:latin typeface="Aptos"/>
              </a:rPr>
              <a:t>Avg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5166360"/>
            <a:ext cx="4937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A6973"/>
                </a:solidFill>
                <a:latin typeface="Aptos"/>
              </a:rPr>
              <a:t>Time of day →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1374B"/>
                </a:solidFill>
                <a:latin typeface="Aptos"/>
              </a:rPr>
              <a:t>Office peak load often occurs after solar noon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A6973"/>
                </a:solidFill>
                <a:latin typeface="Aptos"/>
              </a:rPr>
              <a:t>Stored heat and internal gains shift the maximum into mid-afternoon.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691640"/>
            <a:ext cx="1074420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143000" y="4983479"/>
            <a:ext cx="6400800" cy="0"/>
          </a:xfrm>
          <a:prstGeom prst="line">
            <a:avLst/>
          </a:prstGeom>
          <a:ln w="12700">
            <a:solidFill>
              <a:srgbClr val="8C9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143000" y="2331720"/>
            <a:ext cx="0" cy="2651759"/>
          </a:xfrm>
          <a:prstGeom prst="line">
            <a:avLst/>
          </a:prstGeom>
          <a:ln w="12700">
            <a:solidFill>
              <a:srgbClr val="8C9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43000" y="4187952"/>
            <a:ext cx="1408176" cy="397764"/>
          </a:xfrm>
          <a:prstGeom prst="line">
            <a:avLst/>
          </a:prstGeom>
          <a:ln w="3810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2551176" y="3392424"/>
            <a:ext cx="1472184" cy="795528"/>
          </a:xfrm>
          <a:prstGeom prst="line">
            <a:avLst/>
          </a:prstGeom>
          <a:ln w="3810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023360" y="2543860"/>
            <a:ext cx="1280160" cy="848564"/>
          </a:xfrm>
          <a:prstGeom prst="line">
            <a:avLst/>
          </a:prstGeom>
          <a:ln w="3810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303520" y="2543860"/>
            <a:ext cx="1280160" cy="715975"/>
          </a:xfrm>
          <a:prstGeom prst="line">
            <a:avLst/>
          </a:prstGeom>
          <a:ln w="3810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583680" y="3259835"/>
            <a:ext cx="960120" cy="1193292"/>
          </a:xfrm>
          <a:prstGeom prst="line">
            <a:avLst/>
          </a:prstGeom>
          <a:ln w="3810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1101852" y="4544568"/>
            <a:ext cx="82296" cy="82296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510028" y="4146804"/>
            <a:ext cx="82296" cy="82296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982212" y="3351276"/>
            <a:ext cx="82296" cy="82296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62372" y="2502712"/>
            <a:ext cx="82296" cy="82296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42532" y="3218687"/>
            <a:ext cx="82296" cy="82296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502652" y="4411979"/>
            <a:ext cx="82296" cy="82296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242316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E76F51"/>
                </a:solidFill>
                <a:latin typeface="Aptos"/>
              </a:rPr>
              <a:t>Load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507492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6973"/>
                </a:solidFill>
                <a:latin typeface="Aptos"/>
              </a:rPr>
              <a:t>08:00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71800" y="507492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6973"/>
                </a:solidFill>
                <a:latin typeface="Aptos"/>
              </a:rPr>
              <a:t>12:00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83480" y="507492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6973"/>
                </a:solidFill>
                <a:latin typeface="Aptos"/>
              </a:rPr>
              <a:t>16:00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95160" y="507492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6973"/>
                </a:solidFill>
                <a:latin typeface="Aptos"/>
              </a:rPr>
              <a:t>20:00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2148840"/>
            <a:ext cx="2926080" cy="260604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21040" y="24688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76F51"/>
                </a:solidFill>
                <a:latin typeface="Aptos"/>
              </a:rPr>
              <a:t>Peak around 15:00–16:00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3154680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32D37"/>
                </a:solidFill>
                <a:latin typeface="Aptos"/>
              </a:rPr>
              <a:t>solar + thermal lag + internal gains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406908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A6973"/>
                </a:solidFill>
                <a:latin typeface="Aptos"/>
              </a:rPr>
              <a:t>Peak follows use pattern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1374B"/>
                </a:solidFill>
                <a:latin typeface="Aptos"/>
              </a:rPr>
              <a:t>Nightclub peak load is driven by people and lighting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A6973"/>
                </a:solidFill>
                <a:latin typeface="Aptos"/>
              </a:rPr>
              <a:t>A building with little solar gain can peak at night.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691640"/>
            <a:ext cx="1074420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143000" y="4983479"/>
            <a:ext cx="6400800" cy="0"/>
          </a:xfrm>
          <a:prstGeom prst="line">
            <a:avLst/>
          </a:prstGeom>
          <a:ln w="12700">
            <a:solidFill>
              <a:srgbClr val="8C9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143000" y="2331720"/>
            <a:ext cx="0" cy="2651759"/>
          </a:xfrm>
          <a:prstGeom prst="line">
            <a:avLst/>
          </a:prstGeom>
          <a:ln w="12700">
            <a:solidFill>
              <a:srgbClr val="8C9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43000" y="4771339"/>
            <a:ext cx="1600200" cy="79553"/>
          </a:xfrm>
          <a:prstGeom prst="line">
            <a:avLst/>
          </a:prstGeom>
          <a:ln w="38100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2743200" y="4585716"/>
            <a:ext cx="1600200" cy="185623"/>
          </a:xfrm>
          <a:prstGeom prst="line">
            <a:avLst/>
          </a:prstGeom>
          <a:ln w="38100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343400" y="2464308"/>
            <a:ext cx="1792224" cy="2121408"/>
          </a:xfrm>
          <a:prstGeom prst="line">
            <a:avLst/>
          </a:prstGeom>
          <a:ln w="38100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135624" y="2464308"/>
            <a:ext cx="1408176" cy="1060703"/>
          </a:xfrm>
          <a:prstGeom prst="line">
            <a:avLst/>
          </a:prstGeom>
          <a:ln w="38100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101852" y="4809744"/>
            <a:ext cx="82296" cy="82296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702052" y="4730191"/>
            <a:ext cx="82296" cy="82296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02252" y="4544568"/>
            <a:ext cx="82296" cy="82296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094476" y="2423160"/>
            <a:ext cx="82296" cy="82296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502652" y="3483863"/>
            <a:ext cx="82296" cy="82296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242316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2A9D8F"/>
                </a:solidFill>
                <a:latin typeface="Aptos"/>
              </a:rPr>
              <a:t>Load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507492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6973"/>
                </a:solidFill>
                <a:latin typeface="Aptos"/>
              </a:rPr>
              <a:t>18:00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71800" y="507492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6973"/>
                </a:solidFill>
                <a:latin typeface="Aptos"/>
              </a:rPr>
              <a:t>20:00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83480" y="507492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6973"/>
                </a:solidFill>
                <a:latin typeface="Aptos"/>
              </a:rPr>
              <a:t>22:00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507492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6973"/>
                </a:solidFill>
                <a:latin typeface="Aptos"/>
              </a:rPr>
              <a:t>24:00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0" y="2148840"/>
            <a:ext cx="2926080" cy="260604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1040" y="24688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2A9D8F"/>
                </a:solidFill>
                <a:latin typeface="Aptos"/>
              </a:rPr>
              <a:t>Peak around 21:00–22:00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3154680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32D37"/>
                </a:solidFill>
                <a:latin typeface="Aptos"/>
              </a:rPr>
              <a:t>occupants + lighting + latent heat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406908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A6973"/>
                </a:solidFill>
                <a:latin typeface="Aptos"/>
              </a:rPr>
              <a:t>Peak follows use pattern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1374B"/>
                </a:solidFill>
                <a:latin typeface="Aptos"/>
              </a:rPr>
              <a:t>A building survey turns assumptions into inputs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A6973"/>
                </a:solidFill>
                <a:latin typeface="Aptos"/>
              </a:rPr>
              <a:t>The survey is the first engineering step before load calculation.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" y="1691640"/>
            <a:ext cx="457200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65960"/>
            <a:ext cx="4023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Survey = measure + collect + verify project data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Good survey data reduce over-sizing, under-sizing, and design uncertainty.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1691640"/>
            <a:ext cx="612648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g_07_design_workflow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0601" y="1874519"/>
            <a:ext cx="4766636" cy="40690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1374B"/>
                </a:solidFill>
                <a:latin typeface="Aptos"/>
              </a:rPr>
              <a:t>What must be surveyed?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A6973"/>
                </a:solidFill>
                <a:latin typeface="Aptos"/>
              </a:rPr>
              <a:t>Organize inputs into external and internal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" y="1691640"/>
            <a:ext cx="457200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65960"/>
            <a:ext cx="4023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External: location, orientation, solar exposure, shading, outdoor unit location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Internal: room size, occupancy, lighting, equipment, ventilation, schedule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1691640"/>
            <a:ext cx="612648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g_04_circulation_compare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2321169"/>
            <a:ext cx="5760720" cy="317578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1374B"/>
                </a:solidFill>
                <a:latin typeface="Aptos"/>
              </a:rPr>
              <a:t>This course focuses on cooling-mode AC in Thailand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A6973"/>
                </a:solidFill>
                <a:latin typeface="Aptos"/>
              </a:rPr>
              <a:t>Scope the course so students know what is included and excluded.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691640"/>
            <a:ext cx="1074420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65960"/>
            <a:ext cx="10241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11374B"/>
                </a:solidFill>
                <a:latin typeface="Aptos"/>
              </a:rPr>
              <a:t>Thailand design context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34440" y="2743200"/>
            <a:ext cx="29718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99032" y="2907792"/>
            <a:ext cx="475488" cy="475488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9032" y="2962656"/>
            <a:ext cx="47548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2926080"/>
            <a:ext cx="2057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232D37"/>
                </a:solidFill>
                <a:latin typeface="Aptos"/>
              </a:rPr>
              <a:t>High outdoor temperature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273552"/>
            <a:ext cx="2057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 i="0">
                <a:solidFill>
                  <a:srgbClr val="5A6973"/>
                </a:solidFill>
                <a:latin typeface="Aptos"/>
              </a:rPr>
              <a:t>sensible load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63440" y="2743200"/>
            <a:ext cx="29718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828031" y="2907792"/>
            <a:ext cx="475488" cy="475488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8031" y="2962656"/>
            <a:ext cx="47548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RH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79" y="2926080"/>
            <a:ext cx="2057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232D37"/>
                </a:solidFill>
                <a:latin typeface="Aptos"/>
              </a:rPr>
              <a:t>High humidity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0679" y="3273552"/>
            <a:ext cx="2057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 i="0">
                <a:solidFill>
                  <a:srgbClr val="5A6973"/>
                </a:solidFill>
                <a:latin typeface="Aptos"/>
              </a:rPr>
              <a:t>latent load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2440" y="2743200"/>
            <a:ext cx="29718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257031" y="2907792"/>
            <a:ext cx="475488" cy="475488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57031" y="2962656"/>
            <a:ext cx="47548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AC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0" y="2926080"/>
            <a:ext cx="2057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232D37"/>
                </a:solidFill>
                <a:latin typeface="Aptos"/>
              </a:rPr>
              <a:t>Cooling + dehumidification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0" y="3273552"/>
            <a:ext cx="2057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 i="0">
                <a:solidFill>
                  <a:srgbClr val="5A6973"/>
                </a:solidFill>
                <a:latin typeface="Aptos"/>
              </a:rPr>
              <a:t>main course 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489204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5A6973"/>
                </a:solidFill>
                <a:latin typeface="Aptos"/>
              </a:rPr>
              <a:t>Heating and humidification are not the main focus for this course.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1374B"/>
                </a:solidFill>
                <a:latin typeface="Aptos"/>
              </a:rPr>
              <a:t>Pause question: which parameter controls the problem?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A6973"/>
                </a:solidFill>
                <a:latin typeface="Aptos"/>
              </a:rPr>
              <a:t>Use this as an interactive slide before summarizing.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5840" y="1737360"/>
            <a:ext cx="1014984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54480" y="214884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700" b="1" i="0">
                <a:solidFill>
                  <a:srgbClr val="11374B"/>
                </a:solidFill>
                <a:latin typeface="Aptos"/>
              </a:rPr>
              <a:t>A classroom is 25 °C, but students feel sticky.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971800"/>
            <a:ext cx="8778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232D37"/>
                </a:solidFill>
                <a:latin typeface="Aptos"/>
              </a:rPr>
              <a:t>Which parameter is likely the problem?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17320" y="3886200"/>
            <a:ext cx="2057400" cy="777240"/>
          </a:xfrm>
          <a:prstGeom prst="round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17320" y="4142232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Temperature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77639" y="3886200"/>
            <a:ext cx="2057400" cy="777240"/>
          </a:xfrm>
          <a:prstGeom prst="roundRect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77639" y="4142232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Humidity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37959" y="3886200"/>
            <a:ext cx="2057400" cy="777240"/>
          </a:xfrm>
          <a:prstGeom prst="round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59" y="4142232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Air motion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280" y="3886200"/>
            <a:ext cx="2057400" cy="77724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98280" y="4142232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Cleanliness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5120640"/>
            <a:ext cx="8321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5A6973"/>
                </a:solidFill>
                <a:latin typeface="Aptos"/>
              </a:rPr>
              <a:t>Expected answer: humidity and/or air movement.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1374B"/>
                </a:solidFill>
                <a:latin typeface="Aptos"/>
              </a:rPr>
              <a:t>Topic 1.1 — what students should remember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15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691640"/>
            <a:ext cx="1074420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240280"/>
            <a:ext cx="2971800" cy="256032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12848" y="2514600"/>
            <a:ext cx="822960" cy="82296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12848" y="2743200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566160"/>
            <a:ext cx="2514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32D37"/>
                </a:solidFill>
                <a:latin typeface="Aptos"/>
              </a:rPr>
              <a:t>AC = simultaneous 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977639"/>
            <a:ext cx="2331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5A6973"/>
                </a:solidFill>
                <a:latin typeface="Aptos"/>
              </a:rPr>
              <a:t>Temperature + humidity + circulation + cleanliness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2240280"/>
            <a:ext cx="2971800" cy="256032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641848" y="2514600"/>
            <a:ext cx="822960" cy="822960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41848" y="2743200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3566160"/>
            <a:ext cx="2514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32D37"/>
                </a:solidFill>
                <a:latin typeface="Aptos"/>
              </a:rPr>
              <a:t>Purpose defines target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977639"/>
            <a:ext cx="2331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5A6973"/>
                </a:solidFill>
                <a:latin typeface="Aptos"/>
              </a:rPr>
              <a:t>Comfort for people or process conditions for materials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2240280"/>
            <a:ext cx="2971800" cy="256032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070848" y="2514600"/>
            <a:ext cx="822960" cy="82296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70848" y="2743200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3566160"/>
            <a:ext cx="2514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32D37"/>
                </a:solidFill>
                <a:latin typeface="Aptos"/>
              </a:rPr>
              <a:t>Survey before design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3977639"/>
            <a:ext cx="2331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5A6973"/>
                </a:solidFill>
                <a:latin typeface="Aptos"/>
              </a:rPr>
              <a:t>Survey data become load-calculation inputs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