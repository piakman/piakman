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ditioned-space-engineering-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556" y="941832"/>
            <a:ext cx="9992127" cy="5623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999" cy="74980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2A9D8F"/>
                </a:solidFill>
                <a:latin typeface="Aptos"/>
              </a:rPr>
              <a:t>AIR CONDITIONING · CHAPTER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374B"/>
                </a:solidFill>
                <a:latin typeface="Aptos"/>
              </a:rPr>
              <a:t>1.1 Air Conditioning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3891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A6973"/>
                </a:solidFill>
                <a:latin typeface="Aptos"/>
              </a:rPr>
              <a:t>Definition, Purpose, and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78828C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oling-only-vs-air-conditioning-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59" y="758952"/>
            <a:ext cx="10647680" cy="5989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999" cy="74980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374B"/>
                </a:solidFill>
                <a:latin typeface="Aptos"/>
              </a:rPr>
              <a:t>1.1 | Cooling only is not air conditioning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76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973"/>
                </a:solidFill>
                <a:latin typeface="Aptos"/>
              </a:rPr>
              <a:t>Start with the misconception and correct it visually.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78828C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Four parameters must be controlled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the 2×2 visual as the core definition.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Temperature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Humidity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Air circulation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Air cleanliness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1_four_param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501" y="1874519"/>
            <a:ext cx="5752837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If one control fails, the whole environment can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A good temperature reading does not guarantee a good indoor environment.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Example: 25 °C but high humidity can still feel sticky.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Example: poor ventilation can allow CO₂ or VOCs to accumulate.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5_air_process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082" y="1874519"/>
            <a:ext cx="5231674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Purpose changes the design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Comfort AC and process AC use the same variables for different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Comfort AC: human thermal comfort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Process AC: product, material, or process requirement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6_classificat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180844"/>
            <a:ext cx="5760720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Comfort AC supports the body’s heat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the human body as the “sensor” for comfort air conditioning.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Convection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Radiation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Conduction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Evaporation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2_temp_comfor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4241"/>
            <a:ext cx="5760720" cy="32496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Process AC may target conditions humans would not choose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Let the product/process define the control objective.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Textile mill: higher RH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Paper storage: lower RH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Seed storage: low temperature and humidity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3_humidity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4241"/>
            <a:ext cx="5760720" cy="32496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Equipment sizing is a peak-load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Capacity must match the maximum heat gain rate during operation.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1374B"/>
                </a:solidFill>
                <a:latin typeface="Aptos"/>
              </a:rPr>
              <a:t>Average load ≠ design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3931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Equipment must cover the maximum expected load.</a:t>
            </a:r>
          </a:p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Average load can understate the required capacity.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0" y="4983479"/>
            <a:ext cx="493776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4864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486400" y="4055363"/>
            <a:ext cx="987552" cy="3977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473952" y="3525011"/>
            <a:ext cx="987552" cy="530352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461504" y="2464308"/>
            <a:ext cx="987552" cy="1060703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49056" y="2464308"/>
            <a:ext cx="987552" cy="662940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36608" y="3127248"/>
            <a:ext cx="987552" cy="928115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45252" y="4411979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32804" y="4014215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20356" y="3483863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07908" y="2423160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95460" y="3086100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3012" y="4014215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E76F51"/>
                </a:solidFill>
                <a:latin typeface="Aptos"/>
              </a:rPr>
              <a:t>Peak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0" y="4069080"/>
            <a:ext cx="4937760" cy="0"/>
          </a:xfrm>
          <a:prstGeom prst="line">
            <a:avLst/>
          </a:prstGeom>
          <a:ln w="25400">
            <a:solidFill>
              <a:srgbClr val="457B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46920" y="4133087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457B9D"/>
                </a:solidFill>
                <a:latin typeface="Aptos"/>
              </a:rPr>
              <a:t>Avg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516636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973"/>
                </a:solidFill>
                <a:latin typeface="Aptos"/>
              </a:rPr>
              <a:t>Time of day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Office peak load often occurs after solar noon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Stored heat and internal gains shift the maximum into mid-afternoon.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43000" y="4983479"/>
            <a:ext cx="640080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430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43000" y="4187952"/>
            <a:ext cx="1408176" cy="3977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551176" y="3392424"/>
            <a:ext cx="1472184" cy="795528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23360" y="2543860"/>
            <a:ext cx="1280160" cy="8485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303520" y="2543860"/>
            <a:ext cx="1280160" cy="715975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83680" y="3259835"/>
            <a:ext cx="960120" cy="1193292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101852" y="4544568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510028" y="4146804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82212" y="3351276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62372" y="2502712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42532" y="3218687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02652" y="4411979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E76F51"/>
                </a:solidFill>
                <a:latin typeface="Aptos"/>
              </a:rPr>
              <a:t>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08:00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12:00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16:00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20:00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2148840"/>
            <a:ext cx="292608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76F51"/>
                </a:solidFill>
                <a:latin typeface="Aptos"/>
              </a:rPr>
              <a:t>Peak around 15:00–16:00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1546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solar + thermal lag + internal gains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069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973"/>
                </a:solidFill>
                <a:latin typeface="Aptos"/>
              </a:rPr>
              <a:t>Peak follows use pattern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Nightclub peak load is driven by people and lighting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A building with little solar gain can peak at 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43000" y="4983479"/>
            <a:ext cx="640080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430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43000" y="4771339"/>
            <a:ext cx="1600200" cy="7955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743200" y="4585716"/>
            <a:ext cx="1600200" cy="18562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343400" y="2464308"/>
            <a:ext cx="1792224" cy="2121408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35624" y="2464308"/>
            <a:ext cx="1408176" cy="106070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101852" y="4809744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02052" y="4730191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02252" y="4544568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94476" y="2423160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02652" y="3483863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2A9D8F"/>
                </a:solidFill>
                <a:latin typeface="Aptos"/>
              </a:rPr>
              <a:t>Load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18:00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24:00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148840"/>
            <a:ext cx="292608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A9D8F"/>
                </a:solidFill>
                <a:latin typeface="Aptos"/>
              </a:rPr>
              <a:t>Peak around 21:00–22:00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1546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occupants + lighting + latent heat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069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973"/>
                </a:solidFill>
                <a:latin typeface="Aptos"/>
              </a:rPr>
              <a:t>Peak follows use pattern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A building survey turns assumptions into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The survey is the first engineering step before load calculation.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Survey = measure + collect + verify project data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Good survey data reduce over-sizing, under-sizing, and design uncertainty.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7_design_workflow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601" y="1874519"/>
            <a:ext cx="4766636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What must be surveyed?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Organize inputs into external and internal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External: location, orientation, solar exposure, shading, outdoor unit location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Internal: room size, occupancy, lighting, equipment, ventilation, schedule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4_circulation_compar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321169"/>
            <a:ext cx="5760720" cy="317578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This course focuses on cooling-mode AC in Thailand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Scope the course so students know what is included and excluded.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1374B"/>
                </a:solidFill>
                <a:latin typeface="Aptos"/>
              </a:rPr>
              <a:t>Thailand design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99032" y="2907792"/>
            <a:ext cx="475488" cy="47548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High outdoor temperature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sensible 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28031" y="2907792"/>
            <a:ext cx="475488" cy="47548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1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RH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79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High humidity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79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latent 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57031" y="290779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1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Cooling + dehumidification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main course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89204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A6973"/>
                </a:solidFill>
                <a:latin typeface="Aptos"/>
              </a:rPr>
              <a:t>Heating and humidification are not the main focus for this course.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Pause question: which parameter controls the problem?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this as an interactive slide before summarizing.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1737360"/>
            <a:ext cx="101498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21488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11374B"/>
                </a:solidFill>
                <a:latin typeface="Aptos"/>
              </a:rPr>
              <a:t>A classroom is 25 °C, but students feel sticky.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97180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232D37"/>
                </a:solidFill>
                <a:latin typeface="Aptos"/>
              </a:rPr>
              <a:t>Which parameter is likely the problem?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886200"/>
            <a:ext cx="2057400" cy="777240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Temperature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3886200"/>
            <a:ext cx="2057400" cy="77724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Humidity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59" y="3886200"/>
            <a:ext cx="2057400" cy="77724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Air motion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3886200"/>
            <a:ext cx="2057400" cy="7772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Cleanliness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120640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A6973"/>
                </a:solidFill>
                <a:latin typeface="Aptos"/>
              </a:rPr>
              <a:t>Expected answer: humidity and/or air movement.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Topic 1.1 — what students should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12848" y="2514600"/>
            <a:ext cx="822960" cy="8229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2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AC = simultaneous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Temperature + humidity + circulation + cleanliness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41848" y="2514600"/>
            <a:ext cx="822960" cy="8229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1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Purpose defines 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Comfort for people or process conditions for materials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70848" y="2514600"/>
            <a:ext cx="822960" cy="8229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Survey before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Survey data become load-calculation inputs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