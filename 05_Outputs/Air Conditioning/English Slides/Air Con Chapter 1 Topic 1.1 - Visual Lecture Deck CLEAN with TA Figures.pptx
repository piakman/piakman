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82880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778240" y="182880"/>
            <a:ext cx="3429000" cy="2194560"/>
          </a:xfrm>
          <a:prstGeom prst="rtTriangle">
            <a:avLst/>
          </a:prstGeom>
          <a:solidFill>
            <a:srgbClr val="E7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46920" y="4160520"/>
            <a:ext cx="2560320" cy="251460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A9D8F"/>
                </a:solidFill>
                <a:latin typeface="Aptos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700" b="1" i="0">
                <a:solidFill>
                  <a:srgbClr val="11374B"/>
                </a:solidFill>
                <a:latin typeface="Aptos"/>
              </a:rPr>
              <a:t>1.1 Air Conditioning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Definition, Purpose, and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78608"/>
            <a:ext cx="5257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232D37"/>
                </a:solidFill>
                <a:latin typeface="Aptos"/>
              </a:rPr>
              <a:t>Air conditioning is not simply cooling. It is the simultaneous control of the indoor environment.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49039"/>
            <a:ext cx="5074920" cy="65836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B9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1374B"/>
                </a:solidFill>
                <a:latin typeface="Aptos"/>
              </a:rPr>
              <a:t>Teaching focus: cooling-mode AC for Thailand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051560"/>
            <a:ext cx="49834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78040" y="2057400"/>
            <a:ext cx="3429000" cy="2057400"/>
          </a:xfrm>
          <a:prstGeom prst="roundRect">
            <a:avLst/>
          </a:prstGeom>
          <a:solidFill>
            <a:srgbClr val="ECF7F9"/>
          </a:solidFill>
          <a:ln w="12700">
            <a:solidFill>
              <a:srgbClr val="B2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368" y="2697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>
                <a:solidFill>
                  <a:srgbClr val="11374B"/>
                </a:solidFill>
                <a:latin typeface="Aptos"/>
              </a:rPr>
              <a:t>Conditioned 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2" y="3145536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controlled indoor air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12280" y="1828800"/>
            <a:ext cx="4160520" cy="0"/>
          </a:xfrm>
          <a:prstGeom prst="line">
            <a:avLst/>
          </a:prstGeom>
          <a:ln w="2286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12280" y="2148840"/>
            <a:ext cx="4160520" cy="0"/>
          </a:xfrm>
          <a:prstGeom prst="line">
            <a:avLst/>
          </a:prstGeom>
          <a:ln w="2286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812280" y="4389120"/>
            <a:ext cx="4160520" cy="0"/>
          </a:xfrm>
          <a:prstGeom prst="line">
            <a:avLst/>
          </a:prstGeom>
          <a:ln w="2286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12280" y="4709160"/>
            <a:ext cx="4160520" cy="0"/>
          </a:xfrm>
          <a:prstGeom prst="line">
            <a:avLst/>
          </a:prstGeom>
          <a:ln w="2286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656832" y="1828800"/>
            <a:ext cx="228600" cy="28803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17936" y="1828800"/>
            <a:ext cx="228600" cy="288036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956048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A9D8F"/>
                </a:solidFill>
                <a:latin typeface="Aptos"/>
              </a:rPr>
              <a:t>Supply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4956048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57B9D"/>
                </a:solidFill>
                <a:latin typeface="Aptos"/>
              </a:rPr>
              <a:t>Return</a:t>
            </a:r>
          </a:p>
        </p:txBody>
      </p:sp>
      <p:sp>
        <p:nvSpPr>
          <p:cNvPr id="23" name="Oval 22"/>
          <p:cNvSpPr/>
          <p:nvPr/>
        </p:nvSpPr>
        <p:spPr>
          <a:xfrm>
            <a:off x="5989320" y="1325880"/>
            <a:ext cx="749808" cy="74980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1536192"/>
            <a:ext cx="749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05272" y="2130552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76F51"/>
                </a:solidFill>
                <a:latin typeface="Aptos"/>
              </a:rPr>
              <a:t>Temperature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364224" y="1700784"/>
            <a:ext cx="2523744" cy="1389888"/>
          </a:xfrm>
          <a:prstGeom prst="line">
            <a:avLst/>
          </a:prstGeom>
          <a:ln w="1651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0927080" y="1325880"/>
            <a:ext cx="749808" cy="74980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27080" y="1536192"/>
            <a:ext cx="749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3032" y="2130552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457B9D"/>
                </a:solidFill>
                <a:latin typeface="Aptos"/>
              </a:rPr>
              <a:t>Humidity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8887968" y="1700784"/>
            <a:ext cx="2414016" cy="1389888"/>
          </a:xfrm>
          <a:prstGeom prst="line">
            <a:avLst/>
          </a:prstGeom>
          <a:ln w="16510">
            <a:solidFill>
              <a:srgbClr val="457B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89320" y="4709160"/>
            <a:ext cx="749808" cy="74980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89320" y="4919472"/>
            <a:ext cx="749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05272" y="5513832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A9D8F"/>
                </a:solidFill>
                <a:latin typeface="Aptos"/>
              </a:rPr>
              <a:t>Air circulation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364224" y="3090672"/>
            <a:ext cx="2523744" cy="1993392"/>
          </a:xfrm>
          <a:prstGeom prst="line">
            <a:avLst/>
          </a:prstGeom>
          <a:ln w="1651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927080" y="4709160"/>
            <a:ext cx="749808" cy="74980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27080" y="4919472"/>
            <a:ext cx="749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43032" y="5513832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4CAF50"/>
                </a:solidFill>
                <a:latin typeface="Aptos"/>
              </a:rPr>
              <a:t>Air cleanliness</a:t>
            </a:r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8887968" y="3090672"/>
            <a:ext cx="2414016" cy="1993392"/>
          </a:xfrm>
          <a:prstGeom prst="line">
            <a:avLst/>
          </a:prstGeom>
          <a:ln w="1651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685800" y="5074920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184648"/>
            <a:ext cx="384048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1288" y="500176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232D37"/>
                </a:solidFill>
                <a:latin typeface="Aptos"/>
              </a:rPr>
              <a:t>Comfort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1288" y="5276088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 i="0">
                <a:solidFill>
                  <a:srgbClr val="5A6973"/>
                </a:solidFill>
                <a:latin typeface="Aptos"/>
              </a:rPr>
              <a:t>human thermal comfort</a:t>
            </a:r>
          </a:p>
        </p:txBody>
      </p:sp>
      <p:sp>
        <p:nvSpPr>
          <p:cNvPr id="43" name="Oval 42"/>
          <p:cNvSpPr/>
          <p:nvPr/>
        </p:nvSpPr>
        <p:spPr>
          <a:xfrm>
            <a:off x="2377440" y="5074920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0" y="5184648"/>
            <a:ext cx="384048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52928" y="500176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232D37"/>
                </a:solidFill>
                <a:latin typeface="Aptos"/>
              </a:rPr>
              <a:t>Process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52928" y="5276088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 i="0">
                <a:solidFill>
                  <a:srgbClr val="5A6973"/>
                </a:solidFill>
                <a:latin typeface="Aptos"/>
              </a:rPr>
              <a:t>material / product need</a:t>
            </a:r>
          </a:p>
        </p:txBody>
      </p:sp>
      <p:sp>
        <p:nvSpPr>
          <p:cNvPr id="47" name="Oval 46"/>
          <p:cNvSpPr/>
          <p:nvPr/>
        </p:nvSpPr>
        <p:spPr>
          <a:xfrm>
            <a:off x="4069080" y="5074920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69080" y="5184648"/>
            <a:ext cx="384048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44568" y="500176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232D37"/>
                </a:solidFill>
                <a:latin typeface="Aptos"/>
              </a:rPr>
              <a:t>Survey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44568" y="5276088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 i="0">
                <a:solidFill>
                  <a:srgbClr val="5A6973"/>
                </a:solidFill>
                <a:latin typeface="Aptos"/>
              </a:rPr>
              <a:t>data before design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6446520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92840" y="64465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Cooling alone is not air conditioning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Start with the misconception and correct it visually.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663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51663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3852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57B9D"/>
                </a:solidFill>
                <a:latin typeface="Aptos"/>
              </a:rPr>
              <a:t>Cooling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A9D8F"/>
                </a:solidFill>
                <a:latin typeface="Aptos"/>
              </a:rPr>
              <a:t>Air conditioning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697480" y="2697480"/>
            <a:ext cx="1143000" cy="1143000"/>
          </a:xfrm>
          <a:prstGeom prst="downArrow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160520"/>
            <a:ext cx="4160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232D37"/>
                </a:solidFill>
                <a:latin typeface="Aptos"/>
              </a:rPr>
              <a:t>One variable:
lower air temperature</a:t>
            </a:r>
          </a:p>
        </p:txBody>
      </p:sp>
      <p:sp>
        <p:nvSpPr>
          <p:cNvPr id="14" name="Oval 13"/>
          <p:cNvSpPr/>
          <p:nvPr/>
        </p:nvSpPr>
        <p:spPr>
          <a:xfrm>
            <a:off x="6995160" y="2743200"/>
            <a:ext cx="731520" cy="73152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16" name="Oval 15"/>
          <p:cNvSpPr/>
          <p:nvPr/>
        </p:nvSpPr>
        <p:spPr>
          <a:xfrm>
            <a:off x="7955280" y="2743200"/>
            <a:ext cx="731520" cy="73152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8" name="Oval 17"/>
          <p:cNvSpPr/>
          <p:nvPr/>
        </p:nvSpPr>
        <p:spPr>
          <a:xfrm>
            <a:off x="8915400" y="274320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Air</a:t>
            </a:r>
          </a:p>
        </p:txBody>
      </p:sp>
      <p:sp>
        <p:nvSpPr>
          <p:cNvPr id="20" name="Oval 19"/>
          <p:cNvSpPr/>
          <p:nvPr/>
        </p:nvSpPr>
        <p:spPr>
          <a:xfrm>
            <a:off x="9875520" y="2743200"/>
            <a:ext cx="731520" cy="7315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4160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232D37"/>
                </a:solidFill>
                <a:latin typeface="Aptos"/>
              </a:rPr>
              <a:t>Four variables:
controlled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Four parameters must be controlled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2×2 visual as the core definition.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Temperature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Humidity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circulation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cleanliness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1_four_param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501" y="1874519"/>
            <a:ext cx="5752837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If one control fails, the whole environment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good temperature reading does not guarantee a good indoor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25 °C but high humidity can still feel sticky.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poor ventilation can allow CO₂ or VOCs to accumulate.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5_air_process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082" y="1874519"/>
            <a:ext cx="5231674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Purpose changes the design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Comfort AC and process AC use the same variables for different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Comfort AC: human thermal comfort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Process AC: product, material, or process 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6_classifica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180844"/>
            <a:ext cx="5760720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Comfort AC supports the body’s heat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human body as the “sensor” for comfort air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Convection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Radiation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Conduction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Evaporation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2_temp_comfo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Process AC may target conditions humans would not choose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Let the product/process define the control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Textile mill: higher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Paper storage: lower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Seed storage: low temperature and humidity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3_humid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Equipment sizing is a peak-load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Capacity must match the maximum heat gain rate during operation.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1374B"/>
                </a:solidFill>
                <a:latin typeface="Aptos"/>
              </a:rPr>
              <a:t>Average load ≠ design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Equipment must cover the maximum expected load.</a:t>
            </a:r>
          </a:p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Average load can understate the required capacity.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0" y="4983479"/>
            <a:ext cx="493776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4864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486400" y="4055363"/>
            <a:ext cx="987552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73952" y="3525011"/>
            <a:ext cx="987552" cy="53035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461504" y="2464308"/>
            <a:ext cx="987552" cy="1060703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49056" y="2464308"/>
            <a:ext cx="987552" cy="662940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36608" y="3127248"/>
            <a:ext cx="987552" cy="92811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452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32804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20356" y="3483863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07908" y="242316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95460" y="308610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3012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Peak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0" y="4069080"/>
            <a:ext cx="4937760" cy="0"/>
          </a:xfrm>
          <a:prstGeom prst="line">
            <a:avLst/>
          </a:prstGeom>
          <a:ln w="25400">
            <a:solidFill>
              <a:srgbClr val="457B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46920" y="4133087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457B9D"/>
                </a:solidFill>
                <a:latin typeface="Aptos"/>
              </a:rPr>
              <a:t>Avg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973"/>
                </a:solidFill>
                <a:latin typeface="Aptos"/>
              </a:rPr>
              <a:t>Time of day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Office peak load often occurs after solar 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Stored heat and internal gains shift the maximum into mid-afternoon.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187952"/>
            <a:ext cx="1408176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551176" y="3392424"/>
            <a:ext cx="1472184" cy="795528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23360" y="2543860"/>
            <a:ext cx="1280160" cy="8485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03520" y="2543860"/>
            <a:ext cx="1280160" cy="71597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259835"/>
            <a:ext cx="960120" cy="119329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01852" y="4544568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10028" y="4146804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2212" y="3351276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2372" y="2502712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42532" y="3218687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026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08:00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12:00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16:00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6F51"/>
                </a:solidFill>
                <a:latin typeface="Aptos"/>
              </a:rPr>
              <a:t>Peak around 15:00–16:00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solar + thermal lag + internal gains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Nightclub peak load is driven by people and 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building with little solar gain can peak at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771339"/>
            <a:ext cx="1600200" cy="7955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43200" y="4585716"/>
            <a:ext cx="1600200" cy="18562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343400" y="2464308"/>
            <a:ext cx="1792224" cy="2121408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35624" y="2464308"/>
            <a:ext cx="1408176" cy="106070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101852" y="4809744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02052" y="4730191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02252" y="4544568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94476" y="2423160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02652" y="3483863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2A9D8F"/>
                </a:solidFill>
                <a:latin typeface="Aptos"/>
              </a:rPr>
              <a:t>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18:00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24:00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A9D8F"/>
                </a:solidFill>
                <a:latin typeface="Aptos"/>
              </a:rPr>
              <a:t>Peak around 21:00–22:00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occupants + lighting + latent heat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A building survey turns assumptions into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The survey is the first engineering step before load calculation.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Survey = measure + collect + verify project data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Good survey data reduce over-sizing, under-sizing, and design uncertainty.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7_design_workflo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601" y="1874519"/>
            <a:ext cx="476663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What must be surveyed?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Organize inputs into external and internal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External: location, orientation, solar exposure, shading, outdoor unit location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Internal: room size, occupancy, lighting, equipment, ventilation, schedule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4_circulation_compa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321169"/>
            <a:ext cx="5760720" cy="31757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This course focuses on cooling-mode AC in Thailand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Scope the course so students know what is included and excluded.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"/>
              </a:rPr>
              <a:t>Thailand design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99032" y="2907792"/>
            <a:ext cx="475488" cy="47548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outdoor temperature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sensible 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28031" y="2907792"/>
            <a:ext cx="475488" cy="47548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79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humidity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79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latent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57031" y="290779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Cooling + dehumidification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main course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A6973"/>
                </a:solidFill>
                <a:latin typeface="Aptos"/>
              </a:rPr>
              <a:t>Heating and humidification are not the main focus for this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Pause question: which parameter controls the problem?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this as an interactive slide before summarizing.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101498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148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11374B"/>
                </a:solidFill>
                <a:latin typeface="Aptos"/>
              </a:rPr>
              <a:t>A classroom is 25 °C, but students feel sticky.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718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32D37"/>
                </a:solidFill>
                <a:latin typeface="Aptos"/>
              </a:rPr>
              <a:t>Which parameter is likely the problem?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886200"/>
            <a:ext cx="2057400" cy="77724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Temperature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3886200"/>
            <a:ext cx="2057400" cy="77724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Humidity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59" y="3886200"/>
            <a:ext cx="2057400" cy="77724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Air motion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3886200"/>
            <a:ext cx="2057400" cy="7772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Cleanliness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12064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973"/>
                </a:solidFill>
                <a:latin typeface="Aptos"/>
              </a:rPr>
              <a:t>Expected answer: humidity and/or air movement.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Topic 1.1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2848" y="2514600"/>
            <a:ext cx="822960" cy="8229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AC = simultaneous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Temperature + humidity + circulation + cleanliness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1848" y="2514600"/>
            <a:ext cx="822960" cy="8229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Purpose defines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Comfort for people or process conditions for materials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0848" y="2514600"/>
            <a:ext cx="822960" cy="8229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Survey before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Survey data become load-calculation inputs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