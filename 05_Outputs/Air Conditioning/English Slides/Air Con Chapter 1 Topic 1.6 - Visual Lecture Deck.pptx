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869680" y="201168"/>
            <a:ext cx="3319272" cy="2377440"/>
          </a:xfrm>
          <a:prstGeom prst="rtTriangle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9601200" y="4389120"/>
            <a:ext cx="2587752" cy="2468880"/>
          </a:xfrm>
          <a:prstGeom prst="rtTriangl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530352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00" b="1" i="0">
                <a:solidFill>
                  <a:srgbClr val="2A9D8F"/>
                </a:solidFill>
                <a:latin typeface="Aptos Display"/>
              </a:rPr>
              <a:t>AIR CONDITIONING · CHAPTER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5760720" cy="8686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3600" b="1" i="0">
                <a:solidFill>
                  <a:srgbClr val="11374B"/>
                </a:solidFill>
                <a:latin typeface="Aptos Display"/>
              </a:rPr>
              <a:t>1.6 Types of AC Systems and System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67712"/>
            <a:ext cx="5394960" cy="3657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800" b="0" i="0">
                <a:solidFill>
                  <a:srgbClr val="5A6973"/>
                </a:solidFill>
                <a:latin typeface="Aptos"/>
              </a:rPr>
              <a:t>Capacity units, system families, comparison, and selection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44368"/>
            <a:ext cx="5349240" cy="6400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900" b="1" i="0">
                <a:solidFill>
                  <a:srgbClr val="232D37"/>
                </a:solidFill>
                <a:latin typeface="Aptos Display"/>
              </a:rPr>
              <a:t>30-minute visual lecture deck: concept → engineering judgement → quick check.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977639"/>
            <a:ext cx="2240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2104" y="4078224"/>
            <a:ext cx="182880" cy="1828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73652"/>
            <a:ext cx="1700784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69" b="1" i="0">
                <a:solidFill>
                  <a:srgbClr val="2A9D8F"/>
                </a:solidFill>
                <a:latin typeface="Aptos Display"/>
              </a:rPr>
              <a:t>TR/Btu/h/kW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3977639"/>
            <a:ext cx="2240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46704" y="4078224"/>
            <a:ext cx="182880" cy="18288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4073652"/>
            <a:ext cx="1700784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69" b="1" i="0">
                <a:solidFill>
                  <a:srgbClr val="457B9D"/>
                </a:solidFill>
                <a:latin typeface="Aptos Display"/>
              </a:rPr>
              <a:t>Split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544568"/>
            <a:ext cx="2240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" y="4645152"/>
            <a:ext cx="182880" cy="1828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40580"/>
            <a:ext cx="1700784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69" b="1" i="0">
                <a:solidFill>
                  <a:srgbClr val="E76F51"/>
                </a:solidFill>
                <a:latin typeface="Aptos Display"/>
              </a:rPr>
              <a:t>VRF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4544568"/>
            <a:ext cx="2240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46704" y="4645152"/>
            <a:ext cx="182880" cy="1828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4640580"/>
            <a:ext cx="1700784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69" b="1" i="0">
                <a:solidFill>
                  <a:srgbClr val="4CAF50"/>
                </a:solidFill>
                <a:latin typeface="Aptos Display"/>
              </a:rPr>
              <a:t>Chilled water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170432"/>
            <a:ext cx="45262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45552" y="1847088"/>
            <a:ext cx="1737360" cy="1737360"/>
          </a:xfrm>
          <a:prstGeom prst="ellipse">
            <a:avLst/>
          </a:prstGeom>
          <a:solidFill>
            <a:srgbClr val="E6F4F7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331720"/>
            <a:ext cx="1234440" cy="32004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2800" b="1" i="0">
                <a:solidFill>
                  <a:srgbClr val="11374B"/>
                </a:solidFill>
                <a:latin typeface="Aptos Display"/>
              </a:rPr>
              <a:t>1.6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956048"/>
            <a:ext cx="342900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5A6973"/>
                </a:solidFill>
                <a:latin typeface="Aptos Display"/>
              </a:rPr>
              <a:t>Enough detail for discussion, examples, and Q&amp;A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Learning outcomes for a 30-minute 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Students should connect building needs to system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3383279" cy="164592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783080"/>
            <a:ext cx="438912" cy="438912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019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17830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Convert capacity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500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TR, Btu/h, and kW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383279" cy="1645920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1783080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019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830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Classify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3500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window, split, package, VRF, chilled water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600200"/>
            <a:ext cx="3383279" cy="16459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74152" y="1783080"/>
            <a:ext cx="438912" cy="43891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19019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17830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Compare trade-offs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23500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cost, zoning, efficiency, service life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657600"/>
            <a:ext cx="3383279" cy="1645920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" y="3840480"/>
            <a:ext cx="438912" cy="43891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9593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38404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Apply selection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4074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choose based on building constraints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657600"/>
            <a:ext cx="3383279" cy="1645920"/>
          </a:xfrm>
          <a:prstGeom prst="roundRect">
            <a:avLst/>
          </a:prstGeom>
          <a:solidFill>
            <a:srgbClr val="FFF7E2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07992" y="3840480"/>
            <a:ext cx="438912" cy="43891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39593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38404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Discuss Thai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44074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climate, operation hours, maintenance capability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Cooling capacity uses three common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Catalogues and standards may use different unit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30" b="1" i="0">
                <a:solidFill>
                  <a:srgbClr val="2A9D8F"/>
                </a:solidFill>
                <a:latin typeface="Aptos Display"/>
              </a:rPr>
              <a:t>CAPACITY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00" b="1" i="0">
                <a:solidFill>
                  <a:srgbClr val="11374B"/>
                </a:solidFill>
                <a:latin typeface="Aptos Display"/>
              </a:rPr>
              <a:t>1 TR = 12,000 Btu/h = 3.517 kW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44368"/>
            <a:ext cx="3904487" cy="80467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08960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004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44951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291839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ton of refrigeration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858768"/>
            <a:ext cx="3904487" cy="80467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23359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148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5935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Btu/h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0624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common in room AC catalogues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773168"/>
            <a:ext cx="3904487" cy="80467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937759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0292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87375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kW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12064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SI engineering calculation unit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01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937385"/>
            <a:ext cx="5760720" cy="37604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60" b="0" i="0">
                <a:solidFill>
                  <a:srgbClr val="5A6973"/>
                </a:solidFill>
                <a:latin typeface="Aptos"/>
              </a:rPr>
              <a:t>Cooling capacity unit relationship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Preliminary sizing: use only as a first-pass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Rule-of-thumb values are not a substitute for load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3383279" cy="164592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783080"/>
            <a:ext cx="438912" cy="438912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019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17830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Residential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500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about 300–400 Btu/h·m²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383279" cy="1645920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1783080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019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830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3500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about 500–600 Btu/h·m²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600200"/>
            <a:ext cx="3383279" cy="16459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74152" y="1783080"/>
            <a:ext cx="438912" cy="43891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19019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17830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Restaurant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23500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about 600–800 Btu/h·m²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657600"/>
            <a:ext cx="3383279" cy="1645920"/>
          </a:xfrm>
          <a:prstGeom prst="roundRect">
            <a:avLst/>
          </a:prstGeom>
          <a:solidFill>
            <a:srgbClr val="FFEEEB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" y="3840480"/>
            <a:ext cx="438912" cy="438912"/>
          </a:xfrm>
          <a:prstGeom prst="ellipse">
            <a:avLst/>
          </a:prstGeom>
          <a:solidFill>
            <a:srgbClr val="BE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9593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38404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Department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4074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about 700–900 Btu/h·m²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657600"/>
            <a:ext cx="3383279" cy="1645920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07992" y="3840480"/>
            <a:ext cx="438912" cy="43891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39593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38404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Engineering caution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44074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verify with CLTD/CLF, RTS, or accepted load method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Window units are self-contained and low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All components are in one cabinet.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30" b="1" i="0">
                <a:solidFill>
                  <a:srgbClr val="2A9D8F"/>
                </a:solidFill>
                <a:latin typeface="Aptos Display"/>
              </a:rPr>
              <a:t>SYSTEM TYPE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00" b="1" i="0">
                <a:solidFill>
                  <a:srgbClr val="11374B"/>
                </a:solidFill>
                <a:latin typeface="Aptos Display"/>
              </a:rPr>
              <a:t>Simple installation, limited comfort quality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44368"/>
            <a:ext cx="3904487" cy="80467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08960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004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44951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291839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5,000–24,000 Btu/h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858768"/>
            <a:ext cx="3904487" cy="804672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23359"/>
            <a:ext cx="365760" cy="3657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148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5935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0624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lowest installed 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773168"/>
            <a:ext cx="3904487" cy="80467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937759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0292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87375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Weakness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12064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noise, wall opening, lower efficiency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02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217420"/>
            <a:ext cx="5760720" cy="3200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60" b="0" i="0">
                <a:solidFill>
                  <a:srgbClr val="5A6973"/>
                </a:solidFill>
                <a:latin typeface="Aptos"/>
              </a:rPr>
              <a:t>Window AC arrangement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Split systems separate indoor comfort from outdoor heat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Moving compressor outdoors improves acoustic comfort.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30" b="1" i="0">
                <a:solidFill>
                  <a:srgbClr val="2A9D8F"/>
                </a:solidFill>
                <a:latin typeface="Aptos Display"/>
              </a:rPr>
              <a:t>SYSTEM TYPE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00" b="1" i="0">
                <a:solidFill>
                  <a:srgbClr val="11374B"/>
                </a:solidFill>
                <a:latin typeface="Aptos Display"/>
              </a:rPr>
              <a:t>Most common small-building 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44368"/>
            <a:ext cx="3904487" cy="80467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08960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004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44951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Indoor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291839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evaporator and indoor fan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858768"/>
            <a:ext cx="3904487" cy="80467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23359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148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5935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Outdoor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0624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compressor and condenser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773168"/>
            <a:ext cx="3904487" cy="80467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937759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0292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87375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12064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homes, condos, small offices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03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057400"/>
            <a:ext cx="5760720" cy="35204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60" b="0" i="0">
                <a:solidFill>
                  <a:srgbClr val="5A6973"/>
                </a:solidFill>
                <a:latin typeface="Aptos"/>
              </a:rPr>
              <a:t>Split system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Package units condition one large 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A single cabinet feeds ductwork for a large zone.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30" b="1" i="0">
                <a:solidFill>
                  <a:srgbClr val="2A9D8F"/>
                </a:solidFill>
                <a:latin typeface="Aptos Display"/>
              </a:rPr>
              <a:t>SYSTEM TYPE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00" b="1" i="0">
                <a:solidFill>
                  <a:srgbClr val="11374B"/>
                </a:solidFill>
                <a:latin typeface="Aptos Display"/>
              </a:rPr>
              <a:t>Useful for open-plan buildings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44368"/>
            <a:ext cx="3904487" cy="80467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08960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004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44951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291839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about 2–25 TR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858768"/>
            <a:ext cx="3904487" cy="804672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23359"/>
            <a:ext cx="365760" cy="3657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148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5935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0624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single location, central maintenance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773168"/>
            <a:ext cx="3904487" cy="80467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937759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0292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87375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Weakness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12064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duct energy, roof load, zone control complexity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04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977390"/>
            <a:ext cx="5760720" cy="368045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60" b="0" i="0">
                <a:solidFill>
                  <a:srgbClr val="5A6973"/>
                </a:solidFill>
                <a:latin typeface="Aptos"/>
              </a:rPr>
              <a:t>Package unit with duct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VRF systems serve many zones with refrigerant flow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One outdoor system meters refrigerant to many indoor units.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30" b="1" i="0">
                <a:solidFill>
                  <a:srgbClr val="2A9D8F"/>
                </a:solidFill>
                <a:latin typeface="Aptos Display"/>
              </a:rPr>
              <a:t>SYSTEM TYPE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00" b="1" i="0">
                <a:solidFill>
                  <a:srgbClr val="11374B"/>
                </a:solidFill>
                <a:latin typeface="Aptos Display"/>
              </a:rPr>
              <a:t>High zoning flexibility without a chiller plant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44368"/>
            <a:ext cx="3904487" cy="80467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0896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004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44951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Zoning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291839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independent IDU setpoints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858768"/>
            <a:ext cx="3904487" cy="80467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23359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148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5935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Inverter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0624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capacity modulates to 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773168"/>
            <a:ext cx="3904487" cy="80467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937759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0292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87375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Watchout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12064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leak testing, cost, proprietary controls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05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6" y="1874519"/>
            <a:ext cx="5596128" cy="3886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60" b="0" i="0">
                <a:solidFill>
                  <a:srgbClr val="5A6973"/>
                </a:solidFill>
                <a:latin typeface="Aptos"/>
              </a:rPr>
              <a:t>VRF/VRV system configuration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Chilled water systems dominate large buildings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Refrigerant stays in the chiller; water distributes cooling.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30" b="1" i="0">
                <a:solidFill>
                  <a:srgbClr val="2A9D8F"/>
                </a:solidFill>
                <a:latin typeface="Aptos Display"/>
              </a:rPr>
              <a:t>SYSTEM TYPE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00" b="1" i="0">
                <a:solidFill>
                  <a:srgbClr val="11374B"/>
                </a:solidFill>
                <a:latin typeface="Aptos Display"/>
              </a:rPr>
              <a:t>Best where scale and lifecycle efficiency justify first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44368"/>
            <a:ext cx="3904487" cy="804672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08960"/>
            <a:ext cx="365760" cy="3657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004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44951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High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291839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especially water-cooled chillers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858768"/>
            <a:ext cx="3904487" cy="80467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23359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148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5935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Scalable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0624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multiple chillers/AHUs/FCUs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773168"/>
            <a:ext cx="3904487" cy="80467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937759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0292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87375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Watchout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12064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plant room, pumps, tower, skilled operation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06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648" y="1874519"/>
            <a:ext cx="4996542" cy="3886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60" b="0" i="0">
                <a:solidFill>
                  <a:srgbClr val="5A6973"/>
                </a:solidFill>
                <a:latin typeface="Aptos"/>
              </a:rPr>
              <a:t>Chilled water system circuit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System comparison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Fast screening for design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108356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83080"/>
            <a:ext cx="2528316" cy="457200"/>
          </a:xfrm>
          <a:prstGeom prst="round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29384"/>
            <a:ext cx="2436876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ptos Display"/>
              </a:rPr>
              <a:t>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5868" y="1783080"/>
            <a:ext cx="2528316" cy="457200"/>
          </a:xfrm>
          <a:prstGeom prst="round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1588" y="1929384"/>
            <a:ext cx="2436876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ptos Display"/>
              </a:rPr>
              <a:t>Typical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1783080"/>
            <a:ext cx="2528316" cy="457200"/>
          </a:xfrm>
          <a:prstGeom prst="round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929384"/>
            <a:ext cx="2436876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ptos Display"/>
              </a:rPr>
              <a:t>Strength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2228" y="1783080"/>
            <a:ext cx="2528316" cy="457200"/>
          </a:xfrm>
          <a:prstGeom prst="round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7948" y="1929384"/>
            <a:ext cx="2436876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ptos Display"/>
              </a:rPr>
              <a:t>Main limitation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2377440"/>
            <a:ext cx="2528316" cy="4572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2496312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Window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5868" y="2377440"/>
            <a:ext cx="2528316" cy="4572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2444" y="2496312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one small room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8" y="2377440"/>
            <a:ext cx="2528316" cy="4572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2496312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lowest first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2228" y="2377440"/>
            <a:ext cx="2528316" cy="4572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18804" y="2496312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noise / envelope opening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" y="2944368"/>
            <a:ext cx="252831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3063240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Split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15868" y="2944368"/>
            <a:ext cx="252831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2444" y="3063240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room to small office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8" y="2944368"/>
            <a:ext cx="252831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5624" y="3063240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quiet, flexible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2228" y="2944368"/>
            <a:ext cx="252831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8804" y="3063240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many outdoor units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" y="3511296"/>
            <a:ext cx="2528316" cy="4572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3630168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Package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15868" y="3511296"/>
            <a:ext cx="2528316" cy="4572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52444" y="3630168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large single zone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9048" y="3511296"/>
            <a:ext cx="2528316" cy="4572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3630168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central cabinet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2228" y="3511296"/>
            <a:ext cx="2528316" cy="4572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18804" y="3630168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duct loss / roof load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" y="4078224"/>
            <a:ext cx="252831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" y="4197096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VRF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15868" y="4078224"/>
            <a:ext cx="252831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52444" y="4197096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multi-room mid-scale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9048" y="4078224"/>
            <a:ext cx="252831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35624" y="4197096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zone control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2228" y="4078224"/>
            <a:ext cx="252831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18804" y="4197096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cost + specialist service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" y="4645152"/>
            <a:ext cx="2528316" cy="4572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4764024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Chilled water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15868" y="4645152"/>
            <a:ext cx="2528316" cy="4572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52444" y="4764024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large buildings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99048" y="4645152"/>
            <a:ext cx="2528316" cy="4572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35624" y="4764024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efficiency + redundancy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2228" y="4645152"/>
            <a:ext cx="2528316" cy="45720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18804" y="4764024"/>
            <a:ext cx="2455164" cy="1371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780" b="0" i="0">
                <a:solidFill>
                  <a:srgbClr val="232D37"/>
                </a:solidFill>
                <a:latin typeface="Aptos"/>
              </a:rPr>
              <a:t>highest capital complexity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System selection is a trade-off, not a lookup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The best system depends on building operation and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30" b="1" i="0">
                <a:solidFill>
                  <a:srgbClr val="2A9D8F"/>
                </a:solidFill>
                <a:latin typeface="Aptos Display"/>
              </a:rPr>
              <a:t>SELECTION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00" b="1" i="0">
                <a:solidFill>
                  <a:srgbClr val="11374B"/>
                </a:solidFill>
                <a:latin typeface="Aptos Display"/>
              </a:rPr>
              <a:t>Evaluate lifecycle, not only first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44368"/>
            <a:ext cx="3904487" cy="71323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08960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0040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44951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Load and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291839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capacity and operating schedule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767328"/>
            <a:ext cx="3904487" cy="71323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393192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02336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86791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Zoning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11480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single zone vs many independent rooms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590288"/>
            <a:ext cx="3904487" cy="71323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54879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846320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690872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20" b="1" i="0">
                <a:solidFill>
                  <a:srgbClr val="232D37"/>
                </a:solidFill>
                <a:latin typeface="Aptos Display"/>
              </a:rPr>
              <a:t>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937759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capital vs operating cost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08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174" y="1874519"/>
            <a:ext cx="4239490" cy="3886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60" b="0" i="0">
                <a:solidFill>
                  <a:srgbClr val="5A6973"/>
                </a:solidFill>
                <a:latin typeface="Aptos"/>
              </a:rPr>
              <a:t>Comparative overview of system types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Worked selection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Ask students to justify, not memorize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3383279" cy="164592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783080"/>
            <a:ext cx="438912" cy="438912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019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17830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Small bedroom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500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split AC: quiet and flexible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383279" cy="1645920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1783080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019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830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Temporary site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3500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window or small split: low first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600200"/>
            <a:ext cx="3383279" cy="16459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74152" y="1783080"/>
            <a:ext cx="438912" cy="43891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19019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17830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Single-story retail hall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23500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package unit: central ducted solution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657600"/>
            <a:ext cx="3383279" cy="1645920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" y="3840480"/>
            <a:ext cx="438912" cy="43891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9593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38404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Boutique hotel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4074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VRF/FCU: room-by-room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657600"/>
            <a:ext cx="3383279" cy="1645920"/>
          </a:xfrm>
          <a:prstGeom prst="roundRect">
            <a:avLst/>
          </a:prstGeom>
          <a:solidFill>
            <a:srgbClr val="FFF7E2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07992" y="3840480"/>
            <a:ext cx="438912" cy="43891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39593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38404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Hospital or mall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44074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chilled water: efficiency, filtration, redundancy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Pause question: 20-story mixed-use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Retail + offices + hotel suites in one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3383279" cy="1645920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783080"/>
            <a:ext cx="438912" cy="43891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019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17830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Retail floors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500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AHU/package/chilled water airside for open zones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383279" cy="164592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1783080"/>
            <a:ext cx="438912" cy="438912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9019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830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Office floors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3500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AHU/VAV or chilled water terminals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600200"/>
            <a:ext cx="3383279" cy="1645920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74152" y="1783080"/>
            <a:ext cx="438912" cy="43891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19019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17830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Hotel suites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23500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FCU or VRF for individual room 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657600"/>
            <a:ext cx="3383279" cy="16459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" y="3840480"/>
            <a:ext cx="438912" cy="43891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9593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38404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Fresh air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4074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separate AHU/DOAS often needed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657600"/>
            <a:ext cx="3383279" cy="1645920"/>
          </a:xfrm>
          <a:prstGeom prst="roundRect">
            <a:avLst/>
          </a:prstGeom>
          <a:solidFill>
            <a:srgbClr val="FFF7E2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07992" y="3840480"/>
            <a:ext cx="438912" cy="43891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3959352"/>
            <a:ext cx="438912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3840480"/>
            <a:ext cx="251460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00" b="1" i="0">
                <a:solidFill>
                  <a:srgbClr val="232D37"/>
                </a:solidFill>
                <a:latin typeface="Aptos Display"/>
              </a:rPr>
              <a:t>Final 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440740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19" b="0" i="0">
                <a:solidFill>
                  <a:srgbClr val="5A6973"/>
                </a:solidFill>
                <a:latin typeface="Aptos"/>
              </a:rPr>
              <a:t>hybrid systems are common in real buildings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698480" cy="47548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500" b="1" i="0">
                <a:solidFill>
                  <a:srgbClr val="11374B"/>
                </a:solidFill>
                <a:latin typeface="Aptos Display"/>
              </a:rPr>
              <a:t>Topic 1.6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3327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30" b="0" i="0">
                <a:solidFill>
                  <a:srgbClr val="5A6973"/>
                </a:solidFill>
                <a:latin typeface="Aptos"/>
              </a:rPr>
              <a:t>What students should remember for design conversations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3063240" cy="260604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57400" y="2578608"/>
            <a:ext cx="749808" cy="74980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2798064"/>
            <a:ext cx="749808" cy="1463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11880"/>
            <a:ext cx="2606040" cy="29260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400" b="1" i="0">
                <a:solidFill>
                  <a:srgbClr val="232D37"/>
                </a:solidFill>
                <a:latin typeface="Aptos Display"/>
              </a:rPr>
              <a:t>Capacity units must be fluent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05072"/>
            <a:ext cx="2423160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0" i="0">
                <a:solidFill>
                  <a:srgbClr val="5A6973"/>
                </a:solidFill>
                <a:latin typeface="Aptos"/>
              </a:rPr>
              <a:t>TR, Btu/h, and kW describe the same heat-rate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240280"/>
            <a:ext cx="3063240" cy="260604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0720" y="2578608"/>
            <a:ext cx="749808" cy="74980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798064"/>
            <a:ext cx="749808" cy="1463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611880"/>
            <a:ext cx="2606040" cy="29260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400" b="1" i="0">
                <a:solidFill>
                  <a:srgbClr val="232D37"/>
                </a:solidFill>
                <a:latin typeface="Aptos Display"/>
              </a:rPr>
              <a:t>System type follows building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4005072"/>
            <a:ext cx="2423160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0" i="0">
                <a:solidFill>
                  <a:srgbClr val="5A6973"/>
                </a:solidFill>
                <a:latin typeface="Aptos"/>
              </a:rPr>
              <a:t>room units → split/VRF/package → chilled water plants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240280"/>
            <a:ext cx="3063240" cy="260604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64040" y="2578608"/>
            <a:ext cx="749808" cy="74980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798064"/>
            <a:ext cx="749808" cy="1463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611880"/>
            <a:ext cx="2606040" cy="29260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400" b="1" i="0">
                <a:solidFill>
                  <a:srgbClr val="232D37"/>
                </a:solidFill>
                <a:latin typeface="Aptos Display"/>
              </a:rPr>
              <a:t>Selection is multi-criteria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4005072"/>
            <a:ext cx="2423160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0" i="0">
                <a:solidFill>
                  <a:srgbClr val="5A6973"/>
                </a:solidFill>
                <a:latin typeface="Aptos"/>
              </a:rPr>
              <a:t>zoning, cost, efficiency, service life, and maintenance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