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8869680" y="201168"/>
            <a:ext cx="3319272" cy="2377440"/>
          </a:xfrm>
          <a:prstGeom prst="rtTriangle">
            <a:avLst/>
          </a:prstGeom>
          <a:solidFill>
            <a:srgbClr val="E6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9601200" y="4389120"/>
            <a:ext cx="2587752" cy="2468880"/>
          </a:xfrm>
          <a:prstGeom prst="rtTriangle">
            <a:avLst/>
          </a:prstGeom>
          <a:solidFill>
            <a:srgbClr val="FF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49808"/>
            <a:ext cx="530352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00" b="1" i="0">
                <a:solidFill>
                  <a:srgbClr val="2A9D8F"/>
                </a:solidFill>
                <a:latin typeface="Aptos Display"/>
              </a:rPr>
              <a:t>AIR CONDITIONING · CHAPTER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43000"/>
            <a:ext cx="5760720" cy="8686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3600" b="1" i="0">
                <a:solidFill>
                  <a:srgbClr val="11374B"/>
                </a:solidFill>
                <a:latin typeface="Aptos Display"/>
              </a:rPr>
              <a:t>1.6 Types of AC Systems and System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67712"/>
            <a:ext cx="5394960" cy="3657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800" b="0" i="0">
                <a:solidFill>
                  <a:srgbClr val="5A6973"/>
                </a:solidFill>
                <a:latin typeface="Aptos"/>
              </a:rPr>
              <a:t>Capacity units, system types, and engineering trade-offs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44368"/>
            <a:ext cx="5349240" cy="6400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900" b="1" i="0">
                <a:solidFill>
                  <a:srgbClr val="232D37"/>
                </a:solidFill>
                <a:latin typeface="Aptos Display"/>
              </a:rPr>
              <a:t>A visual-led lecture deck for concept-first teaching and engineering discussion.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977639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2104" y="4078224"/>
            <a:ext cx="182880" cy="18288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073652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2A9D8F"/>
                </a:solidFill>
                <a:latin typeface="Aptos Display"/>
              </a:rPr>
              <a:t>TR / Btu/h / kW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3977639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46704" y="4078224"/>
            <a:ext cx="182880" cy="18288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4073652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457B9D"/>
                </a:solidFill>
                <a:latin typeface="Aptos Display"/>
              </a:rPr>
              <a:t>Split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544568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04" y="4645152"/>
            <a:ext cx="182880" cy="1828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640580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E76F51"/>
                </a:solidFill>
                <a:latin typeface="Aptos Display"/>
              </a:rPr>
              <a:t>VRF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7832" y="4544568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46704" y="4645152"/>
            <a:ext cx="182880" cy="18288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4640580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4CAF50"/>
                </a:solidFill>
                <a:latin typeface="Aptos Display"/>
              </a:rPr>
              <a:t>Chilled water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1170432"/>
            <a:ext cx="452628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45552" y="1847088"/>
            <a:ext cx="1737360" cy="1737360"/>
          </a:xfrm>
          <a:prstGeom prst="ellipse">
            <a:avLst/>
          </a:prstGeom>
          <a:solidFill>
            <a:srgbClr val="E6F4F7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2331720"/>
            <a:ext cx="1234440" cy="32004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2800" b="1" i="0">
                <a:solidFill>
                  <a:srgbClr val="11374B"/>
                </a:solidFill>
                <a:latin typeface="Aptos Display"/>
              </a:rPr>
              <a:t>1.6</a:t>
            </a:r>
          </a:p>
        </p:txBody>
      </p:sp>
      <p:sp>
        <p:nvSpPr>
          <p:cNvPr id="24" name="Oval 23"/>
          <p:cNvSpPr/>
          <p:nvPr/>
        </p:nvSpPr>
        <p:spPr>
          <a:xfrm>
            <a:off x="6995160" y="1645920"/>
            <a:ext cx="713232" cy="71323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60" y="1847088"/>
            <a:ext cx="713232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9372600" y="1645920"/>
            <a:ext cx="713232" cy="71323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1847088"/>
            <a:ext cx="713232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6995160" y="3886200"/>
            <a:ext cx="713232" cy="71323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4087368"/>
            <a:ext cx="713232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30" name="Oval 29"/>
          <p:cNvSpPr/>
          <p:nvPr/>
        </p:nvSpPr>
        <p:spPr>
          <a:xfrm>
            <a:off x="9372600" y="3886200"/>
            <a:ext cx="713232" cy="71323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4087368"/>
            <a:ext cx="713232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4956048"/>
            <a:ext cx="342900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5A6973"/>
                </a:solidFill>
                <a:latin typeface="Aptos Display"/>
              </a:rPr>
              <a:t>From components → decisions → engineering judgement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698480" cy="4389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600" b="1" i="0">
                <a:solidFill>
                  <a:srgbClr val="11374B"/>
                </a:solidFill>
                <a:latin typeface="Aptos Display"/>
              </a:rPr>
              <a:t>Cooling capacity has three common units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0" i="0">
                <a:solidFill>
                  <a:srgbClr val="5A6973"/>
                </a:solidFill>
                <a:latin typeface="Aptos"/>
              </a:rPr>
              <a:t>Engineers must convert between TR, Btu/h, and kW fluently.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CAPACITY UNITS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1 TR = 12,000 Btu/h = 3.517 kW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0467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186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192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originates from melting one ton of ice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877056"/>
            <a:ext cx="3904487" cy="80467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41648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330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867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Btu/h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336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common in room/split AC catalogues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791456"/>
            <a:ext cx="3904487" cy="80467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95604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0474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011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kW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1480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SI unit used in engineering calculations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1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937385"/>
            <a:ext cx="5760720" cy="376047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Relationship among TR, Btu/h, and kW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698480" cy="4389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600" b="1" i="0">
                <a:solidFill>
                  <a:srgbClr val="11374B"/>
                </a:solidFill>
                <a:latin typeface="Aptos Display"/>
              </a:rPr>
              <a:t>Window units are self-contained and low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0" i="0">
                <a:solidFill>
                  <a:srgbClr val="5A6973"/>
                </a:solidFill>
                <a:latin typeface="Aptos"/>
              </a:rPr>
              <a:t>All components are in one cabinet; simplicity trades off noise and efficiency.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SYSTEM TYPE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Window air conditioner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0467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186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Capacity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192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about 5,000–24,000 Btu/h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877056"/>
            <a:ext cx="3904487" cy="80467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4164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330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867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Best 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336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temporary or low-cost rooms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791456"/>
            <a:ext cx="3904487" cy="80467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956048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0474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011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Limitation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1480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noise and envelope penetration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2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17420"/>
            <a:ext cx="5760720" cy="32004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Window air conditioner arrangement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698480" cy="4389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600" b="1" i="0">
                <a:solidFill>
                  <a:srgbClr val="11374B"/>
                </a:solidFill>
                <a:latin typeface="Aptos Display"/>
              </a:rPr>
              <a:t>Split systems separate indoor comfort from outdoor heat rejection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0" i="0">
                <a:solidFill>
                  <a:srgbClr val="5A6973"/>
                </a:solidFill>
                <a:latin typeface="Aptos"/>
              </a:rPr>
              <a:t>The compressor moves outdoors, reducing room noise.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SYSTEM TYPE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Split air conditioner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0467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186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Indoor unit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192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evaporator coil and fan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877056"/>
            <a:ext cx="3904487" cy="80467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41648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330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867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Outdoor unit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336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compressor and condenser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791456"/>
            <a:ext cx="3904487" cy="80467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95604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0474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011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Best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1480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residential, condos, small offices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3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057400"/>
            <a:ext cx="5760720" cy="352043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Split system configuration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698480" cy="4389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600" b="1" i="0">
                <a:solidFill>
                  <a:srgbClr val="11374B"/>
                </a:solidFill>
                <a:latin typeface="Aptos Display"/>
              </a:rPr>
              <a:t>Package units condition one large 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0" i="0">
                <a:solidFill>
                  <a:srgbClr val="5A6973"/>
                </a:solidFill>
                <a:latin typeface="Aptos"/>
              </a:rPr>
              <a:t>A rooftop/unit cabinet supplies ducted air to a large zone.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SYSTEM TYPE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Package / rooftop unit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0467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186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Capacity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192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about 2–25 TR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877056"/>
            <a:ext cx="3904487" cy="80467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4164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330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867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Best 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336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retail, schools, warehouses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791456"/>
            <a:ext cx="3904487" cy="80467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956048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0474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011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Watchouts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1480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roof load, duct leakage, fan energy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4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977390"/>
            <a:ext cx="5760720" cy="368045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Package unit with duct distribution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698480" cy="4389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600" b="1" i="0">
                <a:solidFill>
                  <a:srgbClr val="11374B"/>
                </a:solidFill>
                <a:latin typeface="Aptos Display"/>
              </a:rPr>
              <a:t>VRF gives many zones independent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0" i="0">
                <a:solidFill>
                  <a:srgbClr val="5A6973"/>
                </a:solidFill>
                <a:latin typeface="Aptos"/>
              </a:rPr>
              <a:t>One outdoor unit meters refrigerant to many indoor units.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SYSTEM TYPE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Variable Refrigerant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0467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186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Independent zones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192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each IDU has its own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877056"/>
            <a:ext cx="3904487" cy="80467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41648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330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867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Inverter compressor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336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capacity tracks load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791456"/>
            <a:ext cx="3904487" cy="80467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956048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0474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011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Watchouts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1480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cost, leak testing, proprietary controls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5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5856" y="1874519"/>
            <a:ext cx="5596128" cy="3886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VRF/VRV configuration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698480" cy="4389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600" b="1" i="0">
                <a:solidFill>
                  <a:srgbClr val="11374B"/>
                </a:solidFill>
                <a:latin typeface="Aptos Display"/>
              </a:rPr>
              <a:t>Chilled water is the large-building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0" i="0">
                <a:solidFill>
                  <a:srgbClr val="5A6973"/>
                </a:solidFill>
                <a:latin typeface="Aptos"/>
              </a:rPr>
              <a:t>Refrigerant stays in the chiller; chilled water distributes cooling.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SYSTEM TYPE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Chiller + pumps + AHU/FCU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04672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65760" cy="36576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186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High efficiency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192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especially water-cooled plants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877056"/>
            <a:ext cx="3904487" cy="80467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4164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330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867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Scalable and redundant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336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multiple chillers possible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791456"/>
            <a:ext cx="3904487" cy="80467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956048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0474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011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High first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1480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plant room, pumps, tower, controls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6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5648" y="1874519"/>
            <a:ext cx="4996542" cy="3886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Chilled water system circuit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698480" cy="4389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600" b="1" i="0">
                <a:solidFill>
                  <a:srgbClr val="11374B"/>
                </a:solidFill>
                <a:latin typeface="Aptos Display"/>
              </a:rPr>
              <a:t>System selection is a trade-off, not a lookup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0" i="0">
                <a:solidFill>
                  <a:srgbClr val="5A6973"/>
                </a:solidFill>
                <a:latin typeface="Aptos"/>
              </a:rPr>
              <a:t>Match the system to load, zones, budget, and service capability.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SELECTION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Choose by constraints and lifecycle performance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71323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186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Small/simple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192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window or split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85616"/>
            <a:ext cx="3904487" cy="71323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5020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4164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9534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Many rooms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4223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multi-split or VRF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608576"/>
            <a:ext cx="3904487" cy="71323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73168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6460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71830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Large buildings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6519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package or chilled water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8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4174" y="1874519"/>
            <a:ext cx="4239490" cy="3886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Comparative overview of system types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698480" cy="4389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600" b="1" i="0">
                <a:solidFill>
                  <a:srgbClr val="11374B"/>
                </a:solidFill>
                <a:latin typeface="Aptos Display"/>
              </a:rPr>
              <a:t>Topic 1.6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0" i="0">
                <a:solidFill>
                  <a:srgbClr val="5A6973"/>
                </a:solidFill>
                <a:latin typeface="Aptos"/>
              </a:rPr>
              <a:t>What students should 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106527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2331720"/>
            <a:ext cx="2880360" cy="23317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103120" y="2633472"/>
            <a:ext cx="749808" cy="74980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2852928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11880"/>
            <a:ext cx="2423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Convert capacity units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3977639"/>
            <a:ext cx="2286000" cy="4114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30" b="0" i="0">
                <a:solidFill>
                  <a:srgbClr val="5A6973"/>
                </a:solidFill>
                <a:latin typeface="Aptos"/>
              </a:rPr>
              <a:t>TR, Btu/h, and kW describe the same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331720"/>
            <a:ext cx="2880360" cy="23317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2120" y="2633472"/>
            <a:ext cx="749808" cy="74980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2852928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3611880"/>
            <a:ext cx="2423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System type follows building 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3977639"/>
            <a:ext cx="2286000" cy="4114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30" b="0" i="0">
                <a:solidFill>
                  <a:srgbClr val="5A6973"/>
                </a:solidFill>
                <a:latin typeface="Aptos"/>
              </a:rPr>
              <a:t>from room units to chilled water plants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2331720"/>
            <a:ext cx="2880360" cy="23317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61120" y="2633472"/>
            <a:ext cx="749808" cy="74980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2852928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611880"/>
            <a:ext cx="2423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Selection is multi-criteria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3977639"/>
            <a:ext cx="2286000" cy="4114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30" b="0" i="0">
                <a:solidFill>
                  <a:srgbClr val="5A6973"/>
                </a:solidFill>
                <a:latin typeface="Aptos"/>
              </a:rPr>
              <a:t>capacity, zoning, cost, efficiency, service life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