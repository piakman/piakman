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8961120" y="201168"/>
            <a:ext cx="3227832" cy="2240280"/>
          </a:xfrm>
          <a:prstGeom prst="rtTriangle">
            <a:avLst/>
          </a:prstGeom>
          <a:solidFill>
            <a:srgbClr val="E6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>
            <a:off x="9692640" y="4343400"/>
            <a:ext cx="2496312" cy="2514600"/>
          </a:xfrm>
          <a:prstGeom prst="rtTriangle">
            <a:avLst/>
          </a:prstGeom>
          <a:solidFill>
            <a:srgbClr val="FF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530352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00" b="1" i="0">
                <a:solidFill>
                  <a:srgbClr val="2A9D8F"/>
                </a:solidFill>
                <a:latin typeface="Aptos Display"/>
              </a:rPr>
              <a:t>AIR CONDITIONING · CHAPTER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170432"/>
            <a:ext cx="5669280" cy="8686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3700" b="1" i="0">
                <a:solidFill>
                  <a:srgbClr val="11374B"/>
                </a:solidFill>
                <a:latin typeface="Aptos Display"/>
              </a:rPr>
              <a:t>1.6 Types of AC 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331720"/>
            <a:ext cx="5394960" cy="36576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800" b="0" i="0">
                <a:solidFill>
                  <a:srgbClr val="5A6973"/>
                </a:solidFill>
                <a:latin typeface="Aptos"/>
              </a:rPr>
              <a:t>Capacity units, system families, and selection logic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26080"/>
            <a:ext cx="5257800" cy="77724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000" b="1" i="0">
                <a:solidFill>
                  <a:srgbClr val="232D37"/>
                </a:solidFill>
                <a:latin typeface="Aptos Display"/>
              </a:rPr>
              <a:t>Choose the system type by matching building scale, zoning, cost, and operation.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4133087"/>
            <a:ext cx="2212848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5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77240" y="4233672"/>
            <a:ext cx="182880" cy="18288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5" y="4229100"/>
            <a:ext cx="1664208" cy="15544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1" i="0">
                <a:solidFill>
                  <a:srgbClr val="457B9D"/>
                </a:solidFill>
                <a:latin typeface="Aptos Display"/>
              </a:rPr>
              <a:t>TR/Btu/h/kW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45536" y="4133087"/>
            <a:ext cx="2212848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264408" y="4233672"/>
            <a:ext cx="182880" cy="18288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9584" y="4229100"/>
            <a:ext cx="1664208" cy="15544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1" i="0">
                <a:solidFill>
                  <a:srgbClr val="2A9D8F"/>
                </a:solidFill>
                <a:latin typeface="Aptos Display"/>
              </a:rPr>
              <a:t>Split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700016"/>
            <a:ext cx="2212848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77240" y="4800600"/>
            <a:ext cx="182880" cy="18288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5" y="4796028"/>
            <a:ext cx="1664208" cy="15544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1" i="0">
                <a:solidFill>
                  <a:srgbClr val="E76F51"/>
                </a:solidFill>
                <a:latin typeface="Aptos Display"/>
              </a:rPr>
              <a:t>VRF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45536" y="4700016"/>
            <a:ext cx="2212848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264408" y="4800600"/>
            <a:ext cx="182880" cy="18288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29584" y="4796028"/>
            <a:ext cx="1664208" cy="15544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1" i="0">
                <a:solidFill>
                  <a:srgbClr val="4CAF50"/>
                </a:solidFill>
                <a:latin typeface="Aptos Display"/>
              </a:rPr>
              <a:t>Chilled water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1115568"/>
            <a:ext cx="507492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92440" y="1965960"/>
            <a:ext cx="1463040" cy="1463040"/>
          </a:xfrm>
          <a:prstGeom prst="ellipse">
            <a:avLst/>
          </a:prstGeom>
          <a:solidFill>
            <a:srgbClr val="E6F4F7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423160"/>
            <a:ext cx="109728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2400" b="1" i="0">
                <a:solidFill>
                  <a:srgbClr val="11374B"/>
                </a:solidFill>
                <a:latin typeface="Aptos Display"/>
              </a:rPr>
              <a:t>1.6</a:t>
            </a:r>
          </a:p>
        </p:txBody>
      </p:sp>
      <p:sp>
        <p:nvSpPr>
          <p:cNvPr id="24" name="Oval 23"/>
          <p:cNvSpPr/>
          <p:nvPr/>
        </p:nvSpPr>
        <p:spPr>
          <a:xfrm>
            <a:off x="6903720" y="1828800"/>
            <a:ext cx="694944" cy="694944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03720" y="2029968"/>
            <a:ext cx="694944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26" name="Oval 25"/>
          <p:cNvSpPr/>
          <p:nvPr/>
        </p:nvSpPr>
        <p:spPr>
          <a:xfrm>
            <a:off x="10287000" y="1828800"/>
            <a:ext cx="694944" cy="694944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87000" y="2029968"/>
            <a:ext cx="694944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6903720" y="4434840"/>
            <a:ext cx="694944" cy="694944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4636007"/>
            <a:ext cx="694944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30" name="Oval 29"/>
          <p:cNvSpPr/>
          <p:nvPr/>
        </p:nvSpPr>
        <p:spPr>
          <a:xfrm>
            <a:off x="10287000" y="4434840"/>
            <a:ext cx="694944" cy="694944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87000" y="4636007"/>
            <a:ext cx="694944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 Display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5074920"/>
            <a:ext cx="384048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200" b="1" i="0">
                <a:solidFill>
                  <a:srgbClr val="5A6973"/>
                </a:solidFill>
                <a:latin typeface="Aptos Display"/>
              </a:rPr>
              <a:t>Concept-first slides with teaching detail in the card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800" b="1" i="0">
                <a:solidFill>
                  <a:srgbClr val="11374B"/>
                </a:solidFill>
                <a:latin typeface="Aptos Display"/>
              </a:rPr>
              <a:t>Cooling capacity has three common units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10972800" cy="31089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50" b="0" i="0">
                <a:solidFill>
                  <a:srgbClr val="5A6973"/>
                </a:solidFill>
                <a:latin typeface="Aptos"/>
              </a:rPr>
              <a:t>Catalogues and standards may not use the same unit system.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4590288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109728" cy="44439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92808"/>
            <a:ext cx="3950207" cy="2103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50" b="1" i="0">
                <a:solidFill>
                  <a:srgbClr val="2A9D8F"/>
                </a:solidFill>
                <a:latin typeface="Aptos Display"/>
              </a:rPr>
              <a:t>CAPACITY UNITS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157984"/>
            <a:ext cx="3950207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050" b="1" i="0">
                <a:solidFill>
                  <a:srgbClr val="11374B"/>
                </a:solidFill>
                <a:latin typeface="Aptos Display"/>
              </a:rPr>
              <a:t>1 TR = 12,000 Btu/h = 3.517 kW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2962656"/>
            <a:ext cx="3904487" cy="841248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3127248"/>
            <a:ext cx="384048" cy="384048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227832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072384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TR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328416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ton of refrigeration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904488"/>
            <a:ext cx="3904487" cy="841248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4069080"/>
            <a:ext cx="384048" cy="384048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169664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4014216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Btu/h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270248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common in room AC catalogues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4846320"/>
            <a:ext cx="3904487" cy="841248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0704" y="5010912"/>
            <a:ext cx="384048" cy="384048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5111496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956048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kW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5212080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SI engineering calculation unit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1664208"/>
            <a:ext cx="6126480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content_fig01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937385"/>
            <a:ext cx="5760720" cy="376047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715000" y="5870448"/>
            <a:ext cx="5577840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80" b="0" i="0">
                <a:solidFill>
                  <a:srgbClr val="5A6973"/>
                </a:solidFill>
                <a:latin typeface="Aptos"/>
              </a:rPr>
              <a:t>Cooling capacity unit relationship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800" b="1" i="0">
                <a:solidFill>
                  <a:srgbClr val="11374B"/>
                </a:solidFill>
                <a:latin typeface="Aptos Display"/>
              </a:rPr>
              <a:t>Preliminary sizing is only a first-pass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10972800" cy="31089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50" b="0" i="0">
                <a:solidFill>
                  <a:srgbClr val="5A6973"/>
                </a:solidFill>
                <a:latin typeface="Aptos"/>
              </a:rPr>
              <a:t>Use rules of thumb to sanity-check, not to finalize equipment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627632"/>
            <a:ext cx="10698480" cy="44622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51560" y="2084831"/>
            <a:ext cx="2971800" cy="1234440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16151" y="2267712"/>
            <a:ext cx="457200" cy="45720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16151" y="2395727"/>
            <a:ext cx="457200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7" y="2249424"/>
            <a:ext cx="192024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80" b="1" i="0">
                <a:solidFill>
                  <a:srgbClr val="232D37"/>
                </a:solidFill>
                <a:latin typeface="Aptos Display"/>
              </a:rPr>
              <a:t>Residential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71016" y="2798063"/>
            <a:ext cx="2514600" cy="30175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about 300–400 Btu/h·m²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2084831"/>
            <a:ext cx="2971800" cy="1234440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645152" y="22677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2395727"/>
            <a:ext cx="457200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0368" y="2249424"/>
            <a:ext cx="192024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80" b="1" i="0">
                <a:solidFill>
                  <a:srgbClr val="232D37"/>
                </a:solidFill>
                <a:latin typeface="Aptos Display"/>
              </a:rPr>
              <a:t>Office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0016" y="2798063"/>
            <a:ext cx="2514600" cy="30175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about 500–600 Btu/h·m²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9560" y="2084831"/>
            <a:ext cx="2971800" cy="1234440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074152" y="2267712"/>
            <a:ext cx="457200" cy="45720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395727"/>
            <a:ext cx="457200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8" y="2249424"/>
            <a:ext cx="192024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80" b="1" i="0">
                <a:solidFill>
                  <a:srgbClr val="232D37"/>
                </a:solidFill>
                <a:latin typeface="Aptos Display"/>
              </a:rPr>
              <a:t>Restaurant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9016" y="2798063"/>
            <a:ext cx="2514600" cy="30175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about 600–800 Btu/h·m²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1560" y="3776472"/>
            <a:ext cx="2971800" cy="1234440"/>
          </a:xfrm>
          <a:prstGeom prst="roundRect">
            <a:avLst/>
          </a:prstGeom>
          <a:solidFill>
            <a:srgbClr val="FFEEEB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16151" y="3959352"/>
            <a:ext cx="457200" cy="457200"/>
          </a:xfrm>
          <a:prstGeom prst="ellipse">
            <a:avLst/>
          </a:prstGeom>
          <a:solidFill>
            <a:srgbClr val="BE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16151" y="4087368"/>
            <a:ext cx="457200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 Display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7" y="3941063"/>
            <a:ext cx="192024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80" b="1" i="0">
                <a:solidFill>
                  <a:srgbClr val="232D37"/>
                </a:solidFill>
                <a:latin typeface="Aptos Display"/>
              </a:rPr>
              <a:t>Department store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1016" y="4489704"/>
            <a:ext cx="2514600" cy="30175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about 700–900 Btu/h·m²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80560" y="3776472"/>
            <a:ext cx="2971800" cy="1234440"/>
          </a:xfrm>
          <a:prstGeom prst="roundRect">
            <a:avLst/>
          </a:prstGeom>
          <a:solidFill>
            <a:srgbClr val="ECF8EE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645152" y="3959352"/>
            <a:ext cx="457200" cy="45720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45152" y="4087368"/>
            <a:ext cx="457200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 Display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30368" y="3941063"/>
            <a:ext cx="192024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80" b="1" i="0">
                <a:solidFill>
                  <a:srgbClr val="232D37"/>
                </a:solidFill>
                <a:latin typeface="Aptos Display"/>
              </a:rPr>
              <a:t>Caution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0016" y="4489704"/>
            <a:ext cx="2514600" cy="30175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final design still needs load calculation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800" b="1" i="0">
                <a:solidFill>
                  <a:srgbClr val="11374B"/>
                </a:solidFill>
                <a:latin typeface="Aptos Display"/>
              </a:rPr>
              <a:t>Window units are self-contained and low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10972800" cy="31089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50" b="0" i="0">
                <a:solidFill>
                  <a:srgbClr val="5A6973"/>
                </a:solidFill>
                <a:latin typeface="Aptos"/>
              </a:rPr>
              <a:t>All refrigeration components are inside one cabinet.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4590288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109728" cy="44439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92808"/>
            <a:ext cx="3950207" cy="2103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50" b="1" i="0">
                <a:solidFill>
                  <a:srgbClr val="2A9D8F"/>
                </a:solidFill>
                <a:latin typeface="Aptos Display"/>
              </a:rPr>
              <a:t>SYSTEM TYPE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157984"/>
            <a:ext cx="3950207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050" b="1" i="0">
                <a:solidFill>
                  <a:srgbClr val="11374B"/>
                </a:solidFill>
                <a:latin typeface="Aptos Display"/>
              </a:rPr>
              <a:t>Simple installation, limited comfort quality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2962656"/>
            <a:ext cx="3904487" cy="841248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3127248"/>
            <a:ext cx="384048" cy="384048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227832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072384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Capacity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328416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5,000–24,000 Btu/h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904488"/>
            <a:ext cx="3904487" cy="841248"/>
          </a:xfrm>
          <a:prstGeom prst="roundRect">
            <a:avLst/>
          </a:prstGeom>
          <a:solidFill>
            <a:srgbClr val="ECF8EE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4069080"/>
            <a:ext cx="384048" cy="384048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169664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4014216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Strength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270248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lowest installed cost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4846320"/>
            <a:ext cx="3904487" cy="841248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0704" y="5010912"/>
            <a:ext cx="384048" cy="384048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5111496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956048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Weakness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5212080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noise, wall opening, lower efficiency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1664208"/>
            <a:ext cx="6126480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content_fig02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217420"/>
            <a:ext cx="5760720" cy="32004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715000" y="5870448"/>
            <a:ext cx="5577840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80" b="0" i="0">
                <a:solidFill>
                  <a:srgbClr val="5A6973"/>
                </a:solidFill>
                <a:latin typeface="Aptos"/>
              </a:rPr>
              <a:t>Window air conditioner arrangement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800" b="1" i="0">
                <a:solidFill>
                  <a:srgbClr val="11374B"/>
                </a:solidFill>
                <a:latin typeface="Aptos Display"/>
              </a:rPr>
              <a:t>Split systems move the noisy compressor outdoors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10972800" cy="31089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50" b="0" i="0">
                <a:solidFill>
                  <a:srgbClr val="5A6973"/>
                </a:solidFill>
                <a:latin typeface="Aptos"/>
              </a:rPr>
              <a:t>Indoor comfort improves because the compressor is outside.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4590288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109728" cy="44439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92808"/>
            <a:ext cx="3950207" cy="2103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50" b="1" i="0">
                <a:solidFill>
                  <a:srgbClr val="2A9D8F"/>
                </a:solidFill>
                <a:latin typeface="Aptos Display"/>
              </a:rPr>
              <a:t>SYSTEM TYPE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157984"/>
            <a:ext cx="3950207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050" b="1" i="0">
                <a:solidFill>
                  <a:srgbClr val="11374B"/>
                </a:solidFill>
                <a:latin typeface="Aptos Display"/>
              </a:rPr>
              <a:t>Most common small-building solution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2962656"/>
            <a:ext cx="3904487" cy="841248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3127248"/>
            <a:ext cx="384048" cy="384048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227832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072384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Indoor unit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328416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evaporator coil and indoor fan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904488"/>
            <a:ext cx="3904487" cy="841248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4069080"/>
            <a:ext cx="384048" cy="384048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169664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4014216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Outdoor unit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270248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compressor and condenser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4846320"/>
            <a:ext cx="3904487" cy="841248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0704" y="5010912"/>
            <a:ext cx="384048" cy="384048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5111496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956048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Application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5212080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homes, condos, small offices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1664208"/>
            <a:ext cx="6126480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content_fig03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057400"/>
            <a:ext cx="5760720" cy="352043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715000" y="5870448"/>
            <a:ext cx="5577840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80" b="0" i="0">
                <a:solidFill>
                  <a:srgbClr val="5A6973"/>
                </a:solidFill>
                <a:latin typeface="Aptos"/>
              </a:rPr>
              <a:t>Split air conditioner configuration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800" b="1" i="0">
                <a:solidFill>
                  <a:srgbClr val="11374B"/>
                </a:solidFill>
                <a:latin typeface="Aptos Display"/>
              </a:rPr>
              <a:t>Package units condition one large airflow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10972800" cy="31089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50" b="0" i="0">
                <a:solidFill>
                  <a:srgbClr val="5A6973"/>
                </a:solidFill>
                <a:latin typeface="Aptos"/>
              </a:rPr>
              <a:t>A rooftop/package cabinet feeds ductwork to a zone.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4590288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109728" cy="44439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92808"/>
            <a:ext cx="3950207" cy="2103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50" b="1" i="0">
                <a:solidFill>
                  <a:srgbClr val="2A9D8F"/>
                </a:solidFill>
                <a:latin typeface="Aptos Display"/>
              </a:rPr>
              <a:t>SYSTEM TYPE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157984"/>
            <a:ext cx="3950207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050" b="1" i="0">
                <a:solidFill>
                  <a:srgbClr val="11374B"/>
                </a:solidFill>
                <a:latin typeface="Aptos Display"/>
              </a:rPr>
              <a:t>Good for large open spaces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2962656"/>
            <a:ext cx="3904487" cy="841248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3127248"/>
            <a:ext cx="384048" cy="384048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227832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072384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Capacity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328416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about 2–25 TR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904488"/>
            <a:ext cx="3904487" cy="841248"/>
          </a:xfrm>
          <a:prstGeom prst="roundRect">
            <a:avLst/>
          </a:prstGeom>
          <a:solidFill>
            <a:srgbClr val="ECF8EE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4069080"/>
            <a:ext cx="384048" cy="384048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169664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4014216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Strength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270248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single mechanical location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4846320"/>
            <a:ext cx="3904487" cy="841248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0704" y="5010912"/>
            <a:ext cx="384048" cy="384048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5111496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956048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Weakness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5212080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duct loss, roof load, zone-control complexity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1664208"/>
            <a:ext cx="6126480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content_fig04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977390"/>
            <a:ext cx="5760720" cy="368045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715000" y="5870448"/>
            <a:ext cx="5577840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80" b="0" i="0">
                <a:solidFill>
                  <a:srgbClr val="5A6973"/>
                </a:solidFill>
                <a:latin typeface="Aptos"/>
              </a:rPr>
              <a:t>Package unit with duct distribution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800" b="1" i="0">
                <a:solidFill>
                  <a:srgbClr val="11374B"/>
                </a:solidFill>
                <a:latin typeface="Aptos Display"/>
              </a:rPr>
              <a:t>VRF systems give many rooms independent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10972800" cy="31089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50" b="0" i="0">
                <a:solidFill>
                  <a:srgbClr val="5A6973"/>
                </a:solidFill>
                <a:latin typeface="Aptos"/>
              </a:rPr>
              <a:t>One outdoor system meters refrigerant to many indoor units.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4590288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109728" cy="44439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92808"/>
            <a:ext cx="3950207" cy="2103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50" b="1" i="0">
                <a:solidFill>
                  <a:srgbClr val="2A9D8F"/>
                </a:solidFill>
                <a:latin typeface="Aptos Display"/>
              </a:rPr>
              <a:t>SYSTEM TYPE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157984"/>
            <a:ext cx="3950207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050" b="1" i="0">
                <a:solidFill>
                  <a:srgbClr val="11374B"/>
                </a:solidFill>
                <a:latin typeface="Aptos Display"/>
              </a:rPr>
              <a:t>Zoning without a full chiller plant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2962656"/>
            <a:ext cx="3904487" cy="841248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3127248"/>
            <a:ext cx="384048" cy="384048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227832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072384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Independent IDUs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328416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each room can control setpoint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904488"/>
            <a:ext cx="3904487" cy="841248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4069080"/>
            <a:ext cx="384048" cy="384048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169664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4014216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Inverter compressor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270248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capacity follows load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4846320"/>
            <a:ext cx="3904487" cy="841248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0704" y="5010912"/>
            <a:ext cx="384048" cy="384048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5111496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956048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Watchout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5212080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cost, leak testing, specialist service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1664208"/>
            <a:ext cx="6126480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content_fig05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5856" y="1874519"/>
            <a:ext cx="5596128" cy="38862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715000" y="5870448"/>
            <a:ext cx="5577840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80" b="0" i="0">
                <a:solidFill>
                  <a:srgbClr val="5A6973"/>
                </a:solidFill>
                <a:latin typeface="Aptos"/>
              </a:rPr>
              <a:t>VRF/VRV system configuration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800" b="1" i="0">
                <a:solidFill>
                  <a:srgbClr val="11374B"/>
                </a:solidFill>
                <a:latin typeface="Aptos Display"/>
              </a:rPr>
              <a:t>Chilled water systems serve large buildings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10972800" cy="31089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50" b="0" i="0">
                <a:solidFill>
                  <a:srgbClr val="5A6973"/>
                </a:solidFill>
                <a:latin typeface="Aptos"/>
              </a:rPr>
              <a:t>Refrigerant stays in the chiller; water distributes cooling.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4590288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109728" cy="44439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92808"/>
            <a:ext cx="3950207" cy="2103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50" b="1" i="0">
                <a:solidFill>
                  <a:srgbClr val="2A9D8F"/>
                </a:solidFill>
                <a:latin typeface="Aptos Display"/>
              </a:rPr>
              <a:t>SYSTEM TYPE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157984"/>
            <a:ext cx="3950207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050" b="1" i="0">
                <a:solidFill>
                  <a:srgbClr val="11374B"/>
                </a:solidFill>
                <a:latin typeface="Aptos Display"/>
              </a:rPr>
              <a:t>Best where scale justifies plant complexity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2962656"/>
            <a:ext cx="3904487" cy="841248"/>
          </a:xfrm>
          <a:prstGeom prst="roundRect">
            <a:avLst/>
          </a:prstGeom>
          <a:solidFill>
            <a:srgbClr val="ECF8EE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3127248"/>
            <a:ext cx="384048" cy="384048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227832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072384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High efficiency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328416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especially water-cooled chillers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904488"/>
            <a:ext cx="3904487" cy="841248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4069080"/>
            <a:ext cx="384048" cy="384048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169664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4014216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Scalable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270248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multiple chillers, AHUs, FCUs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4846320"/>
            <a:ext cx="3904487" cy="841248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0704" y="5010912"/>
            <a:ext cx="384048" cy="384048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5111496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956048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Watchout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5212080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plant room, pumps, tower, skilled operation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1664208"/>
            <a:ext cx="6126480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content_fig06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5648" y="1874519"/>
            <a:ext cx="4996542" cy="38862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715000" y="5870448"/>
            <a:ext cx="5577840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80" b="0" i="0">
                <a:solidFill>
                  <a:srgbClr val="5A6973"/>
                </a:solidFill>
                <a:latin typeface="Aptos"/>
              </a:rPr>
              <a:t>Chilled water system circuit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800" b="1" i="0">
                <a:solidFill>
                  <a:srgbClr val="11374B"/>
                </a:solidFill>
                <a:latin typeface="Aptos Display"/>
              </a:rPr>
              <a:t>System selection is a trade-off, not a lookup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10972800" cy="31089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50" b="0" i="0">
                <a:solidFill>
                  <a:srgbClr val="5A6973"/>
                </a:solidFill>
                <a:latin typeface="Aptos"/>
              </a:rPr>
              <a:t>The correct answer depends on constraints and lifecycle goals.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4590288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109728" cy="44439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92808"/>
            <a:ext cx="3950207" cy="2103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50" b="1" i="0">
                <a:solidFill>
                  <a:srgbClr val="2A9D8F"/>
                </a:solidFill>
                <a:latin typeface="Aptos Display"/>
              </a:rPr>
              <a:t>SELECTION LOGIC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157984"/>
            <a:ext cx="3950207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050" b="1" i="0">
                <a:solidFill>
                  <a:srgbClr val="11374B"/>
                </a:solidFill>
                <a:latin typeface="Aptos Display"/>
              </a:rPr>
              <a:t>Compare constraints before choosing equipment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2962656"/>
            <a:ext cx="3904487" cy="731520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3127248"/>
            <a:ext cx="384048" cy="384048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227832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072384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Load and scale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328416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required TR and operating hours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794760"/>
            <a:ext cx="3904487" cy="731520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3959352"/>
            <a:ext cx="384048" cy="384048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059936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904488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Zoning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160520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one zone or many rooms?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4626864"/>
            <a:ext cx="3904487" cy="731520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0704" y="4791456"/>
            <a:ext cx="384048" cy="384048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4892040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736592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Cost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4992624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first cost versus energy cost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1664208"/>
            <a:ext cx="6126480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content_fig08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4174" y="1874519"/>
            <a:ext cx="4239490" cy="38862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715000" y="5870448"/>
            <a:ext cx="5577840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80" b="0" i="0">
                <a:solidFill>
                  <a:srgbClr val="5A6973"/>
                </a:solidFill>
                <a:latin typeface="Aptos"/>
              </a:rPr>
              <a:t>Comparative overview of system types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800" b="1" i="0">
                <a:solidFill>
                  <a:srgbClr val="11374B"/>
                </a:solidFill>
                <a:latin typeface="Aptos Display"/>
              </a:rPr>
              <a:t>Worked selection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10972800" cy="31089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50" b="0" i="0">
                <a:solidFill>
                  <a:srgbClr val="5A6973"/>
                </a:solidFill>
                <a:latin typeface="Aptos"/>
              </a:rPr>
              <a:t>Ask students to justify each 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627632"/>
            <a:ext cx="10698480" cy="44622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51560" y="2084831"/>
            <a:ext cx="2971800" cy="1234440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16151" y="2267712"/>
            <a:ext cx="457200" cy="45720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16151" y="2395727"/>
            <a:ext cx="457200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7" y="2249424"/>
            <a:ext cx="192024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80" b="1" i="0">
                <a:solidFill>
                  <a:srgbClr val="232D37"/>
                </a:solidFill>
                <a:latin typeface="Aptos Display"/>
              </a:rPr>
              <a:t>Small bedroom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71016" y="2798063"/>
            <a:ext cx="2514600" cy="30175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split AC: quiet and flexible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2084831"/>
            <a:ext cx="2971800" cy="1234440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645152" y="22677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2395727"/>
            <a:ext cx="457200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0368" y="2249424"/>
            <a:ext cx="192024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80" b="1" i="0">
                <a:solidFill>
                  <a:srgbClr val="232D37"/>
                </a:solidFill>
                <a:latin typeface="Aptos Display"/>
              </a:rPr>
              <a:t>Temporary site office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0016" y="2798063"/>
            <a:ext cx="2514600" cy="30175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window or small split: low first cost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9560" y="2084831"/>
            <a:ext cx="2971800" cy="1234440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074152" y="2267712"/>
            <a:ext cx="457200" cy="45720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395727"/>
            <a:ext cx="457200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8" y="2249424"/>
            <a:ext cx="192024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80" b="1" i="0">
                <a:solidFill>
                  <a:srgbClr val="232D37"/>
                </a:solidFill>
                <a:latin typeface="Aptos Display"/>
              </a:rPr>
              <a:t>Retail hall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9016" y="2798063"/>
            <a:ext cx="2514600" cy="30175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package unit or AHU: large open zone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1560" y="3776472"/>
            <a:ext cx="2971800" cy="1234440"/>
          </a:xfrm>
          <a:prstGeom prst="roundRect">
            <a:avLst/>
          </a:prstGeom>
          <a:solidFill>
            <a:srgbClr val="ECF8EE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16151" y="3959352"/>
            <a:ext cx="457200" cy="45720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16151" y="4087368"/>
            <a:ext cx="457200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 Display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7" y="3941063"/>
            <a:ext cx="192024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80" b="1" i="0">
                <a:solidFill>
                  <a:srgbClr val="232D37"/>
                </a:solidFill>
                <a:latin typeface="Aptos Display"/>
              </a:rPr>
              <a:t>Boutique hotel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1016" y="4489704"/>
            <a:ext cx="2514600" cy="30175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VRF or FCU: room-by-room control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80560" y="3776472"/>
            <a:ext cx="2971800" cy="1234440"/>
          </a:xfrm>
          <a:prstGeom prst="roundRect">
            <a:avLst/>
          </a:prstGeom>
          <a:solidFill>
            <a:srgbClr val="FFF7E2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645152" y="3959352"/>
            <a:ext cx="457200" cy="457200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45152" y="4087368"/>
            <a:ext cx="457200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 Display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30368" y="3941063"/>
            <a:ext cx="192024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80" b="1" i="0">
                <a:solidFill>
                  <a:srgbClr val="232D37"/>
                </a:solidFill>
                <a:latin typeface="Aptos Display"/>
              </a:rPr>
              <a:t>Hospital/mall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0016" y="4489704"/>
            <a:ext cx="2514600" cy="30175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chilled water: efficiency and redundancy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800" b="1" i="0">
                <a:solidFill>
                  <a:srgbClr val="11374B"/>
                </a:solidFill>
                <a:latin typeface="Aptos Display"/>
              </a:rPr>
              <a:t>Pause question: 20-story mixed-use tower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10972800" cy="31089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50" b="0" i="0">
                <a:solidFill>
                  <a:srgbClr val="5A6973"/>
                </a:solidFill>
                <a:latin typeface="Aptos"/>
              </a:rPr>
              <a:t>Real buildings often need hybrid answers.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4590288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109728" cy="44439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92808"/>
            <a:ext cx="3950207" cy="2103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50" b="1" i="0">
                <a:solidFill>
                  <a:srgbClr val="2A9D8F"/>
                </a:solidFill>
                <a:latin typeface="Aptos Display"/>
              </a:rPr>
              <a:t>DISCUSSION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157984"/>
            <a:ext cx="3950207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050" b="1" i="0">
                <a:solidFill>
                  <a:srgbClr val="11374B"/>
                </a:solidFill>
                <a:latin typeface="Aptos Display"/>
              </a:rPr>
              <a:t>Retail + office + hotel rarely use one simple system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2962656"/>
            <a:ext cx="3904487" cy="731520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3127248"/>
            <a:ext cx="384048" cy="384048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227832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072384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Retail floors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328416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central air distribution for open zones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794760"/>
            <a:ext cx="3904487" cy="731520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3959352"/>
            <a:ext cx="384048" cy="384048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059936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904488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Office floors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160520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AHU/VAV or chilled water terminals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4626864"/>
            <a:ext cx="3904487" cy="731520"/>
          </a:xfrm>
          <a:prstGeom prst="roundRect">
            <a:avLst/>
          </a:prstGeom>
          <a:solidFill>
            <a:srgbClr val="ECF8EE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0704" y="4791456"/>
            <a:ext cx="384048" cy="384048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4892040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736592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Hotel suites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4992624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FCU or VRF for room control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1664208"/>
            <a:ext cx="6126480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806440" y="2743200"/>
            <a:ext cx="1051560" cy="777240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45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06440" y="2944368"/>
            <a:ext cx="1051560" cy="14630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100" b="1" i="0">
                <a:solidFill>
                  <a:srgbClr val="457B9D"/>
                </a:solidFill>
                <a:latin typeface="Aptos Display"/>
              </a:rPr>
              <a:t>Load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6885431" y="2944368"/>
            <a:ext cx="292608" cy="320040"/>
          </a:xfrm>
          <a:prstGeom prst="rightArrow">
            <a:avLst/>
          </a:prstGeom>
          <a:solidFill>
            <a:srgbClr val="5A69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132320" y="2743200"/>
            <a:ext cx="1051560" cy="777240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0" y="2944368"/>
            <a:ext cx="1051560" cy="14630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100" b="1" i="0">
                <a:solidFill>
                  <a:srgbClr val="2A9D8F"/>
                </a:solidFill>
                <a:latin typeface="Aptos Display"/>
              </a:rPr>
              <a:t>Zones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8211312" y="2944368"/>
            <a:ext cx="292608" cy="320040"/>
          </a:xfrm>
          <a:prstGeom prst="rightArrow">
            <a:avLst/>
          </a:prstGeom>
          <a:solidFill>
            <a:srgbClr val="5A69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458200" y="2743200"/>
            <a:ext cx="1051560" cy="777240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58200" y="2944368"/>
            <a:ext cx="1051560" cy="14630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100" b="1" i="0">
                <a:solidFill>
                  <a:srgbClr val="E76F51"/>
                </a:solidFill>
                <a:latin typeface="Aptos Display"/>
              </a:rPr>
              <a:t>Budget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9537192" y="2944368"/>
            <a:ext cx="292608" cy="320040"/>
          </a:xfrm>
          <a:prstGeom prst="rightArrow">
            <a:avLst/>
          </a:prstGeom>
          <a:solidFill>
            <a:srgbClr val="5A69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784080" y="2743200"/>
            <a:ext cx="1051560" cy="777240"/>
          </a:xfrm>
          <a:prstGeom prst="roundRect">
            <a:avLst/>
          </a:prstGeom>
          <a:solidFill>
            <a:srgbClr val="ECF8EE"/>
          </a:solidFill>
          <a:ln w="127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84080" y="2944368"/>
            <a:ext cx="1051560" cy="14630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100" b="1" i="0">
                <a:solidFill>
                  <a:srgbClr val="4CAF50"/>
                </a:solidFill>
                <a:latin typeface="Aptos Display"/>
              </a:rPr>
              <a:t>Service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06440" y="3931920"/>
            <a:ext cx="502920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400" b="1" i="0">
                <a:solidFill>
                  <a:srgbClr val="11374B"/>
                </a:solidFill>
                <a:latin typeface="Aptos Display"/>
              </a:rPr>
              <a:t>System choice = constraints + life-cycle judgement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15000" y="5870448"/>
            <a:ext cx="5577840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80" b="0" i="0">
                <a:solidFill>
                  <a:srgbClr val="5A6973"/>
                </a:solidFill>
                <a:latin typeface="Aptos"/>
              </a:rPr>
              <a:t>Selection flow: constraints before system type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800" b="1" i="0">
                <a:solidFill>
                  <a:srgbClr val="11374B"/>
                </a:solidFill>
                <a:latin typeface="Aptos Display"/>
              </a:rPr>
              <a:t>Topic 1.6 — what students should 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691640"/>
            <a:ext cx="10716768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240280"/>
            <a:ext cx="2971800" cy="256032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12848" y="2514600"/>
            <a:ext cx="822960" cy="82296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12848" y="2743200"/>
            <a:ext cx="82296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547872"/>
            <a:ext cx="2514600" cy="3291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450" b="1" i="0">
                <a:solidFill>
                  <a:srgbClr val="232D37"/>
                </a:solidFill>
                <a:latin typeface="Aptos Display"/>
              </a:rPr>
              <a:t>Convert capacity fluently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977639"/>
            <a:ext cx="2331720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80" b="0" i="0">
                <a:solidFill>
                  <a:srgbClr val="5A6973"/>
                </a:solidFill>
                <a:latin typeface="Aptos"/>
              </a:rPr>
              <a:t>TR, Btu/h, and kW describe the same cooling rate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2240280"/>
            <a:ext cx="2971800" cy="256032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41848" y="2514600"/>
            <a:ext cx="822960" cy="82296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41848" y="2743200"/>
            <a:ext cx="82296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3547872"/>
            <a:ext cx="2514600" cy="3291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450" b="1" i="0">
                <a:solidFill>
                  <a:srgbClr val="232D37"/>
                </a:solidFill>
                <a:latin typeface="Aptos Display"/>
              </a:rPr>
              <a:t>System type follows building 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977639"/>
            <a:ext cx="2331720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80" b="0" i="0">
                <a:solidFill>
                  <a:srgbClr val="5A6973"/>
                </a:solidFill>
                <a:latin typeface="Aptos"/>
              </a:rPr>
              <a:t>room units → split/VRF/package → chilled water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2240280"/>
            <a:ext cx="2971800" cy="256032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070848" y="2514600"/>
            <a:ext cx="822960" cy="82296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70848" y="2743200"/>
            <a:ext cx="82296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547872"/>
            <a:ext cx="2514600" cy="3291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450" b="1" i="0">
                <a:solidFill>
                  <a:srgbClr val="232D37"/>
                </a:solidFill>
                <a:latin typeface="Aptos Display"/>
              </a:rPr>
              <a:t>Selection is multi-criteria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3977639"/>
            <a:ext cx="2331720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80" b="0" i="0">
                <a:solidFill>
                  <a:srgbClr val="5A6973"/>
                </a:solidFill>
                <a:latin typeface="Aptos"/>
              </a:rPr>
              <a:t>zoning, cost, efficiency, service life, and maintenance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