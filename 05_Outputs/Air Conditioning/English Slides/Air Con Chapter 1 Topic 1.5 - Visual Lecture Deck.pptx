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8869680" y="201168"/>
            <a:ext cx="3319272" cy="2377440"/>
          </a:xfrm>
          <a:prstGeom prst="rtTriangle">
            <a:avLst/>
          </a:prstGeom>
          <a:solidFill>
            <a:srgbClr val="E6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9601200" y="4389120"/>
            <a:ext cx="2587752" cy="2468880"/>
          </a:xfrm>
          <a:prstGeom prst="rtTriangle">
            <a:avLst/>
          </a:prstGeom>
          <a:solidFill>
            <a:srgbClr val="FF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49808"/>
            <a:ext cx="530352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00" b="1" i="0">
                <a:solidFill>
                  <a:srgbClr val="2A9D8F"/>
                </a:solidFill>
                <a:latin typeface="Aptos Display"/>
              </a:rPr>
              <a:t>AIR CONDITIONING · CHAPTER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43000"/>
            <a:ext cx="5760720" cy="8686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3600" b="1" i="0">
                <a:solidFill>
                  <a:srgbClr val="11374B"/>
                </a:solidFill>
                <a:latin typeface="Aptos Display"/>
              </a:rPr>
              <a:t>1.5 Refrigerants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67712"/>
            <a:ext cx="5394960" cy="3657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800" b="0" i="0">
                <a:solidFill>
                  <a:srgbClr val="5A6973"/>
                </a:solidFill>
                <a:latin typeface="Aptos"/>
              </a:rPr>
              <a:t>Types, properties, environmental indices, and regulations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44368"/>
            <a:ext cx="5349240" cy="6400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900" b="1" i="0">
                <a:solidFill>
                  <a:srgbClr val="232D37"/>
                </a:solidFill>
                <a:latin typeface="Aptos Display"/>
              </a:rPr>
              <a:t>A visual-led lecture deck for concept-first teaching and engineering discussion.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977639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2104" y="4078224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073652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2A9D8F"/>
                </a:solidFill>
                <a:latin typeface="Aptos Display"/>
              </a:rPr>
              <a:t>ODP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3977639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46704" y="4078224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4073652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457B9D"/>
                </a:solidFill>
                <a:latin typeface="Aptos Display"/>
              </a:rPr>
              <a:t>GWP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544568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" y="4645152"/>
            <a:ext cx="182880" cy="1828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640580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E76F51"/>
                </a:solidFill>
                <a:latin typeface="Aptos Display"/>
              </a:rPr>
              <a:t>ASHRAE R-number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544568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46704" y="4645152"/>
            <a:ext cx="182880" cy="18288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4640580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4CAF50"/>
                </a:solidFill>
                <a:latin typeface="Aptos Display"/>
              </a:rPr>
              <a:t>Kigali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1170432"/>
            <a:ext cx="452628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45552" y="1847088"/>
            <a:ext cx="1737360" cy="1737360"/>
          </a:xfrm>
          <a:prstGeom prst="ellipse">
            <a:avLst/>
          </a:prstGeom>
          <a:solidFill>
            <a:srgbClr val="E6F4F7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2331720"/>
            <a:ext cx="1234440" cy="32004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2800" b="1" i="0">
                <a:solidFill>
                  <a:srgbClr val="11374B"/>
                </a:solidFill>
                <a:latin typeface="Aptos Display"/>
              </a:rPr>
              <a:t>1.5</a:t>
            </a:r>
          </a:p>
        </p:txBody>
      </p:sp>
      <p:sp>
        <p:nvSpPr>
          <p:cNvPr id="24" name="Oval 23"/>
          <p:cNvSpPr/>
          <p:nvPr/>
        </p:nvSpPr>
        <p:spPr>
          <a:xfrm>
            <a:off x="6995160" y="1645920"/>
            <a:ext cx="713232" cy="71323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60" y="1847088"/>
            <a:ext cx="713232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9372600" y="1645920"/>
            <a:ext cx="713232" cy="71323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1847088"/>
            <a:ext cx="713232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6995160" y="3886200"/>
            <a:ext cx="713232" cy="71323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4087368"/>
            <a:ext cx="713232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30" name="Oval 29"/>
          <p:cNvSpPr/>
          <p:nvPr/>
        </p:nvSpPr>
        <p:spPr>
          <a:xfrm>
            <a:off x="9372600" y="3886200"/>
            <a:ext cx="713232" cy="71323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4087368"/>
            <a:ext cx="713232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4956048"/>
            <a:ext cx="342900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5A6973"/>
                </a:solidFill>
                <a:latin typeface="Aptos Display"/>
              </a:rPr>
              <a:t>From components → decisions → engineering judgement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A refrigerant is the heat-transfer working fluid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Its properties affect efficiency, safety, and environment.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ROLE IN CYCLE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Absorb indoors; reject outdoors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1323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186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High latent heat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192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more cooling per kg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85616"/>
            <a:ext cx="3904487" cy="713232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0208"/>
            <a:ext cx="365760" cy="3657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4164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9534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Safe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4223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low toxicity and flammability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08576"/>
            <a:ext cx="3904487" cy="71323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7316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6460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1830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Material compatibility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6519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piping, seals, and lubricant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_cycle_rol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097405"/>
            <a:ext cx="5760720" cy="344042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Refrigerant as heat-transport medium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ODP and GWP measure different environmental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Modern selection must consider both ozone and climate.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ENVIRONMENTAL INDICES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ODP protects ozone; GWP protects climate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186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ODP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192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referenced to R-11 = 1.0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77056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41648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330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867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GWP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336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referenced to CO₂ =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91456"/>
            <a:ext cx="3904487" cy="804672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56048"/>
            <a:ext cx="365760" cy="3657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474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011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480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ODP = 0 with lowest practical GWP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_odp_gwp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097405"/>
            <a:ext cx="5760720" cy="344042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ODP and GWP comparison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Refrigerant families changed because regulations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CFC → HCFC → HFC → HFO/natural is an environmental transition.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HISTORICAL EVOLUTION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Performance is not the only selection factor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13232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65760" cy="365760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186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CFC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192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high ODP; banned legacy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85616"/>
            <a:ext cx="3904487" cy="71323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0208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4164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9534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HCFC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4223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lower ODP; phase-out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08576"/>
            <a:ext cx="3904487" cy="71323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73168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6460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1830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HFC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6519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zero ODP but high GWP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_evolut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569463"/>
            <a:ext cx="5760720" cy="24963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Historical evolution of refrigerant families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Thailand must plan around phase-out and phase-down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Long-life equipment should not rely on declining refrigerants.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REGULATORY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Montreal Protocol + Kigali Amendment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186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HCFC phase-out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192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near-complete by 2040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77056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41648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330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867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HFC phase-down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336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begins 2024; 80% reduction by 2045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91456"/>
            <a:ext cx="3904487" cy="80467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5604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474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9011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Engineering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480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select for service life and availability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_phaseou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569463"/>
            <a:ext cx="5760720" cy="24963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Refrigerant phase-out timeline for Thailand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Refrigerant selection is a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No single refrigerant is perfect for all applications.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50" b="1" i="0">
                <a:solidFill>
                  <a:srgbClr val="2A9D8F"/>
                </a:solidFill>
                <a:latin typeface="Aptos Display"/>
              </a:rPr>
              <a:t>SELECTION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50" b="1" i="0">
                <a:solidFill>
                  <a:srgbClr val="11374B"/>
                </a:solidFill>
                <a:latin typeface="Aptos Display"/>
              </a:rPr>
              <a:t>Balance efficiency, safety, cost, and regulation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62656"/>
            <a:ext cx="3904487" cy="71323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27248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1868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7238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31927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pressure levels and latent heat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85616"/>
            <a:ext cx="3904487" cy="71323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50208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4164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9534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Safety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4223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toxicity and flammability class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608576"/>
            <a:ext cx="3904487" cy="713232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73168"/>
            <a:ext cx="365760" cy="3657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64608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718304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1" i="0">
                <a:solidFill>
                  <a:srgbClr val="232D37"/>
                </a:solidFill>
                <a:latin typeface="Aptos Display"/>
              </a:rPr>
              <a:t>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65192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00" b="0" i="0">
                <a:solidFill>
                  <a:srgbClr val="5A6973"/>
                </a:solidFill>
                <a:latin typeface="Aptos"/>
              </a:rPr>
              <a:t>ODP/GWP and future availability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ontent_fig_select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648" y="1874519"/>
            <a:ext cx="4996542" cy="3886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80" b="0" i="0">
                <a:solidFill>
                  <a:srgbClr val="5A6973"/>
                </a:solidFill>
                <a:latin typeface="Aptos"/>
              </a:rPr>
              <a:t>Selection factors for refrigerants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0698480" cy="4389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600" b="1" i="0">
                <a:solidFill>
                  <a:srgbClr val="11374B"/>
                </a:solidFill>
                <a:latin typeface="Aptos Display"/>
              </a:rPr>
              <a:t>Topic 1.5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60120"/>
            <a:ext cx="10424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50" b="0" i="0">
                <a:solidFill>
                  <a:srgbClr val="5A6973"/>
                </a:solidFill>
                <a:latin typeface="Aptos"/>
              </a:rPr>
              <a:t>What students should 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106527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51560" y="2331720"/>
            <a:ext cx="2880360" cy="23317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03120" y="2633472"/>
            <a:ext cx="749808" cy="74980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2852928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11880"/>
            <a:ext cx="2423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Refrigerants move heat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3977639"/>
            <a:ext cx="2286000" cy="4114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30" b="0" i="0">
                <a:solidFill>
                  <a:srgbClr val="5A6973"/>
                </a:solidFill>
                <a:latin typeface="Aptos"/>
              </a:rPr>
              <a:t>working fluid links evaporator and condenser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2331720"/>
            <a:ext cx="2880360" cy="23317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2120" y="2633472"/>
            <a:ext cx="749808" cy="74980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2852928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611880"/>
            <a:ext cx="2423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ODP and GWP matter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3977639"/>
            <a:ext cx="2286000" cy="4114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30" b="0" i="0">
                <a:solidFill>
                  <a:srgbClr val="5A6973"/>
                </a:solidFill>
                <a:latin typeface="Aptos"/>
              </a:rPr>
              <a:t>zero ODP is not enough if GWP is high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2331720"/>
            <a:ext cx="2880360" cy="23317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61120" y="2633472"/>
            <a:ext cx="749808" cy="749808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2852928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611880"/>
            <a:ext cx="242316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Regulation drives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3977639"/>
            <a:ext cx="2286000" cy="4114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30" b="0" i="0">
                <a:solidFill>
                  <a:srgbClr val="5A6973"/>
                </a:solidFill>
                <a:latin typeface="Aptos"/>
              </a:rPr>
              <a:t>choose refrigerants with future serviceability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