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869680" y="201168"/>
            <a:ext cx="3319272" cy="237744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01200" y="4389120"/>
            <a:ext cx="2587752" cy="246888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49808"/>
            <a:ext cx="530352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43000"/>
            <a:ext cx="576072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600" b="1" i="0">
                <a:solidFill>
                  <a:srgbClr val="11374B"/>
                </a:solidFill>
                <a:latin typeface="Aptos Display"/>
              </a:rPr>
              <a:t>1.5 Refrigerants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Types, properties, environmental impact, regulations, and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5349240" cy="6400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900" b="1" i="0">
                <a:solidFill>
                  <a:srgbClr val="232D37"/>
                </a:solidFill>
                <a:latin typeface="Aptos Display"/>
              </a:rPr>
              <a:t>30-minute visual lecture deck: concept → engineering judgement → quick check.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" y="407822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2A9D8F"/>
                </a:solidFill>
                <a:latin typeface="Aptos Display"/>
              </a:rPr>
              <a:t>ODP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46704" y="4078224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57B9D"/>
                </a:solidFill>
                <a:latin typeface="Aptos Display"/>
              </a:rPr>
              <a:t>GWP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" y="464515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E76F51"/>
                </a:solidFill>
                <a:latin typeface="Aptos Display"/>
              </a:rPr>
              <a:t>Safety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46704" y="4645152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CAF50"/>
                </a:solidFill>
                <a:latin typeface="Aptos Display"/>
              </a:rPr>
              <a:t>Kigali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170432"/>
            <a:ext cx="45262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45552" y="1847088"/>
            <a:ext cx="1737360" cy="173736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331720"/>
            <a:ext cx="1234440" cy="3200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800" b="1" i="0">
                <a:solidFill>
                  <a:srgbClr val="11374B"/>
                </a:solidFill>
                <a:latin typeface="Aptos Display"/>
              </a:rPr>
              <a:t>1.5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956048"/>
            <a:ext cx="342900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Enough detail for discussion, examples, and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Learning outcomes for a 30-minute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Students should select refrigerants with engineering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Define refrigerant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working fluid that transports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Explain desired properties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latent heat, pressure, safety,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Interpret ODP/GWP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ozone vs climate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Recognize families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CFC, HCFC, HFC, HFO, natural refrigerants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Use regulation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Montreal/Kigali and Thai phase-down implications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A refrigerant is the heat-transfer working fluid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It absorbs heat in the evaporator and rejects it in the condenser.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CYCLE 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The refrigerant links all four components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High latent heat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more cooling per kg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Practical 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not too high or too 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Safe and compatible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non-toxic, non-corrosive where possible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cycle_rol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97405"/>
            <a:ext cx="5760720" cy="344042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Refrigerant as heat-transport medium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Desirable refrigerant 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No refrigerant is perfect; design is trade-off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Thermodynamic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high latent heat, good pressure-temperature curve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low toxicity, low flammability for occupied spaces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Materials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compatible with copper, seals, and oil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Environmental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zero ODP and lowest practical GWP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Economic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available, serviceable, affordable over equipment life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ODP and GWP measure different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A refrigerant can protect ozone but still harm climate.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ENVIRONMENTAL INDICES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ODP ≠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ODP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ozone depletion potential; R-11 reference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58768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23359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148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593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GWP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062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warming over 100 years; CO₂ reference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73168"/>
            <a:ext cx="3904487" cy="80467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37759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292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8737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Modern 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206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ODP = 0 and low GWP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odp_gw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97405"/>
            <a:ext cx="5760720" cy="344042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ODP and GWP comparison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Refrigerant families changed because regulations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Environmental science changed equipment specification.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FAMILY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CFC → HCFC → HFC → HFO/natural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CFC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high ODP; banned legacy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HCFC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lower ODP; phase-out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zero ODP but high GWP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evolu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69463"/>
            <a:ext cx="5760720" cy="2496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Historical evolution of refrigerants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Common refrigerants: engineering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 values as order-of-magnitude design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1083564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Family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586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158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Examples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ODP/GWP issue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222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794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Main caution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CFC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586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244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R-11, R-12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562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high ODP + high GWP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222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1880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banned legacy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HCFC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1586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244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R-22, R-123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3562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ODP &gt; 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222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1880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phase-out availability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HFC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1586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5244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R-410A, R-134a, R-32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562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ODP 0, GWP high/medium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222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1880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Kigali phase-down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926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HFO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1586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244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R-1234yf/ze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562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very low GWP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222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880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cost, A2L safety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" y="4645152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764024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Natural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15868" y="4645152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52444" y="4764024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NH₃, CO₂, isobutane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9048" y="4645152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35624" y="4764024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very low GWP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82228" y="4645152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18804" y="4764024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toxicity/pressure/flammability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Thailand must plan around phase-out and phase-down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Long-life systems should not depend on declining refrigerants.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REGULATION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Montreal Protocol + Kigali Amendment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HCFC phase-out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near-complete by 2040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58768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23359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148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593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HFC phase-down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062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started 2024; 80% reduction by 2045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73168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3775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292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8737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Design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206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availability and price risk over service life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phaseou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69463"/>
            <a:ext cx="5760720" cy="2496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Thailand refrigerant timeline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Safety classification affects room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Low-GWP choices may introduce flammability or pressure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lower toxicity, no flame propagation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A2L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mildly flammable; ventilation and charge limits matter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flammable; usually small charge sealed systems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B2L/B2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toxic risk; industrial controls needed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Engineering 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check manufacturer limits and applicable safety standard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Selection is a multi-criteria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Do not choose only by COP or only by GWP.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SELECTION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Balance performance, safety, environment, and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cycle performance and operating pressure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toxicity, flammability, charge limits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Regulation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future availability and compliance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selec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648" y="1874519"/>
            <a:ext cx="4996542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Refrigerant selection factors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Good practice: manage refrigerant over the full life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Leaks and venting can dominate environmental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Specification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avoid obsolete or high-risk refrigerants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Installation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pressure test, evacuate, charge correctly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leak detection and recovery equipment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End of life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recover, recycle, or reclaim refrigerant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Pause question: R-410A or R-32 for new split AC?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Both are HFCs, but they differ in GWP and safety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R-410A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GWP ≈ 2088; widely used legacy choice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R-32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GWP ≈ 675; better climate profile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Safety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R-32 is A2L mildly flammable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prefer lower GWP when equipment, safety, and service support exist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What to verify before specifying a refrigerant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 this as an engineering checklist before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Equipment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manufacturer lists the refrigerant for that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Safety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charge limit, ventilation, and flammability class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Service ecosystem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tools, recovery cylinder, oil, and technician training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Regulatory life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availability over 15–25 year equipment life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Leak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detection, recovery, documentation, and end-of-life handling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Topic 1.5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What students should remember for design conversations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57400" y="2578608"/>
            <a:ext cx="749808" cy="74980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Refrigerant choice shapes system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efficiency, safety, service, and environment are linked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2578608"/>
            <a:ext cx="749808" cy="74980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ODP and GWP are different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zero ODP does not guarantee low climate impact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64040" y="2578608"/>
            <a:ext cx="749808" cy="74980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Regulation is a design constraint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long-life equipment must anticipate phase-down schedules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