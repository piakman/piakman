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961120" y="201168"/>
            <a:ext cx="3227832" cy="2240280"/>
          </a:xfrm>
          <a:prstGeom prst="rtTriangle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692640" y="4343400"/>
            <a:ext cx="2496312" cy="2514600"/>
          </a:xfrm>
          <a:prstGeom prst="rtTriangl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530352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00" b="1" i="0">
                <a:solidFill>
                  <a:srgbClr val="2A9D8F"/>
                </a:solidFill>
                <a:latin typeface="Aptos Display"/>
              </a:rPr>
              <a:t>AIR CONDITIONING · CHAPTER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669280" cy="8686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3700" b="1" i="0">
                <a:solidFill>
                  <a:srgbClr val="11374B"/>
                </a:solidFill>
                <a:latin typeface="Aptos Display"/>
              </a:rPr>
              <a:t>1.5 Refrigerants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31720"/>
            <a:ext cx="5394960" cy="36576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800" b="0" i="0">
                <a:solidFill>
                  <a:srgbClr val="5A6973"/>
                </a:solidFill>
                <a:latin typeface="Aptos"/>
              </a:rPr>
              <a:t>Types, properties, environmental impact, and regulation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257800" cy="77724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00" b="1" i="0">
                <a:solidFill>
                  <a:srgbClr val="232D37"/>
                </a:solidFill>
                <a:latin typeface="Aptos Display"/>
              </a:rPr>
              <a:t>Refrigerant choice is both a thermodynamic and environmental design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33087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4233672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4229100"/>
            <a:ext cx="1664208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1" i="0">
                <a:solidFill>
                  <a:srgbClr val="457B9D"/>
                </a:solidFill>
                <a:latin typeface="Aptos Display"/>
              </a:rPr>
              <a:t>ODP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4133087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64408" y="4233672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4229100"/>
            <a:ext cx="1664208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1" i="0">
                <a:solidFill>
                  <a:srgbClr val="E76F51"/>
                </a:solidFill>
                <a:latin typeface="Aptos Display"/>
              </a:rPr>
              <a:t>GWP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00016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800600"/>
            <a:ext cx="182880" cy="182880"/>
          </a:xfrm>
          <a:prstGeom prst="ellipse">
            <a:avLst/>
          </a:prstGeom>
          <a:solidFill>
            <a:srgbClr val="BE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4796028"/>
            <a:ext cx="1664208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1" i="0">
                <a:solidFill>
                  <a:srgbClr val="BE463C"/>
                </a:solidFill>
                <a:latin typeface="Aptos Display"/>
              </a:rPr>
              <a:t>Safety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5536" y="4700016"/>
            <a:ext cx="2212848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64408" y="4800600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4796028"/>
            <a:ext cx="1664208" cy="15544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1" i="0">
                <a:solidFill>
                  <a:srgbClr val="4CAF50"/>
                </a:solidFill>
                <a:latin typeface="Aptos Display"/>
              </a:rPr>
              <a:t>Regulation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115568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92440" y="1965960"/>
            <a:ext cx="1463040" cy="1463040"/>
          </a:xfrm>
          <a:prstGeom prst="ellipse">
            <a:avLst/>
          </a:prstGeom>
          <a:solidFill>
            <a:srgbClr val="E6F4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423160"/>
            <a:ext cx="109728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2400" b="1" i="0">
                <a:solidFill>
                  <a:srgbClr val="11374B"/>
                </a:solidFill>
                <a:latin typeface="Aptos Display"/>
              </a:rPr>
              <a:t>1.5</a:t>
            </a:r>
          </a:p>
        </p:txBody>
      </p:sp>
      <p:sp>
        <p:nvSpPr>
          <p:cNvPr id="24" name="Oval 23"/>
          <p:cNvSpPr/>
          <p:nvPr/>
        </p:nvSpPr>
        <p:spPr>
          <a:xfrm>
            <a:off x="6903720" y="1828800"/>
            <a:ext cx="694944" cy="69494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029968"/>
            <a:ext cx="694944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26" name="Oval 25"/>
          <p:cNvSpPr/>
          <p:nvPr/>
        </p:nvSpPr>
        <p:spPr>
          <a:xfrm>
            <a:off x="10287000" y="1828800"/>
            <a:ext cx="694944" cy="694944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029968"/>
            <a:ext cx="694944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903720" y="4434840"/>
            <a:ext cx="694944" cy="694944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636007"/>
            <a:ext cx="694944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10287000" y="4434840"/>
            <a:ext cx="694944" cy="69494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636007"/>
            <a:ext cx="694944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074920"/>
            <a:ext cx="384048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200" b="1" i="0">
                <a:solidFill>
                  <a:srgbClr val="5A6973"/>
                </a:solidFill>
                <a:latin typeface="Aptos Display"/>
              </a:rPr>
              <a:t>Concept-first slides with teaching detail in the 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The refrigerant is the heat-transfer working fluid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It absorbs heat indoors and rejects heat outdoors.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CYCLE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The working fluid carries energy around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315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27832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High latent heat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28416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more cooling per kg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94760"/>
            <a:ext cx="3904487" cy="7315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935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59936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04488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Practical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6052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safe pipe and equipment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26864"/>
            <a:ext cx="3904487" cy="7315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91456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92040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36592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Compatibility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92624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piping, seals, and compressor oil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_cycle_rol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97405"/>
            <a:ext cx="5760720" cy="34404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Refrigerant role in the vapor compression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A good refrigerant is a compromise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No refrigerant is perfect in every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106984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84831"/>
            <a:ext cx="2971800" cy="12344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1" y="2267712"/>
            <a:ext cx="457200" cy="45720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Thermodynamic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high latent heat and good pressure curve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84831"/>
            <a:ext cx="2971800" cy="123444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2" y="2267712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low toxicity and flammability for occupied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084831"/>
            <a:ext cx="2971800" cy="123444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2" y="22677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does not corrode or degrade oil/seals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776472"/>
            <a:ext cx="2971800" cy="123444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6151" y="3959352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1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7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Environment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zero ODP and low GWP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76472"/>
            <a:ext cx="2971800" cy="1234440"/>
          </a:xfrm>
          <a:prstGeom prst="roundRect">
            <a:avLst/>
          </a:prstGeom>
          <a:solidFill>
            <a:srgbClr val="FFF7E2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45152" y="3959352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Serviceability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available tools, cylinders, and technician skill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ODP and GWP are different environmental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Zero ozone depletion does not guarantee low climate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ODP protects ozone; GWP protects climate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4124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27832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ODP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28416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referenced to R-11 = 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904488"/>
            <a:ext cx="3904487" cy="84124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69080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69664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14216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GWP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70248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referenced to CO₂ =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846320"/>
            <a:ext cx="3904487" cy="841248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5010912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111496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56048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Modern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1208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ODP = 0 and low GWP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_odp_gw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097405"/>
            <a:ext cx="5760720" cy="34404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ODP and GWP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Refrigerant families changed because rules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Environmental regulation reshaped HVAC equipment.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CFC → HCFC → HFC → HFO/natural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31520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84048" cy="384048"/>
          </a:xfrm>
          <a:prstGeom prst="ellipse">
            <a:avLst/>
          </a:prstGeom>
          <a:solidFill>
            <a:srgbClr val="BE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27832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CFC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28416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high ODP; banned legacy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94760"/>
            <a:ext cx="3904487" cy="7315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935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59936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04488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HCFC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6052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lower ODP; phase-out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26864"/>
            <a:ext cx="3904487" cy="73152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91456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92040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36592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HFC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92624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zero ODP but high GWP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_evolu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569463"/>
            <a:ext cx="5760720" cy="24963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Historical evolution of refrigerant families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Common families: what students should say aloud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Turn the table into engineering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106984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84831"/>
            <a:ext cx="2971800" cy="1234440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1" y="2267712"/>
            <a:ext cx="457200" cy="457200"/>
          </a:xfrm>
          <a:prstGeom prst="ellipse">
            <a:avLst/>
          </a:prstGeom>
          <a:solidFill>
            <a:srgbClr val="BE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CFC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legacy only; severe ozone 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84831"/>
            <a:ext cx="2971800" cy="123444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2" y="2267712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HCFC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R-22 style transition refrigerant; phase-out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084831"/>
            <a:ext cx="2971800" cy="12344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2" y="2267712"/>
            <a:ext cx="457200" cy="45720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HFC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common today but climate phase-down 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776472"/>
            <a:ext cx="2971800" cy="123444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6151" y="3959352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1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7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HFO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low GWP; often A2L and higher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76472"/>
            <a:ext cx="2971800" cy="123444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45152" y="395935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Natural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very low GWP; toxicity/pressure/flammability constraints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Thailand must design for phase-out and phase-down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Equipment life is longer than many refrigerant policy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Specify for the future, not only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84124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27832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HCFC phase-out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28416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near-complete by 2040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904488"/>
            <a:ext cx="3904487" cy="841248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4069080"/>
            <a:ext cx="384048" cy="384048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169664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014216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HFC phase-down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270248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started 2024; target reduction by 2045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846320"/>
            <a:ext cx="3904487" cy="841248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5010912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111496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956048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Design 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21208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future availability and price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_phaseou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569463"/>
            <a:ext cx="5760720" cy="24963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Thailand refrigerant regulation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Safety class affects room and service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Low-GWP choices may introduce mild flammability or pressure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106984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84831"/>
            <a:ext cx="2971800" cy="123444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1" y="2267712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lower toxicity, no flame propagation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84831"/>
            <a:ext cx="2971800" cy="123444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2" y="2267712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A2L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mildly flammable; check charge and ventilation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084831"/>
            <a:ext cx="2971800" cy="1234440"/>
          </a:xfrm>
          <a:prstGeom prst="roundRect">
            <a:avLst/>
          </a:prstGeom>
          <a:solidFill>
            <a:srgbClr val="FFEEEB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2" y="2267712"/>
            <a:ext cx="457200" cy="457200"/>
          </a:xfrm>
          <a:prstGeom prst="ellipse">
            <a:avLst/>
          </a:prstGeom>
          <a:solidFill>
            <a:srgbClr val="BE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A3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flammable; usually small sealed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776472"/>
            <a:ext cx="2971800" cy="12344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6151" y="3959352"/>
            <a:ext cx="457200" cy="45720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1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7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CO₂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very high pressure; special equipment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776472"/>
            <a:ext cx="2971800" cy="123444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45152" y="395935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Ammonia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excellent performance but toxic; industrial controls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Refrigerant selection is a multi-criteria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Do not choose only by COP or only by GWP.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64208"/>
            <a:ext cx="4590288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64208"/>
            <a:ext cx="109728" cy="444398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8"/>
            <a:ext cx="3950207" cy="2103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50" b="1" i="0">
                <a:solidFill>
                  <a:srgbClr val="2A9D8F"/>
                </a:solidFill>
                <a:latin typeface="Aptos Display"/>
              </a:rPr>
              <a:t>SELECTION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3950207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050" b="1" i="0">
                <a:solidFill>
                  <a:srgbClr val="11374B"/>
                </a:solidFill>
                <a:latin typeface="Aptos Display"/>
              </a:rPr>
              <a:t>Balance performance, safety, environment, and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62656"/>
            <a:ext cx="3904487" cy="73152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3127248"/>
            <a:ext cx="384048" cy="384048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227832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72384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328416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cycle performance and pressure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794760"/>
            <a:ext cx="3904487" cy="7315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395935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059936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04488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160520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toxicity, flammability, charge limits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26864"/>
            <a:ext cx="3904487" cy="73152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4791456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892040"/>
            <a:ext cx="384048" cy="1005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736592"/>
            <a:ext cx="3172968" cy="1920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50" b="1" i="0">
                <a:solidFill>
                  <a:srgbClr val="232D37"/>
                </a:solidFill>
                <a:latin typeface="Aptos Display"/>
              </a:rPr>
              <a:t>Regulation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992624"/>
            <a:ext cx="3127247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5A6973"/>
                </a:solidFill>
                <a:latin typeface="Aptos"/>
              </a:rPr>
              <a:t>future availability and compliance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1664208"/>
            <a:ext cx="61264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ntent_fig_selec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48" y="1874519"/>
            <a:ext cx="4996542" cy="3886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0" y="5870448"/>
            <a:ext cx="5577840" cy="16459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880" b="0" i="0">
                <a:solidFill>
                  <a:srgbClr val="5A6973"/>
                </a:solidFill>
                <a:latin typeface="Aptos"/>
              </a:rPr>
              <a:t>Refrigerant selection factors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Pause question: R-410A or R-32 for a new split AC?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350" b="0" i="0">
                <a:solidFill>
                  <a:srgbClr val="5A6973"/>
                </a:solidFill>
                <a:latin typeface="Aptos"/>
              </a:rPr>
              <a:t>Use this to make students compare more than one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1069848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84831"/>
            <a:ext cx="2971800" cy="12344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1" y="2267712"/>
            <a:ext cx="457200" cy="45720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R-410A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widely used; high GWP ≈ 2088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84831"/>
            <a:ext cx="2971800" cy="1234440"/>
          </a:xfrm>
          <a:prstGeom prst="roundRect">
            <a:avLst/>
          </a:prstGeom>
          <a:solidFill>
            <a:srgbClr val="ECF8EE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5152" y="2267712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R-32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lower GWP ≈ 675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084831"/>
            <a:ext cx="2971800" cy="123444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2" y="2267712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395727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24942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798063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R-32 is A2L mildly flammable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776472"/>
            <a:ext cx="2971800" cy="1234440"/>
          </a:xfrm>
          <a:prstGeom prst="roundRect">
            <a:avLst/>
          </a:prstGeom>
          <a:solidFill>
            <a:srgbClr val="E6F4F7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16151" y="395935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1" y="4087368"/>
            <a:ext cx="457200" cy="1097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7" y="3941063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1280" b="1" i="0">
                <a:solidFill>
                  <a:srgbClr val="232D37"/>
                </a:solidFill>
                <a:latin typeface="Aptos Display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4489704"/>
            <a:ext cx="2514600" cy="30175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880" b="0" i="0">
                <a:solidFill>
                  <a:srgbClr val="5A6973"/>
                </a:solidFill>
                <a:latin typeface="Aptos"/>
              </a:rPr>
              <a:t>prefer lower GWP when approved equipment and service support exist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01168"/>
          </a:xfrm>
          <a:prstGeom prst="rect">
            <a:avLst/>
          </a:prstGeom>
          <a:solidFill>
            <a:srgbClr val="11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2800" b="1" i="0">
                <a:solidFill>
                  <a:srgbClr val="11374B"/>
                </a:solidFill>
                <a:latin typeface="Aptos Display"/>
              </a:rPr>
              <a:t>Topic 1.5 — what students should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502920"/>
            <a:ext cx="548640" cy="2743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110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r>
              <a:rPr sz="900" b="0" i="0">
                <a:solidFill>
                  <a:srgbClr val="78828C"/>
                </a:solidFill>
                <a:latin typeface="Aptos"/>
              </a:rPr>
              <a:t>Air Conditioning · Chapter 1 · Topic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r"/>
            <a:r>
              <a:rPr sz="900" b="0" i="0">
                <a:solidFill>
                  <a:srgbClr val="78828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7167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2848" y="2514600"/>
            <a:ext cx="822960" cy="8229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74320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47872"/>
            <a:ext cx="2514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50" b="1" i="0">
                <a:solidFill>
                  <a:srgbClr val="232D37"/>
                </a:solidFill>
                <a:latin typeface="Aptos Display"/>
              </a:rPr>
              <a:t>Refrigerants affect many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77639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80" b="0" i="0">
                <a:solidFill>
                  <a:srgbClr val="5A6973"/>
                </a:solidFill>
                <a:latin typeface="Aptos"/>
              </a:rPr>
              <a:t>efficiency, safety, service, environment, and regulation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41848" y="2514600"/>
            <a:ext cx="822960" cy="8229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274320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47872"/>
            <a:ext cx="2514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50" b="1" i="0">
                <a:solidFill>
                  <a:srgbClr val="232D37"/>
                </a:solidFill>
                <a:latin typeface="Aptos Display"/>
              </a:rPr>
              <a:t>ODP and GWP are separate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977639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80" b="0" i="0">
                <a:solidFill>
                  <a:srgbClr val="5A6973"/>
                </a:solidFill>
                <a:latin typeface="Aptos"/>
              </a:rPr>
              <a:t>zero ODP is not enough if GWP remains 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240280"/>
            <a:ext cx="2971800" cy="2560320"/>
          </a:xfrm>
          <a:prstGeom prst="roundRect">
            <a:avLst/>
          </a:prstGeom>
          <a:solidFill>
            <a:srgbClr val="F5F9FA"/>
          </a:solidFill>
          <a:ln w="1270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70848" y="2514600"/>
            <a:ext cx="822960" cy="8229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743200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547872"/>
            <a:ext cx="2514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1450" b="1" i="0">
                <a:solidFill>
                  <a:srgbClr val="232D37"/>
                </a:solidFill>
                <a:latin typeface="Aptos Display"/>
              </a:rPr>
              <a:t>Specification is long-term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39"/>
            <a:ext cx="2331720" cy="50292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/>
            <a:r>
              <a:rPr sz="980" b="0" i="0">
                <a:solidFill>
                  <a:srgbClr val="5A6973"/>
                </a:solidFill>
                <a:latin typeface="Aptos"/>
              </a:rPr>
              <a:t>choose for service life and regulatory trajectory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